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8255CF-EF48-4FE2-9F24-AFB83501EFF9}" type="datetimeFigureOut">
              <a:rPr lang="en-IN" smtClean="0"/>
              <a:t>19-10-2026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BF998F-1D90-427D-8AB2-4E508FBD6897}" type="slidenum">
              <a:rPr lang="en-IN" smtClean="0"/>
              <a:t>‹#›</a:t>
            </a:fld>
            <a:endParaRPr lang="en-IN"/>
          </a:p>
        </p:txBody>
      </p:sp>
    </p:spTree>
    <p:extLst>
      <p:ext uri="{BB962C8B-B14F-4D97-AF65-F5344CB8AC3E}">
        <p14:creationId xmlns:p14="http://schemas.microsoft.com/office/powerpoint/2010/main" val="19020885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Introduce one-image classification. HOG and frozen features connect directly to lectures 10 and 15. The two-view difference is a small extension to test, not a new backbone. Cover image: selected held-out source image, https://www.kaggle.com/datasets/aneesh10/cricket-shot-dataset v2.</a:t>
            </a:r>
            <a:endParaRPr lang="en-IN"/>
          </a:p>
        </p:txBody>
      </p:sp>
      <p:sp>
        <p:nvSpPr>
          <p:cNvPr id="4" name="Slide Number Placeholder 3"/>
          <p:cNvSpPr>
            <a:spLocks noGrp="1"/>
          </p:cNvSpPr>
          <p:nvPr>
            <p:ph type="sldNum" sz="quarter" idx="5"/>
          </p:nvPr>
        </p:nvSpPr>
        <p:spPr/>
        <p:txBody>
          <a:bodyPr/>
          <a:lstStyle/>
          <a:p>
            <a:fld id="{37BF998F-1D90-427D-8AB2-4E508FBD6897}" type="slidenum">
              <a:rPr lang="en-IN" smtClean="0"/>
              <a:t>1</a:t>
            </a:fld>
            <a:endParaRPr lang="en-IN"/>
          </a:p>
        </p:txBody>
      </p:sp>
    </p:spTree>
    <p:extLst>
      <p:ext uri="{BB962C8B-B14F-4D97-AF65-F5344CB8AC3E}">
        <p14:creationId xmlns:p14="http://schemas.microsoft.com/office/powerpoint/2010/main" val="34315304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user supplies the image. Drive and leg glance/flick are combined upstream classes. A full match is outside scope. Classification is multiclass with one target, not multilabel sigmoid prediction. Source: dataset v2; lectures 15 pages 16-19.</a:t>
            </a:r>
            <a:endParaRPr lang="en-IN"/>
          </a:p>
        </p:txBody>
      </p:sp>
      <p:sp>
        <p:nvSpPr>
          <p:cNvPr id="4" name="Slide Number Placeholder 3"/>
          <p:cNvSpPr>
            <a:spLocks noGrp="1"/>
          </p:cNvSpPr>
          <p:nvPr>
            <p:ph type="sldNum" sz="quarter" idx="5"/>
          </p:nvPr>
        </p:nvSpPr>
        <p:spPr/>
        <p:txBody>
          <a:bodyPr/>
          <a:lstStyle/>
          <a:p>
            <a:fld id="{37BF998F-1D90-427D-8AB2-4E508FBD6897}" type="slidenum">
              <a:rPr lang="en-IN" smtClean="0"/>
              <a:t>2</a:t>
            </a:fld>
            <a:endParaRPr lang="en-IN"/>
          </a:p>
        </p:txBody>
      </p:sp>
    </p:spTree>
    <p:extLst>
      <p:ext uri="{BB962C8B-B14F-4D97-AF65-F5344CB8AC3E}">
        <p14:creationId xmlns:p14="http://schemas.microsoft.com/office/powerpoint/2010/main" val="4301747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Lecture 8 part 2 page 9 distinguishes local/global features; our crop is a regional descriptor, not a keypoint. Lecture 14 part 2 pp 2-3 and 27 cover extractor/classifier and softmax. MobileNetV2 is our architecture choice, not claimed taught by name. Sources: https://lear.inrialpes.fr/people/triggs/pubs/Dalal-cvpr05.pdf ; https://arxiv.org/abs/1801.04381 ; https://github.com/AtanuCSE/CricketShotDetection ; https://arxiv.org/abs/2510.09187 . Do not compare published percentages across datasets.</a:t>
            </a:r>
            <a:endParaRPr lang="en-IN"/>
          </a:p>
        </p:txBody>
      </p:sp>
      <p:sp>
        <p:nvSpPr>
          <p:cNvPr id="4" name="Slide Number Placeholder 3"/>
          <p:cNvSpPr>
            <a:spLocks noGrp="1"/>
          </p:cNvSpPr>
          <p:nvPr>
            <p:ph type="sldNum" sz="quarter" idx="5"/>
          </p:nvPr>
        </p:nvSpPr>
        <p:spPr/>
        <p:txBody>
          <a:bodyPr/>
          <a:lstStyle/>
          <a:p>
            <a:fld id="{37BF998F-1D90-427D-8AB2-4E508FBD6897}" type="slidenum">
              <a:rPr lang="en-IN" smtClean="0"/>
              <a:t>3</a:t>
            </a:fld>
            <a:endParaRPr lang="en-IN"/>
          </a:p>
        </p:txBody>
      </p:sp>
    </p:spTree>
    <p:extLst>
      <p:ext uri="{BB962C8B-B14F-4D97-AF65-F5344CB8AC3E}">
        <p14:creationId xmlns:p14="http://schemas.microsoft.com/office/powerpoint/2010/main" val="7348329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Data: https://www.kaggle.com/datasets/aneesh10/cricket-shot-dataset v2. Unknown license in downloaded metadata; no original annotations claimed. Fixed seed 604 folds; this is one holdout, not five-fold cross-validation. Test images are clustered copies and must not be described as 945 independent photographs.</a:t>
            </a:r>
            <a:endParaRPr lang="en-IN"/>
          </a:p>
        </p:txBody>
      </p:sp>
      <p:sp>
        <p:nvSpPr>
          <p:cNvPr id="4" name="Slide Number Placeholder 3"/>
          <p:cNvSpPr>
            <a:spLocks noGrp="1"/>
          </p:cNvSpPr>
          <p:nvPr>
            <p:ph type="sldNum" sz="quarter" idx="5"/>
          </p:nvPr>
        </p:nvSpPr>
        <p:spPr/>
        <p:txBody>
          <a:bodyPr/>
          <a:lstStyle/>
          <a:p>
            <a:fld id="{37BF998F-1D90-427D-8AB2-4E508FBD6897}" type="slidenum">
              <a:rPr lang="en-IN" smtClean="0"/>
              <a:t>4</a:t>
            </a:fld>
            <a:endParaRPr lang="en-IN"/>
          </a:p>
        </p:txBody>
      </p:sp>
    </p:spTree>
    <p:extLst>
      <p:ext uri="{BB962C8B-B14F-4D97-AF65-F5344CB8AC3E}">
        <p14:creationId xmlns:p14="http://schemas.microsoft.com/office/powerpoint/2010/main" val="33586292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One validation set was reused for regularization, calibration and threshold selection. This can overfit validation. We disclose it rather than create a new split and pretend the original test was untouched. Initial hash-only contrast result was 96.3%; stronger transformed-copy grouping yields 65.5%. Both results and original individual predictions remain available.</a:t>
            </a:r>
            <a:endParaRPr lang="en-IN"/>
          </a:p>
        </p:txBody>
      </p:sp>
      <p:sp>
        <p:nvSpPr>
          <p:cNvPr id="4" name="Slide Number Placeholder 3"/>
          <p:cNvSpPr>
            <a:spLocks noGrp="1"/>
          </p:cNvSpPr>
          <p:nvPr>
            <p:ph type="sldNum" sz="quarter" idx="5"/>
          </p:nvPr>
        </p:nvSpPr>
        <p:spPr/>
        <p:txBody>
          <a:bodyPr/>
          <a:lstStyle/>
          <a:p>
            <a:fld id="{37BF998F-1D90-427D-8AB2-4E508FBD6897}" type="slidenum">
              <a:rPr lang="en-IN" smtClean="0"/>
              <a:t>5</a:t>
            </a:fld>
            <a:endParaRPr lang="en-IN"/>
          </a:p>
        </p:txBody>
      </p:sp>
    </p:spTree>
    <p:extLst>
      <p:ext uri="{BB962C8B-B14F-4D97-AF65-F5344CB8AC3E}">
        <p14:creationId xmlns:p14="http://schemas.microsoft.com/office/powerpoint/2010/main" val="40686511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Explain the two branches. HOG and CNN global inputs have identical aspect-preserving 224 square geometry. CNN has two view passes; its global, crop and fused heads share features. HOG uses luminance, unsigned gradients, cells, blocks and per-image normalization. No StandardScaler or PCA learns from test. Source: actual implemented pipeline; lecture mapping in docs/course_mapping.md.</a:t>
            </a:r>
            <a:endParaRPr lang="en-IN"/>
          </a:p>
        </p:txBody>
      </p:sp>
      <p:sp>
        <p:nvSpPr>
          <p:cNvPr id="4" name="Slide Number Placeholder 3"/>
          <p:cNvSpPr>
            <a:spLocks noGrp="1"/>
          </p:cNvSpPr>
          <p:nvPr>
            <p:ph type="sldNum" sz="quarter" idx="5"/>
          </p:nvPr>
        </p:nvSpPr>
        <p:spPr/>
        <p:txBody>
          <a:bodyPr/>
          <a:lstStyle/>
          <a:p>
            <a:fld id="{37BF998F-1D90-427D-8AB2-4E508FBD6897}" type="slidenum">
              <a:rPr lang="en-IN" smtClean="0"/>
              <a:t>6</a:t>
            </a:fld>
            <a:endParaRPr lang="en-IN"/>
          </a:p>
        </p:txBody>
      </p:sp>
    </p:spTree>
    <p:extLst>
      <p:ext uri="{BB962C8B-B14F-4D97-AF65-F5344CB8AC3E}">
        <p14:creationId xmlns:p14="http://schemas.microsoft.com/office/powerpoint/2010/main" val="4709065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Trace gx and gy central differences, sqrt(gx²+gy²), atan2 modulo 180. A 50-degree gradient of magnitude 90 votes 45 to the 40-degree bin and 45 to 60. No spatial vote interpolation. Each 36-value block divides by sqrt(sum(h²)+1e-10). 13*13*36=6084. This is a documented HOG variant, not the exact signed-angle lecture example or original pedestrian detector. Lecture 10 pp 7-23; original method https://lear.inrialpes.fr/people/triggs/pubs/Dalal-cvpr05.pdf .</a:t>
            </a:r>
            <a:endParaRPr lang="en-IN"/>
          </a:p>
        </p:txBody>
      </p:sp>
      <p:sp>
        <p:nvSpPr>
          <p:cNvPr id="4" name="Slide Number Placeholder 3"/>
          <p:cNvSpPr>
            <a:spLocks noGrp="1"/>
          </p:cNvSpPr>
          <p:nvPr>
            <p:ph type="sldNum" sz="quarter" idx="5"/>
          </p:nvPr>
        </p:nvSpPr>
        <p:spPr/>
        <p:txBody>
          <a:bodyPr/>
          <a:lstStyle/>
          <a:p>
            <a:fld id="{37BF998F-1D90-427D-8AB2-4E508FBD6897}" type="slidenum">
              <a:rPr lang="en-IN" smtClean="0"/>
              <a:t>7</a:t>
            </a:fld>
            <a:endParaRPr lang="en-IN"/>
          </a:p>
        </p:txBody>
      </p:sp>
    </p:spTree>
    <p:extLst>
      <p:ext uri="{BB962C8B-B14F-4D97-AF65-F5344CB8AC3E}">
        <p14:creationId xmlns:p14="http://schemas.microsoft.com/office/powerpoint/2010/main" val="13394956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Both vectors are normalized before joining; the joined descriptor is normalized again. Contrast W has (4,3840) shape plus four biases. It learns weighted multiclass cross-entropy with L2 regularization. No bat-motion interpretation is assigned to feature coordinates. Actual inputs are displayed in the demo. MobileNetV2: https://arxiv.org/abs/1801.04381 ; ONNX weights: https://github.com/onnx/models .</a:t>
            </a:r>
            <a:endParaRPr lang="en-IN"/>
          </a:p>
        </p:txBody>
      </p:sp>
      <p:sp>
        <p:nvSpPr>
          <p:cNvPr id="4" name="Slide Number Placeholder 3"/>
          <p:cNvSpPr>
            <a:spLocks noGrp="1"/>
          </p:cNvSpPr>
          <p:nvPr>
            <p:ph type="sldNum" sz="quarter" idx="5"/>
          </p:nvPr>
        </p:nvSpPr>
        <p:spPr/>
        <p:txBody>
          <a:bodyPr/>
          <a:lstStyle/>
          <a:p>
            <a:fld id="{37BF998F-1D90-427D-8AB2-4E508FBD6897}" type="slidenum">
              <a:rPr lang="en-IN" smtClean="0"/>
              <a:t>8</a:t>
            </a:fld>
            <a:endParaRPr lang="en-IN"/>
          </a:p>
        </p:txBody>
      </p:sp>
    </p:spTree>
    <p:extLst>
      <p:ext uri="{BB962C8B-B14F-4D97-AF65-F5344CB8AC3E}">
        <p14:creationId xmlns:p14="http://schemas.microsoft.com/office/powerpoint/2010/main" val="2542439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HOG fixed settings, validation-selected C and predictions are saved under results/hog. Do not try a new descriptor after seeing the 35.3% test score to improve a headline. CNN heads/predictions are retained unchanged. This comparison does not isolate color versus pretraining versus architecture; no general statement that all HOG methods are inferior. Evidence: results/revision/comparison.csv and saved individual probabilities.</a:t>
            </a:r>
            <a:endParaRPr lang="en-IN"/>
          </a:p>
        </p:txBody>
      </p:sp>
      <p:sp>
        <p:nvSpPr>
          <p:cNvPr id="4" name="Slide Number Placeholder 3"/>
          <p:cNvSpPr>
            <a:spLocks noGrp="1"/>
          </p:cNvSpPr>
          <p:nvPr>
            <p:ph type="sldNum" sz="quarter" idx="5"/>
          </p:nvPr>
        </p:nvSpPr>
        <p:spPr/>
        <p:txBody>
          <a:bodyPr/>
          <a:lstStyle/>
          <a:p>
            <a:fld id="{37BF998F-1D90-427D-8AB2-4E508FBD6897}" type="slidenum">
              <a:rPr lang="en-IN" smtClean="0"/>
              <a:t>9</a:t>
            </a:fld>
            <a:endParaRPr lang="en-IN"/>
          </a:p>
        </p:txBody>
      </p:sp>
    </p:spTree>
    <p:extLst>
      <p:ext uri="{BB962C8B-B14F-4D97-AF65-F5344CB8AC3E}">
        <p14:creationId xmlns:p14="http://schemas.microsoft.com/office/powerpoint/2010/main" val="7091057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Draw groups with replacement and keep all images within each drawn group. Reuse draws between methods for paired differences. Statistics are image-weighted in each resample. Intervals omit training/split variability and unknown match correlation. They are not a hypothesis-test certificate of equality. Contrast 619/945, concatenation 616/945. Data and calculations: scripts/analyze_revision.py.</a:t>
            </a:r>
            <a:endParaRPr lang="en-IN"/>
          </a:p>
        </p:txBody>
      </p:sp>
      <p:sp>
        <p:nvSpPr>
          <p:cNvPr id="4" name="Slide Number Placeholder 3"/>
          <p:cNvSpPr>
            <a:spLocks noGrp="1"/>
          </p:cNvSpPr>
          <p:nvPr>
            <p:ph type="sldNum" sz="quarter" idx="5"/>
          </p:nvPr>
        </p:nvSpPr>
        <p:spPr/>
        <p:txBody>
          <a:bodyPr/>
          <a:lstStyle/>
          <a:p>
            <a:fld id="{37BF998F-1D90-427D-8AB2-4E508FBD6897}" type="slidenum">
              <a:rPr lang="en-IN" smtClean="0"/>
              <a:t>10</a:t>
            </a:fld>
            <a:endParaRPr lang="en-IN"/>
          </a:p>
        </p:txBody>
      </p:sp>
    </p:spTree>
    <p:extLst>
      <p:ext uri="{BB962C8B-B14F-4D97-AF65-F5344CB8AC3E}">
        <p14:creationId xmlns:p14="http://schemas.microsoft.com/office/powerpoint/2010/main" val="6903765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Read an off-diagonal entry and explain precision versus recall. Glance/flick is difficult under this protocol. HOG predicts pull for 110 of 224 sweep images. Fixed geometry, similar stances and background are plausible issues, not proven causes for each error. Evidence: saved prediction arithmetic in comparison.json.</a:t>
            </a:r>
            <a:endParaRPr lang="en-IN"/>
          </a:p>
        </p:txBody>
      </p:sp>
      <p:sp>
        <p:nvSpPr>
          <p:cNvPr id="4" name="Slide Number Placeholder 3"/>
          <p:cNvSpPr>
            <a:spLocks noGrp="1"/>
          </p:cNvSpPr>
          <p:nvPr>
            <p:ph type="sldNum" sz="quarter" idx="5"/>
          </p:nvPr>
        </p:nvSpPr>
        <p:spPr/>
        <p:txBody>
          <a:bodyPr/>
          <a:lstStyle/>
          <a:p>
            <a:fld id="{37BF998F-1D90-427D-8AB2-4E508FBD6897}" type="slidenum">
              <a:rPr lang="en-IN" smtClean="0"/>
              <a:t>11</a:t>
            </a:fld>
            <a:endParaRPr lang="en-IN"/>
          </a:p>
        </p:txBody>
      </p:sp>
    </p:spTree>
    <p:extLst>
      <p:ext uri="{BB962C8B-B14F-4D97-AF65-F5344CB8AC3E}">
        <p14:creationId xmlns:p14="http://schemas.microsoft.com/office/powerpoint/2010/main" val="12079552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NLL and ECE worsen; do not say calibration improved. ECE uses ten equal-width confidence bins. The same validation set selected C, temperature and threshold. The gate needs global/crop/contrast agreement; the heads are correlated. HOG scores are unscaled and do not affect review. Sources: https://proceedings.mlr.press/v70/guo17a.html ; https://arxiv.org/abs/1705.08500 .</a:t>
            </a:r>
            <a:endParaRPr lang="en-IN"/>
          </a:p>
        </p:txBody>
      </p:sp>
      <p:sp>
        <p:nvSpPr>
          <p:cNvPr id="4" name="Slide Number Placeholder 3"/>
          <p:cNvSpPr>
            <a:spLocks noGrp="1"/>
          </p:cNvSpPr>
          <p:nvPr>
            <p:ph type="sldNum" sz="quarter" idx="5"/>
          </p:nvPr>
        </p:nvSpPr>
        <p:spPr/>
        <p:txBody>
          <a:bodyPr/>
          <a:lstStyle/>
          <a:p>
            <a:fld id="{37BF998F-1D90-427D-8AB2-4E508FBD6897}" type="slidenum">
              <a:rPr lang="en-IN" smtClean="0"/>
              <a:t>12</a:t>
            </a:fld>
            <a:endParaRPr lang="en-IN"/>
          </a:p>
        </p:txBody>
      </p:sp>
    </p:spTree>
    <p:extLst>
      <p:ext uri="{BB962C8B-B14F-4D97-AF65-F5344CB8AC3E}">
        <p14:creationId xmlns:p14="http://schemas.microsoft.com/office/powerpoint/2010/main" val="38728937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image_04199, the preserved confident failure. Do not invent its exact cause or silently relabel it. The selected picture is an illustration, not an estimate of failure frequency. Real data source: aneesh10/cricket-shot-dataset v2. Follow with the view-disagreement image_00014.</a:t>
            </a:r>
            <a:endParaRPr lang="en-IN"/>
          </a:p>
        </p:txBody>
      </p:sp>
      <p:sp>
        <p:nvSpPr>
          <p:cNvPr id="4" name="Slide Number Placeholder 3"/>
          <p:cNvSpPr>
            <a:spLocks noGrp="1"/>
          </p:cNvSpPr>
          <p:nvPr>
            <p:ph type="sldNum" sz="quarter" idx="5"/>
          </p:nvPr>
        </p:nvSpPr>
        <p:spPr/>
        <p:txBody>
          <a:bodyPr/>
          <a:lstStyle/>
          <a:p>
            <a:fld id="{37BF998F-1D90-427D-8AB2-4E508FBD6897}" type="slidenum">
              <a:rPr lang="en-IN" smtClean="0"/>
              <a:t>13</a:t>
            </a:fld>
            <a:endParaRPr lang="en-IN"/>
          </a:p>
        </p:txBody>
      </p:sp>
    </p:spTree>
    <p:extLst>
      <p:ext uri="{BB962C8B-B14F-4D97-AF65-F5344CB8AC3E}">
        <p14:creationId xmlns:p14="http://schemas.microsoft.com/office/powerpoint/2010/main" val="32366158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Run setup.bat on a fresh machine, then run_demo.bat. Default URL http://127.0.0.1:6040. Revision verification may use 6060 to avoid another local service. Show success image_00210, confident error image_04199 and disagreement image_00014. Selected examples are honestly labeled. JSON preserves temperature-scaled score semantics. Screenshot must come from the revised running app, not a mockup.</a:t>
            </a:r>
            <a:endParaRPr lang="en-IN"/>
          </a:p>
        </p:txBody>
      </p:sp>
      <p:sp>
        <p:nvSpPr>
          <p:cNvPr id="4" name="Slide Number Placeholder 3"/>
          <p:cNvSpPr>
            <a:spLocks noGrp="1"/>
          </p:cNvSpPr>
          <p:nvPr>
            <p:ph type="sldNum" sz="quarter" idx="5"/>
          </p:nvPr>
        </p:nvSpPr>
        <p:spPr/>
        <p:txBody>
          <a:bodyPr/>
          <a:lstStyle/>
          <a:p>
            <a:fld id="{37BF998F-1D90-427D-8AB2-4E508FBD6897}" type="slidenum">
              <a:rPr lang="en-IN" smtClean="0"/>
              <a:t>14</a:t>
            </a:fld>
            <a:endParaRPr lang="en-IN"/>
          </a:p>
        </p:txBody>
      </p:sp>
    </p:spTree>
    <p:extLst>
      <p:ext uri="{BB962C8B-B14F-4D97-AF65-F5344CB8AC3E}">
        <p14:creationId xmlns:p14="http://schemas.microsoft.com/office/powerpoint/2010/main" val="9663080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Novelty remains a weakness, not a promise of marks. Do not claim a new architecture, detector or state-of-the-art result. Mention unknown upstream license, possible missed copies and unverified labels. Course mapping and viva guide contain actual page references and a tensor-shape trace. Team identities and the real repository URL are on the cover.</a:t>
            </a:r>
            <a:endParaRPr lang="en-IN"/>
          </a:p>
        </p:txBody>
      </p:sp>
      <p:sp>
        <p:nvSpPr>
          <p:cNvPr id="4" name="Slide Number Placeholder 3"/>
          <p:cNvSpPr>
            <a:spLocks noGrp="1"/>
          </p:cNvSpPr>
          <p:nvPr>
            <p:ph type="sldNum" sz="quarter" idx="5"/>
          </p:nvPr>
        </p:nvSpPr>
        <p:spPr/>
        <p:txBody>
          <a:bodyPr/>
          <a:lstStyle/>
          <a:p>
            <a:fld id="{37BF998F-1D90-427D-8AB2-4E508FBD6897}" type="slidenum">
              <a:rPr lang="en-IN" smtClean="0"/>
              <a:t>15</a:t>
            </a:fld>
            <a:endParaRPr lang="en-IN"/>
          </a:p>
        </p:txBody>
      </p:sp>
    </p:spTree>
    <p:extLst>
      <p:ext uri="{BB962C8B-B14F-4D97-AF65-F5344CB8AC3E}">
        <p14:creationId xmlns:p14="http://schemas.microsoft.com/office/powerpoint/2010/main" val="38955317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only for questions. Equal 30.2% majority accuracy means weak video recognition, despite higher macro F1. Fixed crop followed pilot test feedback. Source: https://www.kaggle.com/datasets/amittalmale/cricket-shots . Image audit: pHash &lt;=6 bits with thumbnail MAD, rotations/mirrors, then 15 feature neighbors within cosine .20. ORB binary matching, .72 ratio, &gt;=16 matches, &gt;=12 RANSAC inliers, &gt;=65% inlier fraction, &gt;=8% hull coverage. These are evaluation tools, not a novel shot classifier. Other sources: https://github.com/onnx/models ; https://github.com/scikit-learn/scikit-learn ; https://github.com/microsoft/onnxruntime ; https://github.com/opencv/opencv ; https://arxiv.org/abs/1608.00859 . Full URLs, saved evidence and complete code appendix accompany the report.</a:t>
            </a:r>
            <a:endParaRPr lang="en-IN"/>
          </a:p>
        </p:txBody>
      </p:sp>
      <p:sp>
        <p:nvSpPr>
          <p:cNvPr id="4" name="Slide Number Placeholder 3"/>
          <p:cNvSpPr>
            <a:spLocks noGrp="1"/>
          </p:cNvSpPr>
          <p:nvPr>
            <p:ph type="sldNum" sz="quarter" idx="5"/>
          </p:nvPr>
        </p:nvSpPr>
        <p:spPr/>
        <p:txBody>
          <a:bodyPr/>
          <a:lstStyle/>
          <a:p>
            <a:fld id="{37BF998F-1D90-427D-8AB2-4E508FBD6897}" type="slidenum">
              <a:rPr lang="en-IN" smtClean="0"/>
              <a:t>16</a:t>
            </a:fld>
            <a:endParaRPr lang="en-IN"/>
          </a:p>
        </p:txBody>
      </p:sp>
    </p:spTree>
    <p:extLst>
      <p:ext uri="{BB962C8B-B14F-4D97-AF65-F5344CB8AC3E}">
        <p14:creationId xmlns:p14="http://schemas.microsoft.com/office/powerpoint/2010/main" val="21775135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D8518-0D12-282F-2289-7F82015D8DF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B008C35-6549-C7F1-90E6-F0CAE6E3A3A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C9E370A-981A-CDA3-A23C-2A50D25B2CA1}"/>
              </a:ext>
            </a:extLst>
          </p:cNvPr>
          <p:cNvSpPr>
            <a:spLocks noGrp="1"/>
          </p:cNvSpPr>
          <p:nvPr>
            <p:ph type="dt" sz="half" idx="10"/>
          </p:nvPr>
        </p:nvSpPr>
        <p:spPr/>
        <p:txBody>
          <a:bodyPr/>
          <a:lstStyle/>
          <a:p>
            <a:fld id="{CFA8807D-23B5-470F-A350-DF6C7A298D37}" type="datetimeFigureOut">
              <a:rPr lang="en-IN" smtClean="0"/>
              <a:t>19-10-2026</a:t>
            </a:fld>
            <a:endParaRPr lang="en-IN"/>
          </a:p>
        </p:txBody>
      </p:sp>
      <p:sp>
        <p:nvSpPr>
          <p:cNvPr id="5" name="Footer Placeholder 4">
            <a:extLst>
              <a:ext uri="{FF2B5EF4-FFF2-40B4-BE49-F238E27FC236}">
                <a16:creationId xmlns:a16="http://schemas.microsoft.com/office/drawing/2014/main" id="{AE813A50-ACAE-8592-1E35-1DEF50867D9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BC70A0D-D543-45F9-CBDD-76FF2281C4D9}"/>
              </a:ext>
            </a:extLst>
          </p:cNvPr>
          <p:cNvSpPr>
            <a:spLocks noGrp="1"/>
          </p:cNvSpPr>
          <p:nvPr>
            <p:ph type="sldNum" sz="quarter" idx="12"/>
          </p:nvPr>
        </p:nvSpPr>
        <p:spPr/>
        <p:txBody>
          <a:bodyPr/>
          <a:lstStyle/>
          <a:p>
            <a:fld id="{934BEE5F-DF1C-4A89-BBCC-A9D5D9EBCB77}" type="slidenum">
              <a:rPr lang="en-IN" smtClean="0"/>
              <a:t>‹#›</a:t>
            </a:fld>
            <a:endParaRPr lang="en-IN"/>
          </a:p>
        </p:txBody>
      </p:sp>
    </p:spTree>
    <p:extLst>
      <p:ext uri="{BB962C8B-B14F-4D97-AF65-F5344CB8AC3E}">
        <p14:creationId xmlns:p14="http://schemas.microsoft.com/office/powerpoint/2010/main" val="26033669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8052A-A119-A697-6B5B-ED70A727E89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AF5A2FB-565C-ABA9-5632-64D726C7FDC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404ED12-2DB0-B349-8C1E-5B22BB71D68C}"/>
              </a:ext>
            </a:extLst>
          </p:cNvPr>
          <p:cNvSpPr>
            <a:spLocks noGrp="1"/>
          </p:cNvSpPr>
          <p:nvPr>
            <p:ph type="dt" sz="half" idx="10"/>
          </p:nvPr>
        </p:nvSpPr>
        <p:spPr/>
        <p:txBody>
          <a:bodyPr/>
          <a:lstStyle/>
          <a:p>
            <a:fld id="{CFA8807D-23B5-470F-A350-DF6C7A298D37}" type="datetimeFigureOut">
              <a:rPr lang="en-IN" smtClean="0"/>
              <a:t>19-10-2026</a:t>
            </a:fld>
            <a:endParaRPr lang="en-IN"/>
          </a:p>
        </p:txBody>
      </p:sp>
      <p:sp>
        <p:nvSpPr>
          <p:cNvPr id="5" name="Footer Placeholder 4">
            <a:extLst>
              <a:ext uri="{FF2B5EF4-FFF2-40B4-BE49-F238E27FC236}">
                <a16:creationId xmlns:a16="http://schemas.microsoft.com/office/drawing/2014/main" id="{E174E2C1-2D86-81A0-DD6B-4B739F08CE2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6F959CE-4224-53A2-E6F4-1C2C9A9BEE7F}"/>
              </a:ext>
            </a:extLst>
          </p:cNvPr>
          <p:cNvSpPr>
            <a:spLocks noGrp="1"/>
          </p:cNvSpPr>
          <p:nvPr>
            <p:ph type="sldNum" sz="quarter" idx="12"/>
          </p:nvPr>
        </p:nvSpPr>
        <p:spPr/>
        <p:txBody>
          <a:bodyPr/>
          <a:lstStyle/>
          <a:p>
            <a:fld id="{934BEE5F-DF1C-4A89-BBCC-A9D5D9EBCB77}" type="slidenum">
              <a:rPr lang="en-IN" smtClean="0"/>
              <a:t>‹#›</a:t>
            </a:fld>
            <a:endParaRPr lang="en-IN"/>
          </a:p>
        </p:txBody>
      </p:sp>
    </p:spTree>
    <p:extLst>
      <p:ext uri="{BB962C8B-B14F-4D97-AF65-F5344CB8AC3E}">
        <p14:creationId xmlns:p14="http://schemas.microsoft.com/office/powerpoint/2010/main" val="11914913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FB8D01-BA6A-1798-63F7-1F0A406AE1F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E711DA6-78D2-1936-929E-22E345F2361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91C4743-3E57-52BE-E9A8-A6577D4FFD91}"/>
              </a:ext>
            </a:extLst>
          </p:cNvPr>
          <p:cNvSpPr>
            <a:spLocks noGrp="1"/>
          </p:cNvSpPr>
          <p:nvPr>
            <p:ph type="dt" sz="half" idx="10"/>
          </p:nvPr>
        </p:nvSpPr>
        <p:spPr/>
        <p:txBody>
          <a:bodyPr/>
          <a:lstStyle/>
          <a:p>
            <a:fld id="{CFA8807D-23B5-470F-A350-DF6C7A298D37}" type="datetimeFigureOut">
              <a:rPr lang="en-IN" smtClean="0"/>
              <a:t>19-10-2026</a:t>
            </a:fld>
            <a:endParaRPr lang="en-IN"/>
          </a:p>
        </p:txBody>
      </p:sp>
      <p:sp>
        <p:nvSpPr>
          <p:cNvPr id="5" name="Footer Placeholder 4">
            <a:extLst>
              <a:ext uri="{FF2B5EF4-FFF2-40B4-BE49-F238E27FC236}">
                <a16:creationId xmlns:a16="http://schemas.microsoft.com/office/drawing/2014/main" id="{0357955E-661B-BAB5-9D40-5AFA484EEDD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56916B1-F7D6-9BDF-4E40-7A75EDBE8757}"/>
              </a:ext>
            </a:extLst>
          </p:cNvPr>
          <p:cNvSpPr>
            <a:spLocks noGrp="1"/>
          </p:cNvSpPr>
          <p:nvPr>
            <p:ph type="sldNum" sz="quarter" idx="12"/>
          </p:nvPr>
        </p:nvSpPr>
        <p:spPr/>
        <p:txBody>
          <a:bodyPr/>
          <a:lstStyle/>
          <a:p>
            <a:fld id="{934BEE5F-DF1C-4A89-BBCC-A9D5D9EBCB77}" type="slidenum">
              <a:rPr lang="en-IN" smtClean="0"/>
              <a:t>‹#›</a:t>
            </a:fld>
            <a:endParaRPr lang="en-IN"/>
          </a:p>
        </p:txBody>
      </p:sp>
    </p:spTree>
    <p:extLst>
      <p:ext uri="{BB962C8B-B14F-4D97-AF65-F5344CB8AC3E}">
        <p14:creationId xmlns:p14="http://schemas.microsoft.com/office/powerpoint/2010/main" val="42697702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FBE4B-5FFD-965A-603B-AA290A0B7A5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E290B0F-5417-091C-D5F2-267F8C01F06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C1ACB04-2367-49D4-4460-CBB1FD2AC10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7A12435-E40E-CCAB-4749-572AF8B77BBE}"/>
              </a:ext>
            </a:extLst>
          </p:cNvPr>
          <p:cNvSpPr>
            <a:spLocks noGrp="1"/>
          </p:cNvSpPr>
          <p:nvPr>
            <p:ph type="dt" sz="half" idx="10"/>
          </p:nvPr>
        </p:nvSpPr>
        <p:spPr/>
        <p:txBody>
          <a:bodyPr/>
          <a:lstStyle/>
          <a:p>
            <a:fld id="{CFA8807D-23B5-470F-A350-DF6C7A298D37}" type="datetimeFigureOut">
              <a:rPr lang="en-IN" smtClean="0"/>
              <a:t>19-10-2026</a:t>
            </a:fld>
            <a:endParaRPr lang="en-IN"/>
          </a:p>
        </p:txBody>
      </p:sp>
      <p:sp>
        <p:nvSpPr>
          <p:cNvPr id="6" name="Footer Placeholder 5">
            <a:extLst>
              <a:ext uri="{FF2B5EF4-FFF2-40B4-BE49-F238E27FC236}">
                <a16:creationId xmlns:a16="http://schemas.microsoft.com/office/drawing/2014/main" id="{CFB89491-F0C4-BC16-B9C0-EC198441F4D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6E66FB2-E9C1-F909-8C71-DF11587EB6E5}"/>
              </a:ext>
            </a:extLst>
          </p:cNvPr>
          <p:cNvSpPr>
            <a:spLocks noGrp="1"/>
          </p:cNvSpPr>
          <p:nvPr>
            <p:ph type="sldNum" sz="quarter" idx="12"/>
          </p:nvPr>
        </p:nvSpPr>
        <p:spPr/>
        <p:txBody>
          <a:bodyPr/>
          <a:lstStyle/>
          <a:p>
            <a:fld id="{934BEE5F-DF1C-4A89-BBCC-A9D5D9EBCB77}" type="slidenum">
              <a:rPr lang="en-IN" smtClean="0"/>
              <a:t>‹#›</a:t>
            </a:fld>
            <a:endParaRPr lang="en-IN"/>
          </a:p>
        </p:txBody>
      </p:sp>
    </p:spTree>
    <p:extLst>
      <p:ext uri="{BB962C8B-B14F-4D97-AF65-F5344CB8AC3E}">
        <p14:creationId xmlns:p14="http://schemas.microsoft.com/office/powerpoint/2010/main" val="3349075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E1683-7B4D-553D-283F-18FA4A99BE0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B5768DC-AFD4-21D4-82B9-EF1E3186741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94148F8-79DC-80CB-CFE9-DEFC1295A02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3D7E94F-5208-AD5D-C878-FC299148F72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1C89C1F-C64B-258E-8CAC-055094BEE51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9F4CF4B-7B8B-D0D8-F895-C238B800A869}"/>
              </a:ext>
            </a:extLst>
          </p:cNvPr>
          <p:cNvSpPr>
            <a:spLocks noGrp="1"/>
          </p:cNvSpPr>
          <p:nvPr>
            <p:ph type="dt" sz="half" idx="10"/>
          </p:nvPr>
        </p:nvSpPr>
        <p:spPr/>
        <p:txBody>
          <a:bodyPr/>
          <a:lstStyle/>
          <a:p>
            <a:fld id="{CFA8807D-23B5-470F-A350-DF6C7A298D37}" type="datetimeFigureOut">
              <a:rPr lang="en-IN" smtClean="0"/>
              <a:t>19-10-2026</a:t>
            </a:fld>
            <a:endParaRPr lang="en-IN"/>
          </a:p>
        </p:txBody>
      </p:sp>
      <p:sp>
        <p:nvSpPr>
          <p:cNvPr id="8" name="Footer Placeholder 7">
            <a:extLst>
              <a:ext uri="{FF2B5EF4-FFF2-40B4-BE49-F238E27FC236}">
                <a16:creationId xmlns:a16="http://schemas.microsoft.com/office/drawing/2014/main" id="{0337533B-5FC2-DF41-4F55-1C4AF68982A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A357DE3-BAA0-4E19-5A51-38531976B194}"/>
              </a:ext>
            </a:extLst>
          </p:cNvPr>
          <p:cNvSpPr>
            <a:spLocks noGrp="1"/>
          </p:cNvSpPr>
          <p:nvPr>
            <p:ph type="sldNum" sz="quarter" idx="12"/>
          </p:nvPr>
        </p:nvSpPr>
        <p:spPr/>
        <p:txBody>
          <a:bodyPr/>
          <a:lstStyle/>
          <a:p>
            <a:fld id="{934BEE5F-DF1C-4A89-BBCC-A9D5D9EBCB77}" type="slidenum">
              <a:rPr lang="en-IN" smtClean="0"/>
              <a:t>‹#›</a:t>
            </a:fld>
            <a:endParaRPr lang="en-IN"/>
          </a:p>
        </p:txBody>
      </p:sp>
    </p:spTree>
    <p:extLst>
      <p:ext uri="{BB962C8B-B14F-4D97-AF65-F5344CB8AC3E}">
        <p14:creationId xmlns:p14="http://schemas.microsoft.com/office/powerpoint/2010/main" val="36090162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73FCF-9F85-594C-71B0-151FA260289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A1E3388-06F5-D963-5258-310CE034E79D}"/>
              </a:ext>
            </a:extLst>
          </p:cNvPr>
          <p:cNvSpPr>
            <a:spLocks noGrp="1"/>
          </p:cNvSpPr>
          <p:nvPr>
            <p:ph type="dt" sz="half" idx="10"/>
          </p:nvPr>
        </p:nvSpPr>
        <p:spPr/>
        <p:txBody>
          <a:bodyPr/>
          <a:lstStyle/>
          <a:p>
            <a:fld id="{CFA8807D-23B5-470F-A350-DF6C7A298D37}" type="datetimeFigureOut">
              <a:rPr lang="en-IN" smtClean="0"/>
              <a:t>19-10-2026</a:t>
            </a:fld>
            <a:endParaRPr lang="en-IN"/>
          </a:p>
        </p:txBody>
      </p:sp>
      <p:sp>
        <p:nvSpPr>
          <p:cNvPr id="4" name="Footer Placeholder 3">
            <a:extLst>
              <a:ext uri="{FF2B5EF4-FFF2-40B4-BE49-F238E27FC236}">
                <a16:creationId xmlns:a16="http://schemas.microsoft.com/office/drawing/2014/main" id="{3DB75156-8723-9C47-8EE7-E3C853A571D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5EA7568-EAD7-735F-0E9F-8A2DC0F18F4A}"/>
              </a:ext>
            </a:extLst>
          </p:cNvPr>
          <p:cNvSpPr>
            <a:spLocks noGrp="1"/>
          </p:cNvSpPr>
          <p:nvPr>
            <p:ph type="sldNum" sz="quarter" idx="12"/>
          </p:nvPr>
        </p:nvSpPr>
        <p:spPr/>
        <p:txBody>
          <a:bodyPr/>
          <a:lstStyle/>
          <a:p>
            <a:fld id="{934BEE5F-DF1C-4A89-BBCC-A9D5D9EBCB77}" type="slidenum">
              <a:rPr lang="en-IN" smtClean="0"/>
              <a:t>‹#›</a:t>
            </a:fld>
            <a:endParaRPr lang="en-IN"/>
          </a:p>
        </p:txBody>
      </p:sp>
    </p:spTree>
    <p:extLst>
      <p:ext uri="{BB962C8B-B14F-4D97-AF65-F5344CB8AC3E}">
        <p14:creationId xmlns:p14="http://schemas.microsoft.com/office/powerpoint/2010/main" val="31080108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306354E-663D-FB03-0C92-03CD6BF10026}"/>
              </a:ext>
            </a:extLst>
          </p:cNvPr>
          <p:cNvSpPr>
            <a:spLocks noGrp="1"/>
          </p:cNvSpPr>
          <p:nvPr>
            <p:ph type="dt" sz="half" idx="10"/>
          </p:nvPr>
        </p:nvSpPr>
        <p:spPr/>
        <p:txBody>
          <a:bodyPr/>
          <a:lstStyle/>
          <a:p>
            <a:fld id="{CFA8807D-23B5-470F-A350-DF6C7A298D37}" type="datetimeFigureOut">
              <a:rPr lang="en-IN" smtClean="0"/>
              <a:t>19-10-2026</a:t>
            </a:fld>
            <a:endParaRPr lang="en-IN"/>
          </a:p>
        </p:txBody>
      </p:sp>
      <p:sp>
        <p:nvSpPr>
          <p:cNvPr id="3" name="Footer Placeholder 2">
            <a:extLst>
              <a:ext uri="{FF2B5EF4-FFF2-40B4-BE49-F238E27FC236}">
                <a16:creationId xmlns:a16="http://schemas.microsoft.com/office/drawing/2014/main" id="{05DB7F38-0375-009D-3D4F-87475C24DC6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1919309-D986-865C-0EF2-EEE5FCF9E556}"/>
              </a:ext>
            </a:extLst>
          </p:cNvPr>
          <p:cNvSpPr>
            <a:spLocks noGrp="1"/>
          </p:cNvSpPr>
          <p:nvPr>
            <p:ph type="sldNum" sz="quarter" idx="12"/>
          </p:nvPr>
        </p:nvSpPr>
        <p:spPr/>
        <p:txBody>
          <a:bodyPr/>
          <a:lstStyle/>
          <a:p>
            <a:fld id="{934BEE5F-DF1C-4A89-BBCC-A9D5D9EBCB77}" type="slidenum">
              <a:rPr lang="en-IN" smtClean="0"/>
              <a:t>‹#›</a:t>
            </a:fld>
            <a:endParaRPr lang="en-IN"/>
          </a:p>
        </p:txBody>
      </p:sp>
    </p:spTree>
    <p:extLst>
      <p:ext uri="{BB962C8B-B14F-4D97-AF65-F5344CB8AC3E}">
        <p14:creationId xmlns:p14="http://schemas.microsoft.com/office/powerpoint/2010/main" val="9280049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E14EB-01C5-55F7-B472-C8C6B382B9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D48CC36-212D-8FD8-0F57-87586F74F43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F1EC950-0358-CB18-27F9-C0E2FF19CF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D57A94A-9BE8-3F9D-4FBF-0C85234DFA25}"/>
              </a:ext>
            </a:extLst>
          </p:cNvPr>
          <p:cNvSpPr>
            <a:spLocks noGrp="1"/>
          </p:cNvSpPr>
          <p:nvPr>
            <p:ph type="dt" sz="half" idx="10"/>
          </p:nvPr>
        </p:nvSpPr>
        <p:spPr/>
        <p:txBody>
          <a:bodyPr/>
          <a:lstStyle/>
          <a:p>
            <a:fld id="{CFA8807D-23B5-470F-A350-DF6C7A298D37}" type="datetimeFigureOut">
              <a:rPr lang="en-IN" smtClean="0"/>
              <a:t>19-10-2026</a:t>
            </a:fld>
            <a:endParaRPr lang="en-IN"/>
          </a:p>
        </p:txBody>
      </p:sp>
      <p:sp>
        <p:nvSpPr>
          <p:cNvPr id="6" name="Footer Placeholder 5">
            <a:extLst>
              <a:ext uri="{FF2B5EF4-FFF2-40B4-BE49-F238E27FC236}">
                <a16:creationId xmlns:a16="http://schemas.microsoft.com/office/drawing/2014/main" id="{8004D088-9337-6476-2BDF-00183F6C042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AA9F8B9-C91D-0E7E-63F7-3DB9373D789C}"/>
              </a:ext>
            </a:extLst>
          </p:cNvPr>
          <p:cNvSpPr>
            <a:spLocks noGrp="1"/>
          </p:cNvSpPr>
          <p:nvPr>
            <p:ph type="sldNum" sz="quarter" idx="12"/>
          </p:nvPr>
        </p:nvSpPr>
        <p:spPr/>
        <p:txBody>
          <a:bodyPr/>
          <a:lstStyle/>
          <a:p>
            <a:fld id="{934BEE5F-DF1C-4A89-BBCC-A9D5D9EBCB77}" type="slidenum">
              <a:rPr lang="en-IN" smtClean="0"/>
              <a:t>‹#›</a:t>
            </a:fld>
            <a:endParaRPr lang="en-IN"/>
          </a:p>
        </p:txBody>
      </p:sp>
    </p:spTree>
    <p:extLst>
      <p:ext uri="{BB962C8B-B14F-4D97-AF65-F5344CB8AC3E}">
        <p14:creationId xmlns:p14="http://schemas.microsoft.com/office/powerpoint/2010/main" val="6820403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A74DF-AA14-E11E-023B-9428247719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A2911CE-14A5-A22B-3432-FC1C7FD3D8A9}"/>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49019D7-26AF-EFF7-D269-75974CE6C8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DA2F8D-94A7-707D-08EC-0E108634DC6F}"/>
              </a:ext>
            </a:extLst>
          </p:cNvPr>
          <p:cNvSpPr>
            <a:spLocks noGrp="1"/>
          </p:cNvSpPr>
          <p:nvPr>
            <p:ph type="dt" sz="half" idx="10"/>
          </p:nvPr>
        </p:nvSpPr>
        <p:spPr/>
        <p:txBody>
          <a:bodyPr/>
          <a:lstStyle/>
          <a:p>
            <a:fld id="{CFA8807D-23B5-470F-A350-DF6C7A298D37}" type="datetimeFigureOut">
              <a:rPr lang="en-IN" smtClean="0"/>
              <a:t>19-10-2026</a:t>
            </a:fld>
            <a:endParaRPr lang="en-IN"/>
          </a:p>
        </p:txBody>
      </p:sp>
      <p:sp>
        <p:nvSpPr>
          <p:cNvPr id="6" name="Footer Placeholder 5">
            <a:extLst>
              <a:ext uri="{FF2B5EF4-FFF2-40B4-BE49-F238E27FC236}">
                <a16:creationId xmlns:a16="http://schemas.microsoft.com/office/drawing/2014/main" id="{DA85A6B8-8038-3906-299B-C705F18A589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B96EB7B-FAB4-CAD7-A79A-838ED62663FD}"/>
              </a:ext>
            </a:extLst>
          </p:cNvPr>
          <p:cNvSpPr>
            <a:spLocks noGrp="1"/>
          </p:cNvSpPr>
          <p:nvPr>
            <p:ph type="sldNum" sz="quarter" idx="12"/>
          </p:nvPr>
        </p:nvSpPr>
        <p:spPr/>
        <p:txBody>
          <a:bodyPr/>
          <a:lstStyle/>
          <a:p>
            <a:fld id="{934BEE5F-DF1C-4A89-BBCC-A9D5D9EBCB77}" type="slidenum">
              <a:rPr lang="en-IN" smtClean="0"/>
              <a:t>‹#›</a:t>
            </a:fld>
            <a:endParaRPr lang="en-IN"/>
          </a:p>
        </p:txBody>
      </p:sp>
    </p:spTree>
    <p:extLst>
      <p:ext uri="{BB962C8B-B14F-4D97-AF65-F5344CB8AC3E}">
        <p14:creationId xmlns:p14="http://schemas.microsoft.com/office/powerpoint/2010/main" val="6748349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73EF1-8930-DD6D-55BA-8ED664C2270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DB4EE35-C78D-DEA9-383D-7B02A050371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C5DD0B-8D25-CD65-B992-202DDEE24F74}"/>
              </a:ext>
            </a:extLst>
          </p:cNvPr>
          <p:cNvSpPr>
            <a:spLocks noGrp="1"/>
          </p:cNvSpPr>
          <p:nvPr>
            <p:ph type="dt" sz="half" idx="10"/>
          </p:nvPr>
        </p:nvSpPr>
        <p:spPr/>
        <p:txBody>
          <a:bodyPr/>
          <a:lstStyle/>
          <a:p>
            <a:fld id="{CFA8807D-23B5-470F-A350-DF6C7A298D37}" type="datetimeFigureOut">
              <a:rPr lang="en-IN" smtClean="0"/>
              <a:t>19-10-2026</a:t>
            </a:fld>
            <a:endParaRPr lang="en-IN"/>
          </a:p>
        </p:txBody>
      </p:sp>
      <p:sp>
        <p:nvSpPr>
          <p:cNvPr id="5" name="Footer Placeholder 4">
            <a:extLst>
              <a:ext uri="{FF2B5EF4-FFF2-40B4-BE49-F238E27FC236}">
                <a16:creationId xmlns:a16="http://schemas.microsoft.com/office/drawing/2014/main" id="{15B5C077-BA94-330E-5309-07115A5B291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E5EAFDD-AEEB-2DC7-78B3-2EA42C11EB3D}"/>
              </a:ext>
            </a:extLst>
          </p:cNvPr>
          <p:cNvSpPr>
            <a:spLocks noGrp="1"/>
          </p:cNvSpPr>
          <p:nvPr>
            <p:ph type="sldNum" sz="quarter" idx="12"/>
          </p:nvPr>
        </p:nvSpPr>
        <p:spPr/>
        <p:txBody>
          <a:bodyPr/>
          <a:lstStyle/>
          <a:p>
            <a:fld id="{934BEE5F-DF1C-4A89-BBCC-A9D5D9EBCB77}" type="slidenum">
              <a:rPr lang="en-IN" smtClean="0"/>
              <a:t>‹#›</a:t>
            </a:fld>
            <a:endParaRPr lang="en-IN"/>
          </a:p>
        </p:txBody>
      </p:sp>
    </p:spTree>
    <p:extLst>
      <p:ext uri="{BB962C8B-B14F-4D97-AF65-F5344CB8AC3E}">
        <p14:creationId xmlns:p14="http://schemas.microsoft.com/office/powerpoint/2010/main" val="32108224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30B5536-E3C0-661D-367C-214F8948C91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D065AEF-3527-5BD5-E11B-4AEC7CB07EB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B8B0EAB-B4D6-5FD6-1331-06298636408B}"/>
              </a:ext>
            </a:extLst>
          </p:cNvPr>
          <p:cNvSpPr>
            <a:spLocks noGrp="1"/>
          </p:cNvSpPr>
          <p:nvPr>
            <p:ph type="dt" sz="half" idx="10"/>
          </p:nvPr>
        </p:nvSpPr>
        <p:spPr/>
        <p:txBody>
          <a:bodyPr/>
          <a:lstStyle/>
          <a:p>
            <a:fld id="{CFA8807D-23B5-470F-A350-DF6C7A298D37}" type="datetimeFigureOut">
              <a:rPr lang="en-IN" smtClean="0"/>
              <a:t>19-10-2026</a:t>
            </a:fld>
            <a:endParaRPr lang="en-IN"/>
          </a:p>
        </p:txBody>
      </p:sp>
      <p:sp>
        <p:nvSpPr>
          <p:cNvPr id="5" name="Footer Placeholder 4">
            <a:extLst>
              <a:ext uri="{FF2B5EF4-FFF2-40B4-BE49-F238E27FC236}">
                <a16:creationId xmlns:a16="http://schemas.microsoft.com/office/drawing/2014/main" id="{048C753A-9847-835B-0177-BDD4FFE2B8B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DFDBA45-940D-5AF8-1581-EDFF5F5281E3}"/>
              </a:ext>
            </a:extLst>
          </p:cNvPr>
          <p:cNvSpPr>
            <a:spLocks noGrp="1"/>
          </p:cNvSpPr>
          <p:nvPr>
            <p:ph type="sldNum" sz="quarter" idx="12"/>
          </p:nvPr>
        </p:nvSpPr>
        <p:spPr/>
        <p:txBody>
          <a:bodyPr/>
          <a:lstStyle/>
          <a:p>
            <a:fld id="{934BEE5F-DF1C-4A89-BBCC-A9D5D9EBCB77}" type="slidenum">
              <a:rPr lang="en-IN" smtClean="0"/>
              <a:t>‹#›</a:t>
            </a:fld>
            <a:endParaRPr lang="en-IN"/>
          </a:p>
        </p:txBody>
      </p:sp>
    </p:spTree>
    <p:extLst>
      <p:ext uri="{BB962C8B-B14F-4D97-AF65-F5344CB8AC3E}">
        <p14:creationId xmlns:p14="http://schemas.microsoft.com/office/powerpoint/2010/main" val="42255373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84636D1-AD4F-0790-4E0C-B499AFCEC6C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2331BCE-4EAE-4FF0-3BCC-F0A3B75C15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800A678-CF3A-8DCD-9ED2-CB0243CC9CB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FA8807D-23B5-470F-A350-DF6C7A298D37}" type="datetimeFigureOut">
              <a:rPr lang="en-IN" smtClean="0"/>
              <a:t>19-10-2026</a:t>
            </a:fld>
            <a:endParaRPr lang="en-IN"/>
          </a:p>
        </p:txBody>
      </p:sp>
      <p:sp>
        <p:nvSpPr>
          <p:cNvPr id="5" name="Footer Placeholder 4">
            <a:extLst>
              <a:ext uri="{FF2B5EF4-FFF2-40B4-BE49-F238E27FC236}">
                <a16:creationId xmlns:a16="http://schemas.microsoft.com/office/drawing/2014/main" id="{5C6680BD-81EF-BA90-90DC-D8F9C5355F4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4C2E08B1-7696-7E2C-CCF2-87C3BE6629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34BEE5F-DF1C-4A89-BBCC-A9D5D9EBCB77}" type="slidenum">
              <a:rPr lang="en-IN" smtClean="0"/>
              <a:t>‹#›</a:t>
            </a:fld>
            <a:endParaRPr lang="en-IN"/>
          </a:p>
        </p:txBody>
      </p:sp>
    </p:spTree>
    <p:extLst>
      <p:ext uri="{BB962C8B-B14F-4D97-AF65-F5344CB8AC3E}">
        <p14:creationId xmlns:p14="http://schemas.microsoft.com/office/powerpoint/2010/main" val="36341794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8F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07C4733-AA4D-759B-6F6C-62C4F04BEB5C}"/>
              </a:ext>
            </a:extLst>
          </p:cNvPr>
          <p:cNvSpPr txBox="1"/>
          <p:nvPr/>
        </p:nvSpPr>
        <p:spPr>
          <a:xfrm>
            <a:off x="609600" y="571499"/>
            <a:ext cx="10160000" cy="304800"/>
          </a:xfrm>
          <a:prstGeom prst="rect">
            <a:avLst/>
          </a:prstGeom>
          <a:noFill/>
        </p:spPr>
        <p:txBody>
          <a:bodyPr vert="horz" wrap="square" lIns="0" tIns="0" rIns="0" bIns="0" rtlCol="0">
            <a:noAutofit/>
          </a:bodyPr>
          <a:lstStyle/>
          <a:p>
            <a:pPr>
              <a:spcAft>
                <a:spcPts val="800"/>
              </a:spcAft>
            </a:pPr>
            <a:r>
              <a:rPr lang="en-IN" sz="1100" b="1">
                <a:solidFill>
                  <a:srgbClr val="426B42"/>
                </a:solidFill>
                <a:latin typeface="Arial" panose="020B0604020202020204" pitchFamily="34" charset="0"/>
              </a:rPr>
              <a:t>EE604 COURSE PROJECT / 2026</a:t>
            </a:r>
          </a:p>
        </p:txBody>
      </p:sp>
      <p:sp>
        <p:nvSpPr>
          <p:cNvPr id="3" name="TextBox 2">
            <a:extLst>
              <a:ext uri="{FF2B5EF4-FFF2-40B4-BE49-F238E27FC236}">
                <a16:creationId xmlns:a16="http://schemas.microsoft.com/office/drawing/2014/main" id="{335D0336-94BB-868D-644D-210163062735}"/>
              </a:ext>
            </a:extLst>
          </p:cNvPr>
          <p:cNvSpPr txBox="1"/>
          <p:nvPr/>
        </p:nvSpPr>
        <p:spPr>
          <a:xfrm>
            <a:off x="609600" y="1460499"/>
            <a:ext cx="6350000" cy="2349500"/>
          </a:xfrm>
          <a:prstGeom prst="rect">
            <a:avLst/>
          </a:prstGeom>
          <a:noFill/>
        </p:spPr>
        <p:txBody>
          <a:bodyPr vert="horz" wrap="square" lIns="0" tIns="0" rIns="0" bIns="0" rtlCol="0">
            <a:noAutofit/>
          </a:bodyPr>
          <a:lstStyle/>
          <a:p>
            <a:pPr>
              <a:spcAft>
                <a:spcPts val="800"/>
              </a:spcAft>
            </a:pPr>
            <a:r>
              <a:rPr lang="en-IN" sz="4400" b="1">
                <a:solidFill>
                  <a:srgbClr val="20382A"/>
                </a:solidFill>
                <a:latin typeface="Arial" panose="020B0604020202020204" pitchFamily="34" charset="0"/>
              </a:rPr>
              <a:t>Cricket Shot
Recognition</a:t>
            </a:r>
          </a:p>
        </p:txBody>
      </p:sp>
      <p:sp>
        <p:nvSpPr>
          <p:cNvPr id="4" name="TextBox 3">
            <a:extLst>
              <a:ext uri="{FF2B5EF4-FFF2-40B4-BE49-F238E27FC236}">
                <a16:creationId xmlns:a16="http://schemas.microsoft.com/office/drawing/2014/main" id="{58632CBE-16EC-C551-B78D-1A95732DAEA0}"/>
              </a:ext>
            </a:extLst>
          </p:cNvPr>
          <p:cNvSpPr txBox="1"/>
          <p:nvPr/>
        </p:nvSpPr>
        <p:spPr>
          <a:xfrm>
            <a:off x="635000" y="4102099"/>
            <a:ext cx="5588000" cy="1079500"/>
          </a:xfrm>
          <a:prstGeom prst="rect">
            <a:avLst/>
          </a:prstGeom>
          <a:noFill/>
        </p:spPr>
        <p:txBody>
          <a:bodyPr vert="horz" wrap="square" lIns="0" tIns="0" rIns="0" bIns="0" rtlCol="0">
            <a:noAutofit/>
          </a:bodyPr>
          <a:lstStyle/>
          <a:p>
            <a:pPr>
              <a:spcAft>
                <a:spcPts val="800"/>
              </a:spcAft>
            </a:pPr>
            <a:r>
              <a:rPr lang="en-US" sz="2000">
                <a:solidFill>
                  <a:srgbClr val="72806B"/>
                </a:solidFill>
                <a:latin typeface="Arial" panose="020B0604020202020204" pitchFamily="34" charset="0"/>
              </a:rPr>
              <a:t>Gradient features and a frozen CNN
A controlled four-class image study</a:t>
            </a:r>
            <a:endParaRPr lang="en-IN" sz="2000">
              <a:solidFill>
                <a:srgbClr val="72806B"/>
              </a:solidFill>
              <a:latin typeface="Arial" panose="020B0604020202020204" pitchFamily="34" charset="0"/>
            </a:endParaRPr>
          </a:p>
        </p:txBody>
      </p:sp>
      <p:pic>
        <p:nvPicPr>
          <p:cNvPr id="6" name="Picture 5">
            <a:extLst>
              <a:ext uri="{FF2B5EF4-FFF2-40B4-BE49-F238E27FC236}">
                <a16:creationId xmlns:a16="http://schemas.microsoft.com/office/drawing/2014/main" id="{B4C8B907-323D-3019-55AE-E0975627B49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175500" y="1915067"/>
            <a:ext cx="4445000" cy="2710366"/>
          </a:xfrm>
          <a:prstGeom prst="rect">
            <a:avLst/>
          </a:prstGeom>
        </p:spPr>
      </p:pic>
      <p:sp>
        <p:nvSpPr>
          <p:cNvPr id="7" name="TextBox 6">
            <a:extLst>
              <a:ext uri="{FF2B5EF4-FFF2-40B4-BE49-F238E27FC236}">
                <a16:creationId xmlns:a16="http://schemas.microsoft.com/office/drawing/2014/main" id="{EBE2FFE7-6E1D-7E2E-3469-1CCED0098276}"/>
              </a:ext>
            </a:extLst>
          </p:cNvPr>
          <p:cNvSpPr txBox="1"/>
          <p:nvPr/>
        </p:nvSpPr>
        <p:spPr>
          <a:xfrm>
            <a:off x="635000" y="5372099"/>
            <a:ext cx="10795000" cy="863600"/>
          </a:xfrm>
          <a:prstGeom prst="rect">
            <a:avLst/>
          </a:prstGeom>
          <a:noFill/>
        </p:spPr>
        <p:txBody>
          <a:bodyPr vert="horz" wrap="square" lIns="0" tIns="0" rIns="0" bIns="0" rtlCol="0">
            <a:noAutofit/>
          </a:bodyPr>
          <a:lstStyle/>
          <a:p>
            <a:pPr>
              <a:spcAft>
                <a:spcPts val="200"/>
              </a:spcAft>
            </a:pPr>
            <a:r>
              <a:rPr lang="en-IN" sz="1200">
                <a:solidFill>
                  <a:srgbClr val="20382A"/>
                </a:solidFill>
                <a:latin typeface="Arial" panose="020B0604020202020204" pitchFamily="34" charset="0"/>
              </a:rPr>
              <a:t>Hrushikesh Roop Avvari (230249)  /  Voora Rakesh (231174)
Gokavarapu Manikanta Sri Akshith (230418)
Lokesh Kumar Moond (230606)  /  Bollu Sharath chandra (230303)</a:t>
            </a:r>
          </a:p>
        </p:txBody>
      </p:sp>
      <p:sp>
        <p:nvSpPr>
          <p:cNvPr id="8" name="TextBox 7">
            <a:extLst>
              <a:ext uri="{FF2B5EF4-FFF2-40B4-BE49-F238E27FC236}">
                <a16:creationId xmlns:a16="http://schemas.microsoft.com/office/drawing/2014/main" id="{8027711F-9AB0-F492-76C1-07BF309CC686}"/>
              </a:ext>
            </a:extLst>
          </p:cNvPr>
          <p:cNvSpPr txBox="1"/>
          <p:nvPr/>
        </p:nvSpPr>
        <p:spPr>
          <a:xfrm>
            <a:off x="635000" y="6426200"/>
            <a:ext cx="10795000" cy="241300"/>
          </a:xfrm>
          <a:prstGeom prst="rect">
            <a:avLst/>
          </a:prstGeom>
          <a:noFill/>
        </p:spPr>
        <p:txBody>
          <a:bodyPr vert="horz" wrap="square" lIns="0" tIns="0" rIns="0" bIns="0" rtlCol="0">
            <a:noAutofit/>
          </a:bodyPr>
          <a:lstStyle/>
          <a:p>
            <a:pPr>
              <a:spcAft>
                <a:spcPts val="800"/>
              </a:spcAft>
            </a:pPr>
            <a:r>
              <a:rPr lang="en-IN" sz="1000">
                <a:solidFill>
                  <a:srgbClr val="72806B"/>
                </a:solidFill>
                <a:latin typeface="Arial" panose="020B0604020202020204" pitchFamily="34" charset="0"/>
              </a:rPr>
              <a:t>https://github.com/hrushikeshroop/cricket-shot-recognition-ee604</a:t>
            </a:r>
          </a:p>
        </p:txBody>
      </p:sp>
    </p:spTree>
    <p:extLst>
      <p:ext uri="{BB962C8B-B14F-4D97-AF65-F5344CB8AC3E}">
        <p14:creationId xmlns:p14="http://schemas.microsoft.com/office/powerpoint/2010/main" val="15665708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8F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05F1C7C-4AB9-3114-D28D-856FEBD4F3A5}"/>
              </a:ext>
            </a:extLst>
          </p:cNvPr>
          <p:cNvSpPr txBox="1"/>
          <p:nvPr/>
        </p:nvSpPr>
        <p:spPr>
          <a:xfrm>
            <a:off x="609600" y="406399"/>
            <a:ext cx="10985500" cy="609600"/>
          </a:xfrm>
          <a:prstGeom prst="rect">
            <a:avLst/>
          </a:prstGeom>
          <a:noFill/>
        </p:spPr>
        <p:txBody>
          <a:bodyPr vert="horz" wrap="square" lIns="0" tIns="0" rIns="0" bIns="0" rtlCol="0">
            <a:noAutofit/>
          </a:bodyPr>
          <a:lstStyle/>
          <a:p>
            <a:pPr>
              <a:spcAft>
                <a:spcPts val="800"/>
              </a:spcAft>
            </a:pPr>
            <a:r>
              <a:rPr lang="en-IN" sz="3200" b="1">
                <a:solidFill>
                  <a:srgbClr val="20382A"/>
                </a:solidFill>
                <a:latin typeface="Arial" panose="020B0604020202020204" pitchFamily="34" charset="0"/>
              </a:rPr>
              <a:t>Problem, labels and constraints</a:t>
            </a:r>
          </a:p>
        </p:txBody>
      </p:sp>
      <p:sp>
        <p:nvSpPr>
          <p:cNvPr id="3" name="TextBox 2">
            <a:extLst>
              <a:ext uri="{FF2B5EF4-FFF2-40B4-BE49-F238E27FC236}">
                <a16:creationId xmlns:a16="http://schemas.microsoft.com/office/drawing/2014/main" id="{E2D352CD-AE6B-1798-5F11-515EDB4C3BA7}"/>
              </a:ext>
            </a:extLst>
          </p:cNvPr>
          <p:cNvSpPr txBox="1"/>
          <p:nvPr/>
        </p:nvSpPr>
        <p:spPr>
          <a:xfrm>
            <a:off x="622300" y="1142999"/>
            <a:ext cx="10858500" cy="558800"/>
          </a:xfrm>
          <a:prstGeom prst="rect">
            <a:avLst/>
          </a:prstGeom>
          <a:noFill/>
        </p:spPr>
        <p:txBody>
          <a:bodyPr vert="horz" wrap="square" lIns="0" tIns="0" rIns="0" bIns="0" rtlCol="0">
            <a:noAutofit/>
          </a:bodyPr>
          <a:lstStyle/>
          <a:p>
            <a:pPr>
              <a:spcAft>
                <a:spcPts val="800"/>
              </a:spcAft>
            </a:pPr>
            <a:r>
              <a:rPr lang="en-US" sz="1500">
                <a:solidFill>
                  <a:srgbClr val="72806B"/>
                </a:solidFill>
                <a:latin typeface="Arial" panose="020B0604020202020204" pitchFamily="34" charset="0"/>
              </a:rPr>
              <a:t>Input: one selected cricket image. Output: one of four dataset labels.</a:t>
            </a:r>
            <a:endParaRPr lang="en-IN" sz="1500">
              <a:solidFill>
                <a:srgbClr val="72806B"/>
              </a:solidFill>
              <a:latin typeface="Arial" panose="020B0604020202020204" pitchFamily="34" charset="0"/>
            </a:endParaRPr>
          </a:p>
        </p:txBody>
      </p:sp>
      <p:sp>
        <p:nvSpPr>
          <p:cNvPr id="4" name="TextBox 3">
            <a:extLst>
              <a:ext uri="{FF2B5EF4-FFF2-40B4-BE49-F238E27FC236}">
                <a16:creationId xmlns:a16="http://schemas.microsoft.com/office/drawing/2014/main" id="{C26ED979-4924-4B1F-619C-2B38CD35A834}"/>
              </a:ext>
            </a:extLst>
          </p:cNvPr>
          <p:cNvSpPr txBox="1"/>
          <p:nvPr/>
        </p:nvSpPr>
        <p:spPr>
          <a:xfrm>
            <a:off x="635000" y="1904999"/>
            <a:ext cx="4699000" cy="2159000"/>
          </a:xfrm>
          <a:prstGeom prst="rect">
            <a:avLst/>
          </a:prstGeom>
          <a:noFill/>
        </p:spPr>
        <p:txBody>
          <a:bodyPr vert="horz" wrap="square" lIns="0" tIns="0" rIns="0" bIns="0" rtlCol="0">
            <a:noAutofit/>
          </a:bodyPr>
          <a:lstStyle/>
          <a:p>
            <a:pPr>
              <a:spcAft>
                <a:spcPts val="800"/>
              </a:spcAft>
            </a:pPr>
            <a:r>
              <a:rPr lang="en-US" sz="2600" b="1">
                <a:solidFill>
                  <a:srgbClr val="20382A"/>
                </a:solidFill>
                <a:latin typeface="Arial" panose="020B0604020202020204" pitchFamily="34" charset="0"/>
              </a:rPr>
              <a:t>Drive
Leg glance / flick
Pull
Sweep</a:t>
            </a:r>
            <a:endParaRPr lang="en-IN" sz="2600" b="1">
              <a:solidFill>
                <a:srgbClr val="20382A"/>
              </a:solidFill>
              <a:latin typeface="Arial" panose="020B0604020202020204" pitchFamily="34" charset="0"/>
            </a:endParaRPr>
          </a:p>
        </p:txBody>
      </p:sp>
      <p:sp>
        <p:nvSpPr>
          <p:cNvPr id="5" name="TextBox 4">
            <a:extLst>
              <a:ext uri="{FF2B5EF4-FFF2-40B4-BE49-F238E27FC236}">
                <a16:creationId xmlns:a16="http://schemas.microsoft.com/office/drawing/2014/main" id="{77715268-EA15-3A98-54F3-A79709C6273B}"/>
              </a:ext>
            </a:extLst>
          </p:cNvPr>
          <p:cNvSpPr txBox="1"/>
          <p:nvPr/>
        </p:nvSpPr>
        <p:spPr>
          <a:xfrm>
            <a:off x="635000" y="4444999"/>
            <a:ext cx="10795000" cy="1333500"/>
          </a:xfrm>
          <a:prstGeom prst="rect">
            <a:avLst/>
          </a:prstGeom>
          <a:noFill/>
        </p:spPr>
        <p:txBody>
          <a:bodyPr vert="horz" wrap="square" lIns="0" tIns="0" rIns="0" bIns="0" rtlCol="0">
            <a:noAutofit/>
          </a:bodyPr>
          <a:lstStyle/>
          <a:p>
            <a:pPr>
              <a:spcAft>
                <a:spcPts val="800"/>
              </a:spcAft>
            </a:pPr>
            <a:r>
              <a:rPr lang="en-US" sz="2000">
                <a:solidFill>
                  <a:srgbClr val="20382A"/>
                </a:solidFill>
                <a:latin typeface="Arial" panose="020B0604020202020204" pitchFamily="34" charset="0"/>
              </a:rPr>
              <a:t>CPU inference, offline after setup.
No batter detection, contact localization or technique grading.
Unknown shots can still receive confident scores.</a:t>
            </a:r>
            <a:endParaRPr lang="en-IN" sz="2000">
              <a:solidFill>
                <a:srgbClr val="20382A"/>
              </a:solidFill>
              <a:latin typeface="Arial" panose="020B0604020202020204" pitchFamily="34" charset="0"/>
            </a:endParaRPr>
          </a:p>
        </p:txBody>
      </p:sp>
      <p:pic>
        <p:nvPicPr>
          <p:cNvPr id="7" name="Picture 6">
            <a:extLst>
              <a:ext uri="{FF2B5EF4-FFF2-40B4-BE49-F238E27FC236}">
                <a16:creationId xmlns:a16="http://schemas.microsoft.com/office/drawing/2014/main" id="{4EC2A13A-290C-5016-CA39-A3823D531F9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562180" y="1841500"/>
            <a:ext cx="2528639" cy="2413000"/>
          </a:xfrm>
          <a:prstGeom prst="rect">
            <a:avLst/>
          </a:prstGeom>
        </p:spPr>
      </p:pic>
      <p:sp>
        <p:nvSpPr>
          <p:cNvPr id="8" name="TextBox 7">
            <a:extLst>
              <a:ext uri="{FF2B5EF4-FFF2-40B4-BE49-F238E27FC236}">
                <a16:creationId xmlns:a16="http://schemas.microsoft.com/office/drawing/2014/main" id="{24AC2124-CEE0-1B55-0D41-9BF77C6196A4}"/>
              </a:ext>
            </a:extLst>
          </p:cNvPr>
          <p:cNvSpPr txBox="1"/>
          <p:nvPr/>
        </p:nvSpPr>
        <p:spPr>
          <a:xfrm>
            <a:off x="635000" y="6489700"/>
            <a:ext cx="9525000" cy="190500"/>
          </a:xfrm>
          <a:prstGeom prst="rect">
            <a:avLst/>
          </a:prstGeom>
          <a:noFill/>
        </p:spPr>
        <p:txBody>
          <a:bodyPr vert="horz" wrap="square" lIns="0" tIns="0" rIns="0" bIns="0" rtlCol="0">
            <a:noAutofit/>
          </a:bodyPr>
          <a:lstStyle/>
          <a:p>
            <a:pPr>
              <a:spcAft>
                <a:spcPts val="800"/>
              </a:spcAft>
            </a:pPr>
            <a:r>
              <a:rPr lang="en-IN" sz="800">
                <a:solidFill>
                  <a:srgbClr val="72806B"/>
                </a:solidFill>
                <a:latin typeface="Arial" panose="020B0604020202020204" pitchFamily="34" charset="0"/>
              </a:rPr>
              <a:t>CRICKET SHOT RECOGNITION / EE604</a:t>
            </a:r>
          </a:p>
        </p:txBody>
      </p:sp>
      <p:sp>
        <p:nvSpPr>
          <p:cNvPr id="9" name="TextBox 8">
            <a:extLst>
              <a:ext uri="{FF2B5EF4-FFF2-40B4-BE49-F238E27FC236}">
                <a16:creationId xmlns:a16="http://schemas.microsoft.com/office/drawing/2014/main" id="{4FD35733-DB57-3D74-3891-7EE9F09BDE74}"/>
              </a:ext>
            </a:extLst>
          </p:cNvPr>
          <p:cNvSpPr txBox="1"/>
          <p:nvPr/>
        </p:nvSpPr>
        <p:spPr>
          <a:xfrm>
            <a:off x="11214100" y="6451600"/>
            <a:ext cx="317500" cy="228600"/>
          </a:xfrm>
          <a:prstGeom prst="rect">
            <a:avLst/>
          </a:prstGeom>
          <a:noFill/>
        </p:spPr>
        <p:txBody>
          <a:bodyPr vert="horz" wrap="square" lIns="0" tIns="0" rIns="0" bIns="0" rtlCol="0">
            <a:noAutofit/>
          </a:bodyPr>
          <a:lstStyle/>
          <a:p>
            <a:pPr>
              <a:spcAft>
                <a:spcPts val="800"/>
              </a:spcAft>
            </a:pPr>
            <a:r>
              <a:rPr lang="en-IN" sz="1000">
                <a:solidFill>
                  <a:srgbClr val="72806B"/>
                </a:solidFill>
                <a:latin typeface="Arial" panose="020B0604020202020204" pitchFamily="34" charset="0"/>
              </a:rPr>
              <a:t>2</a:t>
            </a:r>
          </a:p>
        </p:txBody>
      </p:sp>
    </p:spTree>
    <p:extLst>
      <p:ext uri="{BB962C8B-B14F-4D97-AF65-F5344CB8AC3E}">
        <p14:creationId xmlns:p14="http://schemas.microsoft.com/office/powerpoint/2010/main" val="4276407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8F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84CC918-79D8-B0D0-2B76-9017D9545E1F}"/>
              </a:ext>
            </a:extLst>
          </p:cNvPr>
          <p:cNvSpPr txBox="1"/>
          <p:nvPr/>
        </p:nvSpPr>
        <p:spPr>
          <a:xfrm>
            <a:off x="609600" y="406399"/>
            <a:ext cx="10985500" cy="609600"/>
          </a:xfrm>
          <a:prstGeom prst="rect">
            <a:avLst/>
          </a:prstGeom>
          <a:noFill/>
        </p:spPr>
        <p:txBody>
          <a:bodyPr vert="horz" wrap="square" lIns="0" tIns="0" rIns="0" bIns="0" rtlCol="0">
            <a:noAutofit/>
          </a:bodyPr>
          <a:lstStyle/>
          <a:p>
            <a:pPr>
              <a:spcAft>
                <a:spcPts val="800"/>
              </a:spcAft>
            </a:pPr>
            <a:r>
              <a:rPr lang="en-US" sz="3200" b="1">
                <a:solidFill>
                  <a:srgbClr val="20382A"/>
                </a:solidFill>
                <a:latin typeface="Arial" panose="020B0604020202020204" pitchFamily="34" charset="0"/>
              </a:rPr>
              <a:t>Course foundation and prior work</a:t>
            </a:r>
            <a:endParaRPr lang="en-IN" sz="3200" b="1">
              <a:solidFill>
                <a:srgbClr val="20382A"/>
              </a:solidFill>
              <a:latin typeface="Arial" panose="020B0604020202020204" pitchFamily="34" charset="0"/>
            </a:endParaRPr>
          </a:p>
        </p:txBody>
      </p:sp>
      <p:sp>
        <p:nvSpPr>
          <p:cNvPr id="3" name="TextBox 2">
            <a:extLst>
              <a:ext uri="{FF2B5EF4-FFF2-40B4-BE49-F238E27FC236}">
                <a16:creationId xmlns:a16="http://schemas.microsoft.com/office/drawing/2014/main" id="{83CABDAE-18C3-567D-B26A-443A0D45BB58}"/>
              </a:ext>
            </a:extLst>
          </p:cNvPr>
          <p:cNvSpPr txBox="1"/>
          <p:nvPr/>
        </p:nvSpPr>
        <p:spPr>
          <a:xfrm>
            <a:off x="622300" y="1142999"/>
            <a:ext cx="10858500" cy="558800"/>
          </a:xfrm>
          <a:prstGeom prst="rect">
            <a:avLst/>
          </a:prstGeom>
          <a:noFill/>
        </p:spPr>
        <p:txBody>
          <a:bodyPr vert="horz" wrap="square" lIns="0" tIns="0" rIns="0" bIns="0" rtlCol="0">
            <a:noAutofit/>
          </a:bodyPr>
          <a:lstStyle/>
          <a:p>
            <a:pPr>
              <a:spcAft>
                <a:spcPts val="800"/>
              </a:spcAft>
            </a:pPr>
            <a:r>
              <a:rPr lang="en-US" sz="1500">
                <a:solidFill>
                  <a:srgbClr val="72806B"/>
                </a:solidFill>
                <a:latin typeface="Arial" panose="020B0604020202020204" pitchFamily="34" charset="0"/>
              </a:rPr>
              <a:t>Use established feature extraction, then test one modest extension</a:t>
            </a:r>
            <a:endParaRPr lang="en-IN" sz="1500">
              <a:solidFill>
                <a:srgbClr val="72806B"/>
              </a:solidFill>
              <a:latin typeface="Arial" panose="020B0604020202020204" pitchFamily="34" charset="0"/>
            </a:endParaRPr>
          </a:p>
        </p:txBody>
      </p:sp>
      <p:graphicFrame>
        <p:nvGraphicFramePr>
          <p:cNvPr id="4" name="Table 3">
            <a:extLst>
              <a:ext uri="{FF2B5EF4-FFF2-40B4-BE49-F238E27FC236}">
                <a16:creationId xmlns:a16="http://schemas.microsoft.com/office/drawing/2014/main" id="{7CA4DD9A-65FF-440D-2799-FD50DB8C0F93}"/>
              </a:ext>
            </a:extLst>
          </p:cNvPr>
          <p:cNvGraphicFramePr>
            <a:graphicFrameLocks noGrp="1"/>
          </p:cNvGraphicFramePr>
          <p:nvPr>
            <p:extLst>
              <p:ext uri="{D42A27DB-BD31-4B8C-83A1-F6EECF244321}">
                <p14:modId xmlns:p14="http://schemas.microsoft.com/office/powerpoint/2010/main" val="2667902517"/>
              </p:ext>
            </p:extLst>
          </p:nvPr>
        </p:nvGraphicFramePr>
        <p:xfrm>
          <a:off x="635000" y="1905000"/>
          <a:ext cx="10922000" cy="3238500"/>
        </p:xfrm>
        <a:graphic>
          <a:graphicData uri="http://schemas.openxmlformats.org/drawingml/2006/table">
            <a:tbl>
              <a:tblPr firstRow="1" bandRow="1">
                <a:tableStyleId>{5C22544A-7EE6-4342-B048-85BDC9FD1C3A}</a:tableStyleId>
              </a:tblPr>
              <a:tblGrid>
                <a:gridCol w="2921000">
                  <a:extLst>
                    <a:ext uri="{9D8B030D-6E8A-4147-A177-3AD203B41FA5}">
                      <a16:colId xmlns:a16="http://schemas.microsoft.com/office/drawing/2014/main" val="3134815456"/>
                    </a:ext>
                  </a:extLst>
                </a:gridCol>
                <a:gridCol w="4191000">
                  <a:extLst>
                    <a:ext uri="{9D8B030D-6E8A-4147-A177-3AD203B41FA5}">
                      <a16:colId xmlns:a16="http://schemas.microsoft.com/office/drawing/2014/main" val="1174950828"/>
                    </a:ext>
                  </a:extLst>
                </a:gridCol>
                <a:gridCol w="3810000">
                  <a:extLst>
                    <a:ext uri="{9D8B030D-6E8A-4147-A177-3AD203B41FA5}">
                      <a16:colId xmlns:a16="http://schemas.microsoft.com/office/drawing/2014/main" val="2241902195"/>
                    </a:ext>
                  </a:extLst>
                </a:gridCol>
              </a:tblGrid>
              <a:tr h="647700">
                <a:tc>
                  <a:txBody>
                    <a:bodyPr/>
                    <a:lstStyle/>
                    <a:p>
                      <a:r>
                        <a:rPr lang="en-IN" sz="1600" b="1">
                          <a:solidFill>
                            <a:srgbClr val="FFFFFF"/>
                          </a:solidFill>
                          <a:latin typeface="Arial" panose="020B0604020202020204" pitchFamily="34" charset="0"/>
                        </a:rPr>
                        <a:t>Foundation</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20382A"/>
                    </a:solidFill>
                  </a:tcPr>
                </a:tc>
                <a:tc>
                  <a:txBody>
                    <a:bodyPr/>
                    <a:lstStyle/>
                    <a:p>
                      <a:r>
                        <a:rPr lang="en-IN" sz="1600" b="1">
                          <a:solidFill>
                            <a:srgbClr val="FFFFFF"/>
                          </a:solidFill>
                          <a:latin typeface="Arial" panose="020B0604020202020204" pitchFamily="34" charset="0"/>
                        </a:rPr>
                        <a:t>Source</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20382A"/>
                    </a:solidFill>
                  </a:tcPr>
                </a:tc>
                <a:tc>
                  <a:txBody>
                    <a:bodyPr/>
                    <a:lstStyle/>
                    <a:p>
                      <a:r>
                        <a:rPr lang="en-IN" sz="1600" b="1">
                          <a:solidFill>
                            <a:srgbClr val="FFFFFF"/>
                          </a:solidFill>
                          <a:latin typeface="Arial" panose="020B0604020202020204" pitchFamily="34" charset="0"/>
                        </a:rPr>
                        <a:t>Our use</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20382A"/>
                    </a:solidFill>
                  </a:tcPr>
                </a:tc>
                <a:extLst>
                  <a:ext uri="{0D108BD9-81ED-4DB2-BD59-A6C34878D82A}">
                    <a16:rowId xmlns:a16="http://schemas.microsoft.com/office/drawing/2014/main" val="118433485"/>
                  </a:ext>
                </a:extLst>
              </a:tr>
              <a:tr h="647700">
                <a:tc>
                  <a:txBody>
                    <a:bodyPr/>
                    <a:lstStyle/>
                    <a:p>
                      <a:r>
                        <a:rPr lang="en-IN" sz="1600" b="0">
                          <a:solidFill>
                            <a:srgbClr val="20382A"/>
                          </a:solidFill>
                          <a:latin typeface="Arial" panose="020B0604020202020204" pitchFamily="34" charset="0"/>
                        </a:rPr>
                        <a:t>Gradient histograms</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600" b="0">
                          <a:solidFill>
                            <a:srgbClr val="20382A"/>
                          </a:solidFill>
                          <a:latin typeface="Arial" panose="020B0604020202020204" pitchFamily="34" charset="0"/>
                        </a:rPr>
                        <a:t>Lecture 10; Dalal / Triggs (2005)</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600" b="0">
                          <a:solidFill>
                            <a:srgbClr val="20382A"/>
                          </a:solidFill>
                          <a:latin typeface="Arial" panose="020B0604020202020204" pitchFamily="34" charset="0"/>
                        </a:rPr>
                        <a:t>Explicit HOG baseline</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extLst>
                  <a:ext uri="{0D108BD9-81ED-4DB2-BD59-A6C34878D82A}">
                    <a16:rowId xmlns:a16="http://schemas.microsoft.com/office/drawing/2014/main" val="1552429655"/>
                  </a:ext>
                </a:extLst>
              </a:tr>
              <a:tr h="647700">
                <a:tc>
                  <a:txBody>
                    <a:bodyPr/>
                    <a:lstStyle/>
                    <a:p>
                      <a:r>
                        <a:rPr lang="en-IN" sz="1600" b="0">
                          <a:solidFill>
                            <a:srgbClr val="20382A"/>
                          </a:solidFill>
                          <a:latin typeface="Arial" panose="020B0604020202020204" pitchFamily="34" charset="0"/>
                        </a:rPr>
                        <a:t>Frozen pretrained features</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IN" sz="1600" b="0">
                          <a:solidFill>
                            <a:srgbClr val="20382A"/>
                          </a:solidFill>
                          <a:latin typeface="Arial" panose="020B0604020202020204" pitchFamily="34" charset="0"/>
                        </a:rPr>
                        <a:t>Lecture 15, pp. 11-14</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IN" sz="1600" b="0">
                          <a:solidFill>
                            <a:srgbClr val="20382A"/>
                          </a:solidFill>
                          <a:latin typeface="Arial" panose="020B0604020202020204" pitchFamily="34" charset="0"/>
                        </a:rPr>
                        <a:t>MobileNetV2 + linear classifier</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extLst>
                  <a:ext uri="{0D108BD9-81ED-4DB2-BD59-A6C34878D82A}">
                    <a16:rowId xmlns:a16="http://schemas.microsoft.com/office/drawing/2014/main" val="257134937"/>
                  </a:ext>
                </a:extLst>
              </a:tr>
              <a:tr h="647700">
                <a:tc>
                  <a:txBody>
                    <a:bodyPr/>
                    <a:lstStyle/>
                    <a:p>
                      <a:r>
                        <a:rPr lang="en-IN" sz="1600" b="0">
                          <a:solidFill>
                            <a:srgbClr val="20382A"/>
                          </a:solidFill>
                          <a:latin typeface="Arial" panose="020B0604020202020204" pitchFamily="34" charset="0"/>
                        </a:rPr>
                        <a:t>Cricket recognition</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600" b="0">
                          <a:solidFill>
                            <a:srgbClr val="20382A"/>
                          </a:solidFill>
                          <a:latin typeface="Arial" panose="020B0604020202020204" pitchFamily="34" charset="0"/>
                        </a:rPr>
                        <a:t>KUCricShot (2023); Kang (2025)</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600" b="0">
                          <a:solidFill>
                            <a:srgbClr val="20382A"/>
                          </a:solidFill>
                          <a:latin typeface="Arial" panose="020B0604020202020204" pitchFamily="34" charset="0"/>
                        </a:rPr>
                        <a:t>Prior task studies; different data</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extLst>
                  <a:ext uri="{0D108BD9-81ED-4DB2-BD59-A6C34878D82A}">
                    <a16:rowId xmlns:a16="http://schemas.microsoft.com/office/drawing/2014/main" val="2990380411"/>
                  </a:ext>
                </a:extLst>
              </a:tr>
              <a:tr h="647700">
                <a:tc>
                  <a:txBody>
                    <a:bodyPr/>
                    <a:lstStyle/>
                    <a:p>
                      <a:r>
                        <a:rPr lang="en-IN" sz="1600" b="0">
                          <a:solidFill>
                            <a:srgbClr val="20382A"/>
                          </a:solidFill>
                          <a:latin typeface="Arial" panose="020B0604020202020204" pitchFamily="34" charset="0"/>
                        </a:rPr>
                        <a:t>Two-view difference</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IN" sz="1600" b="0">
                          <a:solidFill>
                            <a:srgbClr val="20382A"/>
                          </a:solidFill>
                          <a:latin typeface="Arial" panose="020B0604020202020204" pitchFamily="34" charset="0"/>
                        </a:rPr>
                        <a:t>Course implementation</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IN" sz="1600" b="0">
                          <a:solidFill>
                            <a:srgbClr val="20382A"/>
                          </a:solidFill>
                          <a:latin typeface="Arial" panose="020B0604020202020204" pitchFamily="34" charset="0"/>
                        </a:rPr>
                        <a:t>Compare with simple concatenation</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extLst>
                  <a:ext uri="{0D108BD9-81ED-4DB2-BD59-A6C34878D82A}">
                    <a16:rowId xmlns:a16="http://schemas.microsoft.com/office/drawing/2014/main" val="3848731280"/>
                  </a:ext>
                </a:extLst>
              </a:tr>
            </a:tbl>
          </a:graphicData>
        </a:graphic>
      </p:graphicFrame>
      <p:sp>
        <p:nvSpPr>
          <p:cNvPr id="5" name="TextBox 4">
            <a:extLst>
              <a:ext uri="{FF2B5EF4-FFF2-40B4-BE49-F238E27FC236}">
                <a16:creationId xmlns:a16="http://schemas.microsoft.com/office/drawing/2014/main" id="{B2F2344D-B9C5-9A96-87BF-F7AF511125BC}"/>
              </a:ext>
            </a:extLst>
          </p:cNvPr>
          <p:cNvSpPr txBox="1"/>
          <p:nvPr/>
        </p:nvSpPr>
        <p:spPr>
          <a:xfrm>
            <a:off x="635000" y="5702299"/>
            <a:ext cx="10858500" cy="533400"/>
          </a:xfrm>
          <a:prstGeom prst="rect">
            <a:avLst/>
          </a:prstGeom>
          <a:noFill/>
        </p:spPr>
        <p:txBody>
          <a:bodyPr vert="horz" wrap="square" lIns="0" tIns="0" rIns="0" bIns="0" rtlCol="0">
            <a:noAutofit/>
          </a:bodyPr>
          <a:lstStyle/>
          <a:p>
            <a:pPr>
              <a:spcAft>
                <a:spcPts val="800"/>
              </a:spcAft>
            </a:pPr>
            <a:r>
              <a:rPr lang="en-US" sz="1600">
                <a:solidFill>
                  <a:srgbClr val="AF623E"/>
                </a:solidFill>
                <a:latin typeface="Arial" panose="020B0604020202020204" pitchFamily="34" charset="0"/>
              </a:rPr>
              <a:t>No claim of a new backbone or an unprecedented combination. Novelty remains limited.</a:t>
            </a:r>
            <a:endParaRPr lang="en-IN" sz="1600">
              <a:solidFill>
                <a:srgbClr val="AF623E"/>
              </a:solidFill>
              <a:latin typeface="Arial" panose="020B0604020202020204" pitchFamily="34" charset="0"/>
            </a:endParaRPr>
          </a:p>
        </p:txBody>
      </p:sp>
      <p:sp>
        <p:nvSpPr>
          <p:cNvPr id="6" name="TextBox 5">
            <a:extLst>
              <a:ext uri="{FF2B5EF4-FFF2-40B4-BE49-F238E27FC236}">
                <a16:creationId xmlns:a16="http://schemas.microsoft.com/office/drawing/2014/main" id="{DB39AE46-4794-0163-0567-8F249E0D6115}"/>
              </a:ext>
            </a:extLst>
          </p:cNvPr>
          <p:cNvSpPr txBox="1"/>
          <p:nvPr/>
        </p:nvSpPr>
        <p:spPr>
          <a:xfrm>
            <a:off x="635000" y="6489700"/>
            <a:ext cx="9525000" cy="190500"/>
          </a:xfrm>
          <a:prstGeom prst="rect">
            <a:avLst/>
          </a:prstGeom>
          <a:noFill/>
        </p:spPr>
        <p:txBody>
          <a:bodyPr vert="horz" wrap="square" lIns="0" tIns="0" rIns="0" bIns="0" rtlCol="0">
            <a:noAutofit/>
          </a:bodyPr>
          <a:lstStyle/>
          <a:p>
            <a:pPr>
              <a:spcAft>
                <a:spcPts val="800"/>
              </a:spcAft>
            </a:pPr>
            <a:r>
              <a:rPr lang="en-IN" sz="800">
                <a:solidFill>
                  <a:srgbClr val="72806B"/>
                </a:solidFill>
                <a:latin typeface="Arial" panose="020B0604020202020204" pitchFamily="34" charset="0"/>
              </a:rPr>
              <a:t>CRICKET SHOT RECOGNITION / EE604</a:t>
            </a:r>
          </a:p>
        </p:txBody>
      </p:sp>
      <p:sp>
        <p:nvSpPr>
          <p:cNvPr id="7" name="TextBox 6">
            <a:extLst>
              <a:ext uri="{FF2B5EF4-FFF2-40B4-BE49-F238E27FC236}">
                <a16:creationId xmlns:a16="http://schemas.microsoft.com/office/drawing/2014/main" id="{BF45746A-5845-3F75-59A6-3BDDD5A40106}"/>
              </a:ext>
            </a:extLst>
          </p:cNvPr>
          <p:cNvSpPr txBox="1"/>
          <p:nvPr/>
        </p:nvSpPr>
        <p:spPr>
          <a:xfrm>
            <a:off x="11214100" y="6451600"/>
            <a:ext cx="317500" cy="228600"/>
          </a:xfrm>
          <a:prstGeom prst="rect">
            <a:avLst/>
          </a:prstGeom>
          <a:noFill/>
        </p:spPr>
        <p:txBody>
          <a:bodyPr vert="horz" wrap="square" lIns="0" tIns="0" rIns="0" bIns="0" rtlCol="0">
            <a:noAutofit/>
          </a:bodyPr>
          <a:lstStyle/>
          <a:p>
            <a:pPr>
              <a:spcAft>
                <a:spcPts val="800"/>
              </a:spcAft>
            </a:pPr>
            <a:r>
              <a:rPr lang="en-IN" sz="1000">
                <a:solidFill>
                  <a:srgbClr val="72806B"/>
                </a:solidFill>
                <a:latin typeface="Arial" panose="020B0604020202020204" pitchFamily="34" charset="0"/>
              </a:rPr>
              <a:t>3</a:t>
            </a:r>
          </a:p>
        </p:txBody>
      </p:sp>
    </p:spTree>
    <p:extLst>
      <p:ext uri="{BB962C8B-B14F-4D97-AF65-F5344CB8AC3E}">
        <p14:creationId xmlns:p14="http://schemas.microsoft.com/office/powerpoint/2010/main" val="32903823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8F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98EC03-45A6-D50F-50BE-B63A6E9C3D06}"/>
              </a:ext>
            </a:extLst>
          </p:cNvPr>
          <p:cNvSpPr txBox="1"/>
          <p:nvPr/>
        </p:nvSpPr>
        <p:spPr>
          <a:xfrm>
            <a:off x="609600" y="406399"/>
            <a:ext cx="10985500" cy="609600"/>
          </a:xfrm>
          <a:prstGeom prst="rect">
            <a:avLst/>
          </a:prstGeom>
          <a:noFill/>
        </p:spPr>
        <p:txBody>
          <a:bodyPr vert="horz" wrap="square" lIns="0" tIns="0" rIns="0" bIns="0" rtlCol="0">
            <a:noAutofit/>
          </a:bodyPr>
          <a:lstStyle/>
          <a:p>
            <a:pPr>
              <a:spcAft>
                <a:spcPts val="800"/>
              </a:spcAft>
            </a:pPr>
            <a:r>
              <a:rPr lang="en-US" sz="3200" b="1">
                <a:solidFill>
                  <a:srgbClr val="20382A"/>
                </a:solidFill>
                <a:latin typeface="Arial" panose="020B0604020202020204" pitchFamily="34" charset="0"/>
              </a:rPr>
              <a:t>Images and fixed visual-group split</a:t>
            </a:r>
            <a:endParaRPr lang="en-IN" sz="3200" b="1">
              <a:solidFill>
                <a:srgbClr val="20382A"/>
              </a:solidFill>
              <a:latin typeface="Arial" panose="020B0604020202020204" pitchFamily="34" charset="0"/>
            </a:endParaRPr>
          </a:p>
        </p:txBody>
      </p:sp>
      <p:sp>
        <p:nvSpPr>
          <p:cNvPr id="3" name="TextBox 2">
            <a:extLst>
              <a:ext uri="{FF2B5EF4-FFF2-40B4-BE49-F238E27FC236}">
                <a16:creationId xmlns:a16="http://schemas.microsoft.com/office/drawing/2014/main" id="{0B913D2A-0814-DB69-E0CF-46038A942D8A}"/>
              </a:ext>
            </a:extLst>
          </p:cNvPr>
          <p:cNvSpPr txBox="1"/>
          <p:nvPr/>
        </p:nvSpPr>
        <p:spPr>
          <a:xfrm>
            <a:off x="622300" y="1142999"/>
            <a:ext cx="10858500" cy="558800"/>
          </a:xfrm>
          <a:prstGeom prst="rect">
            <a:avLst/>
          </a:prstGeom>
          <a:noFill/>
        </p:spPr>
        <p:txBody>
          <a:bodyPr vert="horz" wrap="square" lIns="0" tIns="0" rIns="0" bIns="0" rtlCol="0">
            <a:noAutofit/>
          </a:bodyPr>
          <a:lstStyle/>
          <a:p>
            <a:pPr>
              <a:spcAft>
                <a:spcPts val="800"/>
              </a:spcAft>
            </a:pPr>
            <a:r>
              <a:rPr lang="en-US" sz="1500">
                <a:solidFill>
                  <a:srgbClr val="72806B"/>
                </a:solidFill>
                <a:latin typeface="Arial" panose="020B0604020202020204" pitchFamily="34" charset="0"/>
              </a:rPr>
              <a:t>4,724 original files; 4,723 exact representatives in 363 visual groups</a:t>
            </a:r>
            <a:endParaRPr lang="en-IN" sz="1500">
              <a:solidFill>
                <a:srgbClr val="72806B"/>
              </a:solidFill>
              <a:latin typeface="Arial" panose="020B0604020202020204" pitchFamily="34" charset="0"/>
            </a:endParaRPr>
          </a:p>
        </p:txBody>
      </p:sp>
      <p:sp>
        <p:nvSpPr>
          <p:cNvPr id="4" name="TextBox 3">
            <a:extLst>
              <a:ext uri="{FF2B5EF4-FFF2-40B4-BE49-F238E27FC236}">
                <a16:creationId xmlns:a16="http://schemas.microsoft.com/office/drawing/2014/main" id="{00F53A3B-BA8C-7C93-CC5D-807290062E2A}"/>
              </a:ext>
            </a:extLst>
          </p:cNvPr>
          <p:cNvSpPr txBox="1"/>
          <p:nvPr/>
        </p:nvSpPr>
        <p:spPr>
          <a:xfrm>
            <a:off x="635000" y="5333999"/>
            <a:ext cx="10795000" cy="736600"/>
          </a:xfrm>
          <a:prstGeom prst="rect">
            <a:avLst/>
          </a:prstGeom>
          <a:noFill/>
        </p:spPr>
        <p:txBody>
          <a:bodyPr vert="horz" wrap="square" lIns="0" tIns="0" rIns="0" bIns="0" rtlCol="0">
            <a:noAutofit/>
          </a:bodyPr>
          <a:lstStyle/>
          <a:p>
            <a:pPr>
              <a:spcAft>
                <a:spcPts val="800"/>
              </a:spcAft>
            </a:pPr>
            <a:r>
              <a:rPr lang="en-US" sz="1700">
                <a:solidFill>
                  <a:srgbClr val="20382A"/>
                </a:solidFill>
                <a:latin typeface="Arial" panose="020B0604020202020204" pitchFamily="34" charset="0"/>
              </a:rPr>
              <a:t>221 training groups / 72 validation groups / 70 test groups
No shared group or decoded hash. Match and player identities remain unknown.</a:t>
            </a:r>
            <a:endParaRPr lang="en-IN" sz="1700">
              <a:solidFill>
                <a:srgbClr val="20382A"/>
              </a:solidFill>
              <a:latin typeface="Arial" panose="020B0604020202020204" pitchFamily="34" charset="0"/>
            </a:endParaRPr>
          </a:p>
        </p:txBody>
      </p:sp>
      <p:graphicFrame>
        <p:nvGraphicFramePr>
          <p:cNvPr id="5" name="Table 4">
            <a:extLst>
              <a:ext uri="{FF2B5EF4-FFF2-40B4-BE49-F238E27FC236}">
                <a16:creationId xmlns:a16="http://schemas.microsoft.com/office/drawing/2014/main" id="{BA2C6DE6-79F8-B0EA-32D8-E2A5915D7B33}"/>
              </a:ext>
            </a:extLst>
          </p:cNvPr>
          <p:cNvGraphicFramePr>
            <a:graphicFrameLocks noGrp="1"/>
          </p:cNvGraphicFramePr>
          <p:nvPr>
            <p:extLst>
              <p:ext uri="{D42A27DB-BD31-4B8C-83A1-F6EECF244321}">
                <p14:modId xmlns:p14="http://schemas.microsoft.com/office/powerpoint/2010/main" val="3979582824"/>
              </p:ext>
            </p:extLst>
          </p:nvPr>
        </p:nvGraphicFramePr>
        <p:xfrm>
          <a:off x="635000" y="1905000"/>
          <a:ext cx="10922000" cy="31115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3714643079"/>
                    </a:ext>
                  </a:extLst>
                </a:gridCol>
                <a:gridCol w="2286000">
                  <a:extLst>
                    <a:ext uri="{9D8B030D-6E8A-4147-A177-3AD203B41FA5}">
                      <a16:colId xmlns:a16="http://schemas.microsoft.com/office/drawing/2014/main" val="3477182639"/>
                    </a:ext>
                  </a:extLst>
                </a:gridCol>
                <a:gridCol w="2286000">
                  <a:extLst>
                    <a:ext uri="{9D8B030D-6E8A-4147-A177-3AD203B41FA5}">
                      <a16:colId xmlns:a16="http://schemas.microsoft.com/office/drawing/2014/main" val="2123774310"/>
                    </a:ext>
                  </a:extLst>
                </a:gridCol>
                <a:gridCol w="2286000">
                  <a:extLst>
                    <a:ext uri="{9D8B030D-6E8A-4147-A177-3AD203B41FA5}">
                      <a16:colId xmlns:a16="http://schemas.microsoft.com/office/drawing/2014/main" val="2306863965"/>
                    </a:ext>
                  </a:extLst>
                </a:gridCol>
              </a:tblGrid>
              <a:tr h="622300">
                <a:tc>
                  <a:txBody>
                    <a:bodyPr/>
                    <a:lstStyle/>
                    <a:p>
                      <a:r>
                        <a:rPr lang="en-IN" sz="1700" b="1">
                          <a:solidFill>
                            <a:srgbClr val="FFFFFF"/>
                          </a:solidFill>
                          <a:latin typeface="Arial" panose="020B0604020202020204" pitchFamily="34" charset="0"/>
                        </a:rPr>
                        <a:t>Class</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20382A"/>
                    </a:solidFill>
                  </a:tcPr>
                </a:tc>
                <a:tc>
                  <a:txBody>
                    <a:bodyPr/>
                    <a:lstStyle/>
                    <a:p>
                      <a:r>
                        <a:rPr lang="en-IN" sz="1700" b="1">
                          <a:solidFill>
                            <a:srgbClr val="FFFFFF"/>
                          </a:solidFill>
                          <a:latin typeface="Arial" panose="020B0604020202020204" pitchFamily="34" charset="0"/>
                        </a:rPr>
                        <a:t>Train</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20382A"/>
                    </a:solidFill>
                  </a:tcPr>
                </a:tc>
                <a:tc>
                  <a:txBody>
                    <a:bodyPr/>
                    <a:lstStyle/>
                    <a:p>
                      <a:r>
                        <a:rPr lang="en-IN" sz="1700" b="1">
                          <a:solidFill>
                            <a:srgbClr val="FFFFFF"/>
                          </a:solidFill>
                          <a:latin typeface="Arial" panose="020B0604020202020204" pitchFamily="34" charset="0"/>
                        </a:rPr>
                        <a:t>Validation</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20382A"/>
                    </a:solidFill>
                  </a:tcPr>
                </a:tc>
                <a:tc>
                  <a:txBody>
                    <a:bodyPr/>
                    <a:lstStyle/>
                    <a:p>
                      <a:r>
                        <a:rPr lang="en-IN" sz="1700" b="1">
                          <a:solidFill>
                            <a:srgbClr val="FFFFFF"/>
                          </a:solidFill>
                          <a:latin typeface="Arial" panose="020B0604020202020204" pitchFamily="34" charset="0"/>
                        </a:rPr>
                        <a:t>Test</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20382A"/>
                    </a:solidFill>
                  </a:tcPr>
                </a:tc>
                <a:extLst>
                  <a:ext uri="{0D108BD9-81ED-4DB2-BD59-A6C34878D82A}">
                    <a16:rowId xmlns:a16="http://schemas.microsoft.com/office/drawing/2014/main" val="3218031432"/>
                  </a:ext>
                </a:extLst>
              </a:tr>
              <a:tr h="622300">
                <a:tc>
                  <a:txBody>
                    <a:bodyPr/>
                    <a:lstStyle/>
                    <a:p>
                      <a:r>
                        <a:rPr lang="en-IN" sz="1700" b="0">
                          <a:solidFill>
                            <a:srgbClr val="20382A"/>
                          </a:solidFill>
                          <a:latin typeface="Arial" panose="020B0604020202020204" pitchFamily="34" charset="0"/>
                        </a:rPr>
                        <a:t>Drive</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700" b="0">
                          <a:solidFill>
                            <a:srgbClr val="20382A"/>
                          </a:solidFill>
                          <a:latin typeface="Arial" panose="020B0604020202020204" pitchFamily="34" charset="0"/>
                        </a:rPr>
                        <a:t>734</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700" b="0">
                          <a:solidFill>
                            <a:srgbClr val="20382A"/>
                          </a:solidFill>
                          <a:latin typeface="Arial" panose="020B0604020202020204" pitchFamily="34" charset="0"/>
                        </a:rPr>
                        <a:t>244</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700" b="0">
                          <a:solidFill>
                            <a:srgbClr val="20382A"/>
                          </a:solidFill>
                          <a:latin typeface="Arial" panose="020B0604020202020204" pitchFamily="34" charset="0"/>
                        </a:rPr>
                        <a:t>245</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extLst>
                  <a:ext uri="{0D108BD9-81ED-4DB2-BD59-A6C34878D82A}">
                    <a16:rowId xmlns:a16="http://schemas.microsoft.com/office/drawing/2014/main" val="1070614889"/>
                  </a:ext>
                </a:extLst>
              </a:tr>
              <a:tr h="622300">
                <a:tc>
                  <a:txBody>
                    <a:bodyPr/>
                    <a:lstStyle/>
                    <a:p>
                      <a:r>
                        <a:rPr lang="en-IN" sz="1700" b="0">
                          <a:solidFill>
                            <a:srgbClr val="20382A"/>
                          </a:solidFill>
                          <a:latin typeface="Arial" panose="020B0604020202020204" pitchFamily="34" charset="0"/>
                        </a:rPr>
                        <a:t>Glance / flick</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IN" sz="1700" b="0">
                          <a:solidFill>
                            <a:srgbClr val="20382A"/>
                          </a:solidFill>
                          <a:latin typeface="Arial" panose="020B0604020202020204" pitchFamily="34" charset="0"/>
                        </a:rPr>
                        <a:t>672</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IN" sz="1700" b="0">
                          <a:solidFill>
                            <a:srgbClr val="20382A"/>
                          </a:solidFill>
                          <a:latin typeface="Arial" panose="020B0604020202020204" pitchFamily="34" charset="0"/>
                        </a:rPr>
                        <a:t>224</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IN" sz="1700" b="0">
                          <a:solidFill>
                            <a:srgbClr val="20382A"/>
                          </a:solidFill>
                          <a:latin typeface="Arial" panose="020B0604020202020204" pitchFamily="34" charset="0"/>
                        </a:rPr>
                        <a:t>224</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extLst>
                  <a:ext uri="{0D108BD9-81ED-4DB2-BD59-A6C34878D82A}">
                    <a16:rowId xmlns:a16="http://schemas.microsoft.com/office/drawing/2014/main" val="3652924697"/>
                  </a:ext>
                </a:extLst>
              </a:tr>
              <a:tr h="622300">
                <a:tc>
                  <a:txBody>
                    <a:bodyPr/>
                    <a:lstStyle/>
                    <a:p>
                      <a:r>
                        <a:rPr lang="en-IN" sz="1700" b="0">
                          <a:solidFill>
                            <a:srgbClr val="20382A"/>
                          </a:solidFill>
                          <a:latin typeface="Arial" panose="020B0604020202020204" pitchFamily="34" charset="0"/>
                        </a:rPr>
                        <a:t>Pull</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700" b="0">
                          <a:solidFill>
                            <a:srgbClr val="20382A"/>
                          </a:solidFill>
                          <a:latin typeface="Arial" panose="020B0604020202020204" pitchFamily="34" charset="0"/>
                        </a:rPr>
                        <a:t>756</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700" b="0">
                          <a:solidFill>
                            <a:srgbClr val="20382A"/>
                          </a:solidFill>
                          <a:latin typeface="Arial" panose="020B0604020202020204" pitchFamily="34" charset="0"/>
                        </a:rPr>
                        <a:t>252</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700" b="0">
                          <a:solidFill>
                            <a:srgbClr val="20382A"/>
                          </a:solidFill>
                          <a:latin typeface="Arial" panose="020B0604020202020204" pitchFamily="34" charset="0"/>
                        </a:rPr>
                        <a:t>252</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extLst>
                  <a:ext uri="{0D108BD9-81ED-4DB2-BD59-A6C34878D82A}">
                    <a16:rowId xmlns:a16="http://schemas.microsoft.com/office/drawing/2014/main" val="4052454683"/>
                  </a:ext>
                </a:extLst>
              </a:tr>
              <a:tr h="622300">
                <a:tc>
                  <a:txBody>
                    <a:bodyPr/>
                    <a:lstStyle/>
                    <a:p>
                      <a:r>
                        <a:rPr lang="en-IN" sz="1700" b="0">
                          <a:solidFill>
                            <a:srgbClr val="20382A"/>
                          </a:solidFill>
                          <a:latin typeface="Arial" panose="020B0604020202020204" pitchFamily="34" charset="0"/>
                        </a:rPr>
                        <a:t>Sweep</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IN" sz="1700" b="0">
                          <a:solidFill>
                            <a:srgbClr val="20382A"/>
                          </a:solidFill>
                          <a:latin typeface="Arial" panose="020B0604020202020204" pitchFamily="34" charset="0"/>
                        </a:rPr>
                        <a:t>672</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IN" sz="1700" b="0">
                          <a:solidFill>
                            <a:srgbClr val="20382A"/>
                          </a:solidFill>
                          <a:latin typeface="Arial" panose="020B0604020202020204" pitchFamily="34" charset="0"/>
                        </a:rPr>
                        <a:t>224</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IN" sz="1700" b="0">
                          <a:solidFill>
                            <a:srgbClr val="20382A"/>
                          </a:solidFill>
                          <a:latin typeface="Arial" panose="020B0604020202020204" pitchFamily="34" charset="0"/>
                        </a:rPr>
                        <a:t>224</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extLst>
                  <a:ext uri="{0D108BD9-81ED-4DB2-BD59-A6C34878D82A}">
                    <a16:rowId xmlns:a16="http://schemas.microsoft.com/office/drawing/2014/main" val="1998977380"/>
                  </a:ext>
                </a:extLst>
              </a:tr>
            </a:tbl>
          </a:graphicData>
        </a:graphic>
      </p:graphicFrame>
      <p:sp>
        <p:nvSpPr>
          <p:cNvPr id="6" name="TextBox 5">
            <a:extLst>
              <a:ext uri="{FF2B5EF4-FFF2-40B4-BE49-F238E27FC236}">
                <a16:creationId xmlns:a16="http://schemas.microsoft.com/office/drawing/2014/main" id="{6F9B2771-5A78-DB5A-520C-493D9628745A}"/>
              </a:ext>
            </a:extLst>
          </p:cNvPr>
          <p:cNvSpPr txBox="1"/>
          <p:nvPr/>
        </p:nvSpPr>
        <p:spPr>
          <a:xfrm>
            <a:off x="635000" y="6489700"/>
            <a:ext cx="9525000" cy="190500"/>
          </a:xfrm>
          <a:prstGeom prst="rect">
            <a:avLst/>
          </a:prstGeom>
          <a:noFill/>
        </p:spPr>
        <p:txBody>
          <a:bodyPr vert="horz" wrap="square" lIns="0" tIns="0" rIns="0" bIns="0" rtlCol="0">
            <a:noAutofit/>
          </a:bodyPr>
          <a:lstStyle/>
          <a:p>
            <a:pPr>
              <a:spcAft>
                <a:spcPts val="800"/>
              </a:spcAft>
            </a:pPr>
            <a:r>
              <a:rPr lang="en-IN" sz="800">
                <a:solidFill>
                  <a:srgbClr val="72806B"/>
                </a:solidFill>
                <a:latin typeface="Arial" panose="020B0604020202020204" pitchFamily="34" charset="0"/>
              </a:rPr>
              <a:t>CRICKET SHOT RECOGNITION / EE604</a:t>
            </a:r>
          </a:p>
        </p:txBody>
      </p:sp>
      <p:sp>
        <p:nvSpPr>
          <p:cNvPr id="7" name="TextBox 6">
            <a:extLst>
              <a:ext uri="{FF2B5EF4-FFF2-40B4-BE49-F238E27FC236}">
                <a16:creationId xmlns:a16="http://schemas.microsoft.com/office/drawing/2014/main" id="{21108568-0165-D60E-CC2F-C8E3F713B47A}"/>
              </a:ext>
            </a:extLst>
          </p:cNvPr>
          <p:cNvSpPr txBox="1"/>
          <p:nvPr/>
        </p:nvSpPr>
        <p:spPr>
          <a:xfrm>
            <a:off x="11214100" y="6451600"/>
            <a:ext cx="317500" cy="228600"/>
          </a:xfrm>
          <a:prstGeom prst="rect">
            <a:avLst/>
          </a:prstGeom>
          <a:noFill/>
        </p:spPr>
        <p:txBody>
          <a:bodyPr vert="horz" wrap="square" lIns="0" tIns="0" rIns="0" bIns="0" rtlCol="0">
            <a:noAutofit/>
          </a:bodyPr>
          <a:lstStyle/>
          <a:p>
            <a:pPr>
              <a:spcAft>
                <a:spcPts val="800"/>
              </a:spcAft>
            </a:pPr>
            <a:r>
              <a:rPr lang="en-IN" sz="1000">
                <a:solidFill>
                  <a:srgbClr val="72806B"/>
                </a:solidFill>
                <a:latin typeface="Arial" panose="020B0604020202020204" pitchFamily="34" charset="0"/>
              </a:rPr>
              <a:t>4</a:t>
            </a:r>
          </a:p>
        </p:txBody>
      </p:sp>
    </p:spTree>
    <p:extLst>
      <p:ext uri="{BB962C8B-B14F-4D97-AF65-F5344CB8AC3E}">
        <p14:creationId xmlns:p14="http://schemas.microsoft.com/office/powerpoint/2010/main" val="38677639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8F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1683F28-FED4-AAFF-2512-03C304A6C9B3}"/>
              </a:ext>
            </a:extLst>
          </p:cNvPr>
          <p:cNvSpPr txBox="1"/>
          <p:nvPr/>
        </p:nvSpPr>
        <p:spPr>
          <a:xfrm>
            <a:off x="609600" y="406399"/>
            <a:ext cx="10985500" cy="609600"/>
          </a:xfrm>
          <a:prstGeom prst="rect">
            <a:avLst/>
          </a:prstGeom>
          <a:noFill/>
        </p:spPr>
        <p:txBody>
          <a:bodyPr vert="horz" wrap="square" lIns="0" tIns="0" rIns="0" bIns="0" rtlCol="0">
            <a:noAutofit/>
          </a:bodyPr>
          <a:lstStyle/>
          <a:p>
            <a:pPr>
              <a:spcAft>
                <a:spcPts val="800"/>
              </a:spcAft>
            </a:pPr>
            <a:r>
              <a:rPr lang="en-US" sz="3200" b="1">
                <a:solidFill>
                  <a:srgbClr val="20382A"/>
                </a:solidFill>
                <a:latin typeface="Arial" panose="020B0604020202020204" pitchFamily="34" charset="0"/>
              </a:rPr>
              <a:t>Evaluation choices and their limits</a:t>
            </a:r>
            <a:endParaRPr lang="en-IN" sz="3200" b="1">
              <a:solidFill>
                <a:srgbClr val="20382A"/>
              </a:solidFill>
              <a:latin typeface="Arial" panose="020B0604020202020204" pitchFamily="34" charset="0"/>
            </a:endParaRPr>
          </a:p>
        </p:txBody>
      </p:sp>
      <p:sp>
        <p:nvSpPr>
          <p:cNvPr id="3" name="TextBox 2">
            <a:extLst>
              <a:ext uri="{FF2B5EF4-FFF2-40B4-BE49-F238E27FC236}">
                <a16:creationId xmlns:a16="http://schemas.microsoft.com/office/drawing/2014/main" id="{CA8CAF2D-EEDD-6390-B970-3FFA43C72DB3}"/>
              </a:ext>
            </a:extLst>
          </p:cNvPr>
          <p:cNvSpPr txBox="1"/>
          <p:nvPr/>
        </p:nvSpPr>
        <p:spPr>
          <a:xfrm>
            <a:off x="622300" y="1142999"/>
            <a:ext cx="10858500" cy="558800"/>
          </a:xfrm>
          <a:prstGeom prst="rect">
            <a:avLst/>
          </a:prstGeom>
          <a:noFill/>
        </p:spPr>
        <p:txBody>
          <a:bodyPr vert="horz" wrap="square" lIns="0" tIns="0" rIns="0" bIns="0" rtlCol="0">
            <a:noAutofit/>
          </a:bodyPr>
          <a:lstStyle/>
          <a:p>
            <a:pPr>
              <a:spcAft>
                <a:spcPts val="800"/>
              </a:spcAft>
            </a:pPr>
            <a:r>
              <a:rPr lang="en-US" sz="1500">
                <a:solidFill>
                  <a:srgbClr val="72806B"/>
                </a:solidFill>
                <a:latin typeface="Arial" panose="020B0604020202020204" pitchFamily="34" charset="0"/>
              </a:rPr>
              <a:t>All five methods share images, labels, visual groups and split identities</a:t>
            </a:r>
            <a:endParaRPr lang="en-IN" sz="1500">
              <a:solidFill>
                <a:srgbClr val="72806B"/>
              </a:solidFill>
              <a:latin typeface="Arial" panose="020B0604020202020204" pitchFamily="34" charset="0"/>
            </a:endParaRPr>
          </a:p>
        </p:txBody>
      </p:sp>
      <p:graphicFrame>
        <p:nvGraphicFramePr>
          <p:cNvPr id="4" name="Table 3">
            <a:extLst>
              <a:ext uri="{FF2B5EF4-FFF2-40B4-BE49-F238E27FC236}">
                <a16:creationId xmlns:a16="http://schemas.microsoft.com/office/drawing/2014/main" id="{7D640B23-6B8C-1603-7889-0D2448D8FF88}"/>
              </a:ext>
            </a:extLst>
          </p:cNvPr>
          <p:cNvGraphicFramePr>
            <a:graphicFrameLocks noGrp="1"/>
          </p:cNvGraphicFramePr>
          <p:nvPr>
            <p:extLst>
              <p:ext uri="{D42A27DB-BD31-4B8C-83A1-F6EECF244321}">
                <p14:modId xmlns:p14="http://schemas.microsoft.com/office/powerpoint/2010/main" val="419998597"/>
              </p:ext>
            </p:extLst>
          </p:nvPr>
        </p:nvGraphicFramePr>
        <p:xfrm>
          <a:off x="635000" y="1905000"/>
          <a:ext cx="10922000" cy="3365500"/>
        </p:xfrm>
        <a:graphic>
          <a:graphicData uri="http://schemas.openxmlformats.org/drawingml/2006/table">
            <a:tbl>
              <a:tblPr firstRow="1" bandRow="1">
                <a:tableStyleId>{5C22544A-7EE6-4342-B048-85BDC9FD1C3A}</a:tableStyleId>
              </a:tblPr>
              <a:tblGrid>
                <a:gridCol w="3810000">
                  <a:extLst>
                    <a:ext uri="{9D8B030D-6E8A-4147-A177-3AD203B41FA5}">
                      <a16:colId xmlns:a16="http://schemas.microsoft.com/office/drawing/2014/main" val="16651699"/>
                    </a:ext>
                  </a:extLst>
                </a:gridCol>
                <a:gridCol w="3302000">
                  <a:extLst>
                    <a:ext uri="{9D8B030D-6E8A-4147-A177-3AD203B41FA5}">
                      <a16:colId xmlns:a16="http://schemas.microsoft.com/office/drawing/2014/main" val="1510390071"/>
                    </a:ext>
                  </a:extLst>
                </a:gridCol>
                <a:gridCol w="3810000">
                  <a:extLst>
                    <a:ext uri="{9D8B030D-6E8A-4147-A177-3AD203B41FA5}">
                      <a16:colId xmlns:a16="http://schemas.microsoft.com/office/drawing/2014/main" val="900923165"/>
                    </a:ext>
                  </a:extLst>
                </a:gridCol>
              </a:tblGrid>
              <a:tr h="673100">
                <a:tc>
                  <a:txBody>
                    <a:bodyPr/>
                    <a:lstStyle/>
                    <a:p>
                      <a:r>
                        <a:rPr lang="en-IN" sz="1600" b="1">
                          <a:solidFill>
                            <a:srgbClr val="FFFFFF"/>
                          </a:solidFill>
                          <a:latin typeface="Arial" panose="020B0604020202020204" pitchFamily="34" charset="0"/>
                        </a:rPr>
                        <a:t>Choice</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20382A"/>
                    </a:solidFill>
                  </a:tcPr>
                </a:tc>
                <a:tc>
                  <a:txBody>
                    <a:bodyPr/>
                    <a:lstStyle/>
                    <a:p>
                      <a:r>
                        <a:rPr lang="en-IN" sz="1600" b="1">
                          <a:solidFill>
                            <a:srgbClr val="FFFFFF"/>
                          </a:solidFill>
                          <a:latin typeface="Arial" panose="020B0604020202020204" pitchFamily="34" charset="0"/>
                        </a:rPr>
                        <a:t>Data used</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20382A"/>
                    </a:solidFill>
                  </a:tcPr>
                </a:tc>
                <a:tc>
                  <a:txBody>
                    <a:bodyPr/>
                    <a:lstStyle/>
                    <a:p>
                      <a:r>
                        <a:rPr lang="en-IN" sz="1600" b="1">
                          <a:solidFill>
                            <a:srgbClr val="FFFFFF"/>
                          </a:solidFill>
                          <a:latin typeface="Arial" panose="020B0604020202020204" pitchFamily="34" charset="0"/>
                        </a:rPr>
                        <a:t>What remains fixed</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20382A"/>
                    </a:solidFill>
                  </a:tcPr>
                </a:tc>
                <a:extLst>
                  <a:ext uri="{0D108BD9-81ED-4DB2-BD59-A6C34878D82A}">
                    <a16:rowId xmlns:a16="http://schemas.microsoft.com/office/drawing/2014/main" val="3643029211"/>
                  </a:ext>
                </a:extLst>
              </a:tr>
              <a:tr h="673100">
                <a:tc>
                  <a:txBody>
                    <a:bodyPr/>
                    <a:lstStyle/>
                    <a:p>
                      <a:r>
                        <a:rPr lang="en-IN" sz="1600" b="0">
                          <a:solidFill>
                            <a:srgbClr val="20382A"/>
                          </a:solidFill>
                          <a:latin typeface="Arial" panose="020B0604020202020204" pitchFamily="34" charset="0"/>
                        </a:rPr>
                        <a:t>Fit classifier coefficients</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600" b="0">
                          <a:solidFill>
                            <a:srgbClr val="20382A"/>
                          </a:solidFill>
                          <a:latin typeface="Arial" panose="020B0604020202020204" pitchFamily="34" charset="0"/>
                        </a:rPr>
                        <a:t>Training only</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600" b="0">
                          <a:solidFill>
                            <a:srgbClr val="20382A"/>
                          </a:solidFill>
                          <a:latin typeface="Arial" panose="020B0604020202020204" pitchFamily="34" charset="0"/>
                        </a:rPr>
                        <a:t>Frozen CNN; deterministic HOG</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extLst>
                  <a:ext uri="{0D108BD9-81ED-4DB2-BD59-A6C34878D82A}">
                    <a16:rowId xmlns:a16="http://schemas.microsoft.com/office/drawing/2014/main" val="2656935237"/>
                  </a:ext>
                </a:extLst>
              </a:tr>
              <a:tr h="673100">
                <a:tc>
                  <a:txBody>
                    <a:bodyPr/>
                    <a:lstStyle/>
                    <a:p>
                      <a:r>
                        <a:rPr lang="en-US" sz="1600" b="0">
                          <a:solidFill>
                            <a:srgbClr val="20382A"/>
                          </a:solidFill>
                          <a:latin typeface="Arial" panose="020B0604020202020204" pitchFamily="34" charset="0"/>
                        </a:rPr>
                        <a:t>Choose C: 0.1, 1, 10, 100</a:t>
                      </a:r>
                      <a:endParaRPr lang="en-IN" sz="1600" b="0">
                        <a:solidFill>
                          <a:srgbClr val="20382A"/>
                        </a:solidFill>
                        <a:latin typeface="Arial" panose="020B0604020202020204" pitchFamily="34" charset="0"/>
                      </a:endParaRP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IN" sz="1600" b="0">
                          <a:solidFill>
                            <a:srgbClr val="20382A"/>
                          </a:solidFill>
                          <a:latin typeface="Arial" panose="020B0604020202020204" pitchFamily="34" charset="0"/>
                        </a:rPr>
                        <a:t>Validation macro F1</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IN" sz="1600" b="0">
                          <a:solidFill>
                            <a:srgbClr val="20382A"/>
                          </a:solidFill>
                          <a:latin typeface="Arial" panose="020B0604020202020204" pitchFamily="34" charset="0"/>
                        </a:rPr>
                        <a:t>Smallest C wins ties</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extLst>
                  <a:ext uri="{0D108BD9-81ED-4DB2-BD59-A6C34878D82A}">
                    <a16:rowId xmlns:a16="http://schemas.microsoft.com/office/drawing/2014/main" val="2571405511"/>
                  </a:ext>
                </a:extLst>
              </a:tr>
              <a:tr h="673100">
                <a:tc>
                  <a:txBody>
                    <a:bodyPr/>
                    <a:lstStyle/>
                    <a:p>
                      <a:r>
                        <a:rPr lang="en-IN" sz="1600" b="0">
                          <a:solidFill>
                            <a:srgbClr val="20382A"/>
                          </a:solidFill>
                          <a:latin typeface="Arial" panose="020B0604020202020204" pitchFamily="34" charset="0"/>
                        </a:rPr>
                        <a:t>Temperature and review</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600" b="0">
                          <a:solidFill>
                            <a:srgbClr val="20382A"/>
                          </a:solidFill>
                          <a:latin typeface="Arial" panose="020B0604020202020204" pitchFamily="34" charset="0"/>
                        </a:rPr>
                        <a:t>Original validation reuse</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600" b="0">
                          <a:solidFill>
                            <a:srgbClr val="20382A"/>
                          </a:solidFill>
                          <a:latin typeface="Arial" panose="020B0604020202020204" pitchFamily="34" charset="0"/>
                        </a:rPr>
                        <a:t>Keep original settings</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extLst>
                  <a:ext uri="{0D108BD9-81ED-4DB2-BD59-A6C34878D82A}">
                    <a16:rowId xmlns:a16="http://schemas.microsoft.com/office/drawing/2014/main" val="1753364743"/>
                  </a:ext>
                </a:extLst>
              </a:tr>
              <a:tr h="673100">
                <a:tc>
                  <a:txBody>
                    <a:bodyPr/>
                    <a:lstStyle/>
                    <a:p>
                      <a:r>
                        <a:rPr lang="en-IN" sz="1600" b="0">
                          <a:solidFill>
                            <a:srgbClr val="20382A"/>
                          </a:solidFill>
                          <a:latin typeface="Arial" panose="020B0604020202020204" pitchFamily="34" charset="0"/>
                        </a:rPr>
                        <a:t>Final comparison</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IN" sz="1600" b="0">
                          <a:solidFill>
                            <a:srgbClr val="20382A"/>
                          </a:solidFill>
                          <a:latin typeface="Arial" panose="020B0604020202020204" pitchFamily="34" charset="0"/>
                        </a:rPr>
                        <a:t>Same 945 test identities</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US" sz="1600" b="0">
                          <a:solidFill>
                            <a:srgbClr val="20382A"/>
                          </a:solidFill>
                          <a:latin typeface="Arial" panose="020B0604020202020204" pitchFamily="34" charset="0"/>
                        </a:rPr>
                        <a:t>No new split or seed search</a:t>
                      </a:r>
                      <a:endParaRPr lang="en-IN" sz="1600" b="0">
                        <a:solidFill>
                          <a:srgbClr val="20382A"/>
                        </a:solidFill>
                        <a:latin typeface="Arial" panose="020B0604020202020204" pitchFamily="34" charset="0"/>
                      </a:endParaRP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extLst>
                  <a:ext uri="{0D108BD9-81ED-4DB2-BD59-A6C34878D82A}">
                    <a16:rowId xmlns:a16="http://schemas.microsoft.com/office/drawing/2014/main" val="3172819636"/>
                  </a:ext>
                </a:extLst>
              </a:tr>
            </a:tbl>
          </a:graphicData>
        </a:graphic>
      </p:graphicFrame>
      <p:sp>
        <p:nvSpPr>
          <p:cNvPr id="5" name="TextBox 4">
            <a:extLst>
              <a:ext uri="{FF2B5EF4-FFF2-40B4-BE49-F238E27FC236}">
                <a16:creationId xmlns:a16="http://schemas.microsoft.com/office/drawing/2014/main" id="{A41F0B5E-C72C-CFBF-4843-67D77EB3EC66}"/>
              </a:ext>
            </a:extLst>
          </p:cNvPr>
          <p:cNvSpPr txBox="1"/>
          <p:nvPr/>
        </p:nvSpPr>
        <p:spPr>
          <a:xfrm>
            <a:off x="635000" y="5702299"/>
            <a:ext cx="10858500" cy="533400"/>
          </a:xfrm>
          <a:prstGeom prst="rect">
            <a:avLst/>
          </a:prstGeom>
          <a:noFill/>
        </p:spPr>
        <p:txBody>
          <a:bodyPr vert="horz" wrap="square" lIns="0" tIns="0" rIns="0" bIns="0" rtlCol="0">
            <a:noAutofit/>
          </a:bodyPr>
          <a:lstStyle/>
          <a:p>
            <a:pPr>
              <a:spcAft>
                <a:spcPts val="800"/>
              </a:spcAft>
            </a:pPr>
            <a:r>
              <a:rPr lang="en-US" sz="1600">
                <a:solidFill>
                  <a:srgbClr val="AF623E"/>
                </a:solidFill>
                <a:latin typeface="Arial" panose="020B0604020202020204" pitchFamily="34" charset="0"/>
              </a:rPr>
              <a:t>Exploratory: grouping changed after preliminary evaluation; HOG was added after old results were known.</a:t>
            </a:r>
            <a:endParaRPr lang="en-IN" sz="1600">
              <a:solidFill>
                <a:srgbClr val="AF623E"/>
              </a:solidFill>
              <a:latin typeface="Arial" panose="020B0604020202020204" pitchFamily="34" charset="0"/>
            </a:endParaRPr>
          </a:p>
        </p:txBody>
      </p:sp>
      <p:sp>
        <p:nvSpPr>
          <p:cNvPr id="6" name="TextBox 5">
            <a:extLst>
              <a:ext uri="{FF2B5EF4-FFF2-40B4-BE49-F238E27FC236}">
                <a16:creationId xmlns:a16="http://schemas.microsoft.com/office/drawing/2014/main" id="{C756A787-3CA1-C54C-F592-87FF4289EB4C}"/>
              </a:ext>
            </a:extLst>
          </p:cNvPr>
          <p:cNvSpPr txBox="1"/>
          <p:nvPr/>
        </p:nvSpPr>
        <p:spPr>
          <a:xfrm>
            <a:off x="635000" y="6489700"/>
            <a:ext cx="9525000" cy="190500"/>
          </a:xfrm>
          <a:prstGeom prst="rect">
            <a:avLst/>
          </a:prstGeom>
          <a:noFill/>
        </p:spPr>
        <p:txBody>
          <a:bodyPr vert="horz" wrap="square" lIns="0" tIns="0" rIns="0" bIns="0" rtlCol="0">
            <a:noAutofit/>
          </a:bodyPr>
          <a:lstStyle/>
          <a:p>
            <a:pPr>
              <a:spcAft>
                <a:spcPts val="800"/>
              </a:spcAft>
            </a:pPr>
            <a:r>
              <a:rPr lang="en-IN" sz="800">
                <a:solidFill>
                  <a:srgbClr val="72806B"/>
                </a:solidFill>
                <a:latin typeface="Arial" panose="020B0604020202020204" pitchFamily="34" charset="0"/>
              </a:rPr>
              <a:t>CRICKET SHOT RECOGNITION / EE604</a:t>
            </a:r>
          </a:p>
        </p:txBody>
      </p:sp>
      <p:sp>
        <p:nvSpPr>
          <p:cNvPr id="7" name="TextBox 6">
            <a:extLst>
              <a:ext uri="{FF2B5EF4-FFF2-40B4-BE49-F238E27FC236}">
                <a16:creationId xmlns:a16="http://schemas.microsoft.com/office/drawing/2014/main" id="{BE14CF39-68B2-3335-C1A7-43757849CF8B}"/>
              </a:ext>
            </a:extLst>
          </p:cNvPr>
          <p:cNvSpPr txBox="1"/>
          <p:nvPr/>
        </p:nvSpPr>
        <p:spPr>
          <a:xfrm>
            <a:off x="11214100" y="6451600"/>
            <a:ext cx="317500" cy="228600"/>
          </a:xfrm>
          <a:prstGeom prst="rect">
            <a:avLst/>
          </a:prstGeom>
          <a:noFill/>
        </p:spPr>
        <p:txBody>
          <a:bodyPr vert="horz" wrap="square" lIns="0" tIns="0" rIns="0" bIns="0" rtlCol="0">
            <a:noAutofit/>
          </a:bodyPr>
          <a:lstStyle/>
          <a:p>
            <a:pPr>
              <a:spcAft>
                <a:spcPts val="800"/>
              </a:spcAft>
            </a:pPr>
            <a:r>
              <a:rPr lang="en-IN" sz="1000">
                <a:solidFill>
                  <a:srgbClr val="72806B"/>
                </a:solidFill>
                <a:latin typeface="Arial" panose="020B0604020202020204" pitchFamily="34" charset="0"/>
              </a:rPr>
              <a:t>5</a:t>
            </a:r>
          </a:p>
        </p:txBody>
      </p:sp>
    </p:spTree>
    <p:extLst>
      <p:ext uri="{BB962C8B-B14F-4D97-AF65-F5344CB8AC3E}">
        <p14:creationId xmlns:p14="http://schemas.microsoft.com/office/powerpoint/2010/main" val="42034523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8F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438954-D374-8E6C-82EA-57C79E09E481}"/>
              </a:ext>
            </a:extLst>
          </p:cNvPr>
          <p:cNvSpPr txBox="1"/>
          <p:nvPr/>
        </p:nvSpPr>
        <p:spPr>
          <a:xfrm>
            <a:off x="609600" y="406399"/>
            <a:ext cx="10985500" cy="609600"/>
          </a:xfrm>
          <a:prstGeom prst="rect">
            <a:avLst/>
          </a:prstGeom>
          <a:noFill/>
        </p:spPr>
        <p:txBody>
          <a:bodyPr vert="horz" wrap="square" lIns="0" tIns="0" rIns="0" bIns="0" rtlCol="0">
            <a:noAutofit/>
          </a:bodyPr>
          <a:lstStyle/>
          <a:p>
            <a:pPr>
              <a:spcAft>
                <a:spcPts val="800"/>
              </a:spcAft>
            </a:pPr>
            <a:r>
              <a:rPr lang="en-IN" sz="3200" b="1">
                <a:solidFill>
                  <a:srgbClr val="20382A"/>
                </a:solidFill>
                <a:latin typeface="Arial" panose="020B0604020202020204" pitchFamily="34" charset="0"/>
              </a:rPr>
              <a:t>Implemented pipeline</a:t>
            </a:r>
          </a:p>
        </p:txBody>
      </p:sp>
      <p:sp>
        <p:nvSpPr>
          <p:cNvPr id="3" name="TextBox 2">
            <a:extLst>
              <a:ext uri="{FF2B5EF4-FFF2-40B4-BE49-F238E27FC236}">
                <a16:creationId xmlns:a16="http://schemas.microsoft.com/office/drawing/2014/main" id="{AA399CEC-2CB6-EF84-A9F3-2A7A4824A6B3}"/>
              </a:ext>
            </a:extLst>
          </p:cNvPr>
          <p:cNvSpPr txBox="1"/>
          <p:nvPr/>
        </p:nvSpPr>
        <p:spPr>
          <a:xfrm>
            <a:off x="622300" y="1142999"/>
            <a:ext cx="10858500" cy="558800"/>
          </a:xfrm>
          <a:prstGeom prst="rect">
            <a:avLst/>
          </a:prstGeom>
          <a:noFill/>
        </p:spPr>
        <p:txBody>
          <a:bodyPr vert="horz" wrap="square" lIns="0" tIns="0" rIns="0" bIns="0" rtlCol="0">
            <a:noAutofit/>
          </a:bodyPr>
          <a:lstStyle/>
          <a:p>
            <a:pPr>
              <a:spcAft>
                <a:spcPts val="800"/>
              </a:spcAft>
            </a:pPr>
            <a:r>
              <a:rPr lang="en-US" sz="1500">
                <a:solidFill>
                  <a:srgbClr val="72806B"/>
                </a:solidFill>
                <a:latin typeface="Arial" panose="020B0604020202020204" pitchFamily="34" charset="0"/>
              </a:rPr>
              <a:t>Only the small cricket classifiers learn from the training images</a:t>
            </a:r>
            <a:endParaRPr lang="en-IN" sz="1500">
              <a:solidFill>
                <a:srgbClr val="72806B"/>
              </a:solidFill>
              <a:latin typeface="Arial" panose="020B0604020202020204" pitchFamily="34" charset="0"/>
            </a:endParaRPr>
          </a:p>
        </p:txBody>
      </p:sp>
      <p:pic>
        <p:nvPicPr>
          <p:cNvPr id="5" name="Picture 4">
            <a:extLst>
              <a:ext uri="{FF2B5EF4-FFF2-40B4-BE49-F238E27FC236}">
                <a16:creationId xmlns:a16="http://schemas.microsoft.com/office/drawing/2014/main" id="{20EB9C77-7898-B412-8963-6A7DA5001D2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1741114"/>
            <a:ext cx="11176000" cy="3502772"/>
          </a:xfrm>
          <a:prstGeom prst="rect">
            <a:avLst/>
          </a:prstGeom>
        </p:spPr>
      </p:pic>
      <p:sp>
        <p:nvSpPr>
          <p:cNvPr id="6" name="TextBox 5">
            <a:extLst>
              <a:ext uri="{FF2B5EF4-FFF2-40B4-BE49-F238E27FC236}">
                <a16:creationId xmlns:a16="http://schemas.microsoft.com/office/drawing/2014/main" id="{D8B5D059-84EF-057E-110E-992AC6D809B2}"/>
              </a:ext>
            </a:extLst>
          </p:cNvPr>
          <p:cNvSpPr txBox="1"/>
          <p:nvPr/>
        </p:nvSpPr>
        <p:spPr>
          <a:xfrm>
            <a:off x="635000" y="5702299"/>
            <a:ext cx="10858500" cy="533400"/>
          </a:xfrm>
          <a:prstGeom prst="rect">
            <a:avLst/>
          </a:prstGeom>
          <a:noFill/>
        </p:spPr>
        <p:txBody>
          <a:bodyPr vert="horz" wrap="square" lIns="0" tIns="0" rIns="0" bIns="0" rtlCol="0">
            <a:noAutofit/>
          </a:bodyPr>
          <a:lstStyle/>
          <a:p>
            <a:pPr>
              <a:spcAft>
                <a:spcPts val="800"/>
              </a:spcAft>
            </a:pPr>
            <a:r>
              <a:rPr lang="en-US" sz="1600">
                <a:solidFill>
                  <a:srgbClr val="AF623E"/>
                </a:solidFill>
                <a:latin typeface="Arial" panose="020B0604020202020204" pitchFamily="34" charset="0"/>
              </a:rPr>
              <a:t>The fixed crop is a regional view. It does not detect or segment the batter.</a:t>
            </a:r>
            <a:endParaRPr lang="en-IN" sz="1600">
              <a:solidFill>
                <a:srgbClr val="AF623E"/>
              </a:solidFill>
              <a:latin typeface="Arial" panose="020B0604020202020204" pitchFamily="34" charset="0"/>
            </a:endParaRPr>
          </a:p>
        </p:txBody>
      </p:sp>
      <p:sp>
        <p:nvSpPr>
          <p:cNvPr id="7" name="TextBox 6">
            <a:extLst>
              <a:ext uri="{FF2B5EF4-FFF2-40B4-BE49-F238E27FC236}">
                <a16:creationId xmlns:a16="http://schemas.microsoft.com/office/drawing/2014/main" id="{8EDDF0B7-92A2-56E1-ED96-DA514762214C}"/>
              </a:ext>
            </a:extLst>
          </p:cNvPr>
          <p:cNvSpPr txBox="1"/>
          <p:nvPr/>
        </p:nvSpPr>
        <p:spPr>
          <a:xfrm>
            <a:off x="635000" y="6489700"/>
            <a:ext cx="9525000" cy="190500"/>
          </a:xfrm>
          <a:prstGeom prst="rect">
            <a:avLst/>
          </a:prstGeom>
          <a:noFill/>
        </p:spPr>
        <p:txBody>
          <a:bodyPr vert="horz" wrap="square" lIns="0" tIns="0" rIns="0" bIns="0" rtlCol="0">
            <a:noAutofit/>
          </a:bodyPr>
          <a:lstStyle/>
          <a:p>
            <a:pPr>
              <a:spcAft>
                <a:spcPts val="800"/>
              </a:spcAft>
            </a:pPr>
            <a:r>
              <a:rPr lang="en-IN" sz="800">
                <a:solidFill>
                  <a:srgbClr val="72806B"/>
                </a:solidFill>
                <a:latin typeface="Arial" panose="020B0604020202020204" pitchFamily="34" charset="0"/>
              </a:rPr>
              <a:t>CRICKET SHOT RECOGNITION / EE604</a:t>
            </a:r>
          </a:p>
        </p:txBody>
      </p:sp>
      <p:sp>
        <p:nvSpPr>
          <p:cNvPr id="8" name="TextBox 7">
            <a:extLst>
              <a:ext uri="{FF2B5EF4-FFF2-40B4-BE49-F238E27FC236}">
                <a16:creationId xmlns:a16="http://schemas.microsoft.com/office/drawing/2014/main" id="{CC8ABB7A-2AFD-53FC-66F2-57C5C21D30AF}"/>
              </a:ext>
            </a:extLst>
          </p:cNvPr>
          <p:cNvSpPr txBox="1"/>
          <p:nvPr/>
        </p:nvSpPr>
        <p:spPr>
          <a:xfrm>
            <a:off x="11214100" y="6451600"/>
            <a:ext cx="317500" cy="228600"/>
          </a:xfrm>
          <a:prstGeom prst="rect">
            <a:avLst/>
          </a:prstGeom>
          <a:noFill/>
        </p:spPr>
        <p:txBody>
          <a:bodyPr vert="horz" wrap="square" lIns="0" tIns="0" rIns="0" bIns="0" rtlCol="0">
            <a:noAutofit/>
          </a:bodyPr>
          <a:lstStyle/>
          <a:p>
            <a:pPr>
              <a:spcAft>
                <a:spcPts val="800"/>
              </a:spcAft>
            </a:pPr>
            <a:r>
              <a:rPr lang="en-IN" sz="1000">
                <a:solidFill>
                  <a:srgbClr val="72806B"/>
                </a:solidFill>
                <a:latin typeface="Arial" panose="020B0604020202020204" pitchFamily="34" charset="0"/>
              </a:rPr>
              <a:t>6</a:t>
            </a:r>
          </a:p>
        </p:txBody>
      </p:sp>
    </p:spTree>
    <p:extLst>
      <p:ext uri="{BB962C8B-B14F-4D97-AF65-F5344CB8AC3E}">
        <p14:creationId xmlns:p14="http://schemas.microsoft.com/office/powerpoint/2010/main" val="12158026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8F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3B33977-86FC-C297-6974-CFE7BF894C6D}"/>
              </a:ext>
            </a:extLst>
          </p:cNvPr>
          <p:cNvSpPr txBox="1"/>
          <p:nvPr/>
        </p:nvSpPr>
        <p:spPr>
          <a:xfrm>
            <a:off x="609600" y="406399"/>
            <a:ext cx="10985500" cy="609600"/>
          </a:xfrm>
          <a:prstGeom prst="rect">
            <a:avLst/>
          </a:prstGeom>
          <a:noFill/>
        </p:spPr>
        <p:txBody>
          <a:bodyPr vert="horz" wrap="square" lIns="0" tIns="0" rIns="0" bIns="0" rtlCol="0">
            <a:noAutofit/>
          </a:bodyPr>
          <a:lstStyle/>
          <a:p>
            <a:pPr>
              <a:spcAft>
                <a:spcPts val="800"/>
              </a:spcAft>
            </a:pPr>
            <a:r>
              <a:rPr lang="en-US" sz="3200" b="1">
                <a:solidFill>
                  <a:srgbClr val="20382A"/>
                </a:solidFill>
                <a:latin typeface="Arial" panose="020B0604020202020204" pitchFamily="34" charset="0"/>
              </a:rPr>
              <a:t>HOG: gradients, cells and blocks</a:t>
            </a:r>
            <a:endParaRPr lang="en-IN" sz="3200" b="1">
              <a:solidFill>
                <a:srgbClr val="20382A"/>
              </a:solidFill>
              <a:latin typeface="Arial" panose="020B0604020202020204" pitchFamily="34" charset="0"/>
            </a:endParaRPr>
          </a:p>
        </p:txBody>
      </p:sp>
      <p:sp>
        <p:nvSpPr>
          <p:cNvPr id="3" name="TextBox 2">
            <a:extLst>
              <a:ext uri="{FF2B5EF4-FFF2-40B4-BE49-F238E27FC236}">
                <a16:creationId xmlns:a16="http://schemas.microsoft.com/office/drawing/2014/main" id="{AB183C91-5B71-66D1-5255-6DA37757AA52}"/>
              </a:ext>
            </a:extLst>
          </p:cNvPr>
          <p:cNvSpPr txBox="1"/>
          <p:nvPr/>
        </p:nvSpPr>
        <p:spPr>
          <a:xfrm>
            <a:off x="622300" y="1142999"/>
            <a:ext cx="10858500" cy="558800"/>
          </a:xfrm>
          <a:prstGeom prst="rect">
            <a:avLst/>
          </a:prstGeom>
          <a:noFill/>
        </p:spPr>
        <p:txBody>
          <a:bodyPr vert="horz" wrap="square" lIns="0" tIns="0" rIns="0" bIns="0" rtlCol="0">
            <a:noAutofit/>
          </a:bodyPr>
          <a:lstStyle/>
          <a:p>
            <a:pPr>
              <a:spcAft>
                <a:spcPts val="800"/>
              </a:spcAft>
            </a:pPr>
            <a:r>
              <a:rPr lang="fr-FR" sz="1500">
                <a:solidFill>
                  <a:srgbClr val="72806B"/>
                </a:solidFill>
                <a:latin typeface="Arial" panose="020B0604020202020204" pitchFamily="34" charset="0"/>
              </a:rPr>
              <a:t>Lecture 10: accumulate gradient magnitude in orientation bins</a:t>
            </a:r>
            <a:endParaRPr lang="en-IN" sz="1500">
              <a:solidFill>
                <a:srgbClr val="72806B"/>
              </a:solidFill>
              <a:latin typeface="Arial" panose="020B0604020202020204" pitchFamily="34" charset="0"/>
            </a:endParaRPr>
          </a:p>
        </p:txBody>
      </p:sp>
      <p:pic>
        <p:nvPicPr>
          <p:cNvPr id="5" name="Picture 4">
            <a:extLst>
              <a:ext uri="{FF2B5EF4-FFF2-40B4-BE49-F238E27FC236}">
                <a16:creationId xmlns:a16="http://schemas.microsoft.com/office/drawing/2014/main" id="{96A2E860-AD91-FB09-1438-77242E73E20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667500" y="2567086"/>
            <a:ext cx="4889500" cy="1850828"/>
          </a:xfrm>
          <a:prstGeom prst="rect">
            <a:avLst/>
          </a:prstGeom>
        </p:spPr>
      </p:pic>
      <p:graphicFrame>
        <p:nvGraphicFramePr>
          <p:cNvPr id="6" name="Table 5">
            <a:extLst>
              <a:ext uri="{FF2B5EF4-FFF2-40B4-BE49-F238E27FC236}">
                <a16:creationId xmlns:a16="http://schemas.microsoft.com/office/drawing/2014/main" id="{FFEC1A12-70FA-9DE9-7E70-B65B8626B640}"/>
              </a:ext>
            </a:extLst>
          </p:cNvPr>
          <p:cNvGraphicFramePr>
            <a:graphicFrameLocks noGrp="1"/>
          </p:cNvGraphicFramePr>
          <p:nvPr>
            <p:extLst>
              <p:ext uri="{D42A27DB-BD31-4B8C-83A1-F6EECF244321}">
                <p14:modId xmlns:p14="http://schemas.microsoft.com/office/powerpoint/2010/main" val="3514543653"/>
              </p:ext>
            </p:extLst>
          </p:nvPr>
        </p:nvGraphicFramePr>
        <p:xfrm>
          <a:off x="635000" y="1905000"/>
          <a:ext cx="5778500" cy="3302000"/>
        </p:xfrm>
        <a:graphic>
          <a:graphicData uri="http://schemas.openxmlformats.org/drawingml/2006/table">
            <a:tbl>
              <a:tblPr firstRow="1" bandRow="1">
                <a:tableStyleId>{5C22544A-7EE6-4342-B048-85BDC9FD1C3A}</a:tableStyleId>
              </a:tblPr>
              <a:tblGrid>
                <a:gridCol w="2095500">
                  <a:extLst>
                    <a:ext uri="{9D8B030D-6E8A-4147-A177-3AD203B41FA5}">
                      <a16:colId xmlns:a16="http://schemas.microsoft.com/office/drawing/2014/main" val="2322973232"/>
                    </a:ext>
                  </a:extLst>
                </a:gridCol>
                <a:gridCol w="3683000">
                  <a:extLst>
                    <a:ext uri="{9D8B030D-6E8A-4147-A177-3AD203B41FA5}">
                      <a16:colId xmlns:a16="http://schemas.microsoft.com/office/drawing/2014/main" val="2709832051"/>
                    </a:ext>
                  </a:extLst>
                </a:gridCol>
              </a:tblGrid>
              <a:tr h="550333">
                <a:tc>
                  <a:txBody>
                    <a:bodyPr/>
                    <a:lstStyle/>
                    <a:p>
                      <a:r>
                        <a:rPr lang="en-IN" sz="1500" b="1">
                          <a:solidFill>
                            <a:srgbClr val="FFFFFF"/>
                          </a:solidFill>
                          <a:latin typeface="Arial" panose="020B0604020202020204" pitchFamily="34" charset="0"/>
                        </a:rPr>
                        <a:t>Step</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20382A"/>
                    </a:solidFill>
                  </a:tcPr>
                </a:tc>
                <a:tc>
                  <a:txBody>
                    <a:bodyPr/>
                    <a:lstStyle/>
                    <a:p>
                      <a:r>
                        <a:rPr lang="en-IN" sz="1500" b="1">
                          <a:solidFill>
                            <a:srgbClr val="FFFFFF"/>
                          </a:solidFill>
                          <a:latin typeface="Arial" panose="020B0604020202020204" pitchFamily="34" charset="0"/>
                        </a:rPr>
                        <a:t>Fixed setting</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20382A"/>
                    </a:solidFill>
                  </a:tcPr>
                </a:tc>
                <a:extLst>
                  <a:ext uri="{0D108BD9-81ED-4DB2-BD59-A6C34878D82A}">
                    <a16:rowId xmlns:a16="http://schemas.microsoft.com/office/drawing/2014/main" val="2076778103"/>
                  </a:ext>
                </a:extLst>
              </a:tr>
              <a:tr h="550333">
                <a:tc>
                  <a:txBody>
                    <a:bodyPr/>
                    <a:lstStyle/>
                    <a:p>
                      <a:r>
                        <a:rPr lang="en-IN" sz="1500" b="0">
                          <a:solidFill>
                            <a:srgbClr val="20382A"/>
                          </a:solidFill>
                          <a:latin typeface="Arial" panose="020B0604020202020204" pitchFamily="34" charset="0"/>
                        </a:rPr>
                        <a:t>Input</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500" b="0">
                          <a:solidFill>
                            <a:srgbClr val="20382A"/>
                          </a:solidFill>
                          <a:latin typeface="Arial" panose="020B0604020202020204" pitchFamily="34" charset="0"/>
                        </a:rPr>
                        <a:t>224 x 224 luminance</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extLst>
                  <a:ext uri="{0D108BD9-81ED-4DB2-BD59-A6C34878D82A}">
                    <a16:rowId xmlns:a16="http://schemas.microsoft.com/office/drawing/2014/main" val="2672258800"/>
                  </a:ext>
                </a:extLst>
              </a:tr>
              <a:tr h="550333">
                <a:tc>
                  <a:txBody>
                    <a:bodyPr/>
                    <a:lstStyle/>
                    <a:p>
                      <a:r>
                        <a:rPr lang="en-IN" sz="1500" b="0">
                          <a:solidFill>
                            <a:srgbClr val="20382A"/>
                          </a:solidFill>
                          <a:latin typeface="Arial" panose="020B0604020202020204" pitchFamily="34" charset="0"/>
                        </a:rPr>
                        <a:t>Orientation votes</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IN" sz="1500" b="0">
                          <a:solidFill>
                            <a:srgbClr val="20382A"/>
                          </a:solidFill>
                          <a:latin typeface="Arial" panose="020B0604020202020204" pitchFamily="34" charset="0"/>
                        </a:rPr>
                        <a:t>9 unsigned bins; linear bin weights</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extLst>
                  <a:ext uri="{0D108BD9-81ED-4DB2-BD59-A6C34878D82A}">
                    <a16:rowId xmlns:a16="http://schemas.microsoft.com/office/drawing/2014/main" val="431767679"/>
                  </a:ext>
                </a:extLst>
              </a:tr>
              <a:tr h="550333">
                <a:tc>
                  <a:txBody>
                    <a:bodyPr/>
                    <a:lstStyle/>
                    <a:p>
                      <a:r>
                        <a:rPr lang="en-IN" sz="1500" b="0">
                          <a:solidFill>
                            <a:srgbClr val="20382A"/>
                          </a:solidFill>
                          <a:latin typeface="Arial" panose="020B0604020202020204" pitchFamily="34" charset="0"/>
                        </a:rPr>
                        <a:t>Cells</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de-DE" sz="1500" b="0">
                          <a:solidFill>
                            <a:srgbClr val="20382A"/>
                          </a:solidFill>
                          <a:latin typeface="Arial" panose="020B0604020202020204" pitchFamily="34" charset="0"/>
                        </a:rPr>
                        <a:t>16 x 16 pixels; 14 x 14 cells</a:t>
                      </a:r>
                      <a:endParaRPr lang="en-IN" sz="1500" b="0">
                        <a:solidFill>
                          <a:srgbClr val="20382A"/>
                        </a:solidFill>
                        <a:latin typeface="Arial" panose="020B0604020202020204" pitchFamily="34" charset="0"/>
                      </a:endParaRP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extLst>
                  <a:ext uri="{0D108BD9-81ED-4DB2-BD59-A6C34878D82A}">
                    <a16:rowId xmlns:a16="http://schemas.microsoft.com/office/drawing/2014/main" val="895981161"/>
                  </a:ext>
                </a:extLst>
              </a:tr>
              <a:tr h="550333">
                <a:tc>
                  <a:txBody>
                    <a:bodyPr/>
                    <a:lstStyle/>
                    <a:p>
                      <a:r>
                        <a:rPr lang="en-IN" sz="1500" b="0">
                          <a:solidFill>
                            <a:srgbClr val="20382A"/>
                          </a:solidFill>
                          <a:latin typeface="Arial" panose="020B0604020202020204" pitchFamily="34" charset="0"/>
                        </a:rPr>
                        <a:t>Blocks</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IN" sz="1500" b="0">
                          <a:solidFill>
                            <a:srgbClr val="20382A"/>
                          </a:solidFill>
                          <a:latin typeface="Arial" panose="020B0604020202020204" pitchFamily="34" charset="0"/>
                        </a:rPr>
                        <a:t>2 x 2 cells; stride 1 cell</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extLst>
                  <a:ext uri="{0D108BD9-81ED-4DB2-BD59-A6C34878D82A}">
                    <a16:rowId xmlns:a16="http://schemas.microsoft.com/office/drawing/2014/main" val="1484753629"/>
                  </a:ext>
                </a:extLst>
              </a:tr>
              <a:tr h="550333">
                <a:tc>
                  <a:txBody>
                    <a:bodyPr/>
                    <a:lstStyle/>
                    <a:p>
                      <a:r>
                        <a:rPr lang="en-IN" sz="1500" b="0">
                          <a:solidFill>
                            <a:srgbClr val="20382A"/>
                          </a:solidFill>
                          <a:latin typeface="Arial" panose="020B0604020202020204" pitchFamily="34" charset="0"/>
                        </a:rPr>
                        <a:t>Normalize / concatenate</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US" sz="1500" b="0">
                          <a:solidFill>
                            <a:srgbClr val="20382A"/>
                          </a:solidFill>
                          <a:latin typeface="Arial" panose="020B0604020202020204" pitchFamily="34" charset="0"/>
                        </a:rPr>
                        <a:t>L2 blocks, then 6,084-value L2 vector</a:t>
                      </a:r>
                      <a:endParaRPr lang="en-IN" sz="1500" b="0">
                        <a:solidFill>
                          <a:srgbClr val="20382A"/>
                        </a:solidFill>
                        <a:latin typeface="Arial" panose="020B0604020202020204" pitchFamily="34" charset="0"/>
                      </a:endParaRP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extLst>
                  <a:ext uri="{0D108BD9-81ED-4DB2-BD59-A6C34878D82A}">
                    <a16:rowId xmlns:a16="http://schemas.microsoft.com/office/drawing/2014/main" val="802850315"/>
                  </a:ext>
                </a:extLst>
              </a:tr>
            </a:tbl>
          </a:graphicData>
        </a:graphic>
      </p:graphicFrame>
      <p:sp>
        <p:nvSpPr>
          <p:cNvPr id="7" name="TextBox 6">
            <a:extLst>
              <a:ext uri="{FF2B5EF4-FFF2-40B4-BE49-F238E27FC236}">
                <a16:creationId xmlns:a16="http://schemas.microsoft.com/office/drawing/2014/main" id="{11D47714-9A39-4C47-9D56-20CF25B589AE}"/>
              </a:ext>
            </a:extLst>
          </p:cNvPr>
          <p:cNvSpPr txBox="1"/>
          <p:nvPr/>
        </p:nvSpPr>
        <p:spPr>
          <a:xfrm>
            <a:off x="635000" y="5702299"/>
            <a:ext cx="10858500" cy="533400"/>
          </a:xfrm>
          <a:prstGeom prst="rect">
            <a:avLst/>
          </a:prstGeom>
          <a:noFill/>
        </p:spPr>
        <p:txBody>
          <a:bodyPr vert="horz" wrap="square" lIns="0" tIns="0" rIns="0" bIns="0" rtlCol="0">
            <a:noAutofit/>
          </a:bodyPr>
          <a:lstStyle/>
          <a:p>
            <a:pPr>
              <a:spcAft>
                <a:spcPts val="800"/>
              </a:spcAft>
            </a:pPr>
            <a:r>
              <a:rPr lang="en-US" sz="1600">
                <a:solidFill>
                  <a:srgbClr val="AF623E"/>
                </a:solidFill>
                <a:latin typeface="Arial" panose="020B0604020202020204" pitchFamily="34" charset="0"/>
              </a:rPr>
              <a:t>Votes use magnitude, not frequency. No learned feature scaling; no test-based HOG tuning.</a:t>
            </a:r>
            <a:endParaRPr lang="en-IN" sz="1600">
              <a:solidFill>
                <a:srgbClr val="AF623E"/>
              </a:solidFill>
              <a:latin typeface="Arial" panose="020B0604020202020204" pitchFamily="34" charset="0"/>
            </a:endParaRPr>
          </a:p>
        </p:txBody>
      </p:sp>
      <p:sp>
        <p:nvSpPr>
          <p:cNvPr id="8" name="TextBox 7">
            <a:extLst>
              <a:ext uri="{FF2B5EF4-FFF2-40B4-BE49-F238E27FC236}">
                <a16:creationId xmlns:a16="http://schemas.microsoft.com/office/drawing/2014/main" id="{9CDC6331-5A4D-8687-FF66-7FEC8BC7CA09}"/>
              </a:ext>
            </a:extLst>
          </p:cNvPr>
          <p:cNvSpPr txBox="1"/>
          <p:nvPr/>
        </p:nvSpPr>
        <p:spPr>
          <a:xfrm>
            <a:off x="635000" y="6489700"/>
            <a:ext cx="9525000" cy="190500"/>
          </a:xfrm>
          <a:prstGeom prst="rect">
            <a:avLst/>
          </a:prstGeom>
          <a:noFill/>
        </p:spPr>
        <p:txBody>
          <a:bodyPr vert="horz" wrap="square" lIns="0" tIns="0" rIns="0" bIns="0" rtlCol="0">
            <a:noAutofit/>
          </a:bodyPr>
          <a:lstStyle/>
          <a:p>
            <a:pPr>
              <a:spcAft>
                <a:spcPts val="800"/>
              </a:spcAft>
            </a:pPr>
            <a:r>
              <a:rPr lang="en-IN" sz="800">
                <a:solidFill>
                  <a:srgbClr val="72806B"/>
                </a:solidFill>
                <a:latin typeface="Arial" panose="020B0604020202020204" pitchFamily="34" charset="0"/>
              </a:rPr>
              <a:t>CRICKET SHOT RECOGNITION / EE604</a:t>
            </a:r>
          </a:p>
        </p:txBody>
      </p:sp>
      <p:sp>
        <p:nvSpPr>
          <p:cNvPr id="9" name="TextBox 8">
            <a:extLst>
              <a:ext uri="{FF2B5EF4-FFF2-40B4-BE49-F238E27FC236}">
                <a16:creationId xmlns:a16="http://schemas.microsoft.com/office/drawing/2014/main" id="{67E6E872-7584-42BA-1969-62713D6FDD3D}"/>
              </a:ext>
            </a:extLst>
          </p:cNvPr>
          <p:cNvSpPr txBox="1"/>
          <p:nvPr/>
        </p:nvSpPr>
        <p:spPr>
          <a:xfrm>
            <a:off x="11214100" y="6451600"/>
            <a:ext cx="317500" cy="228600"/>
          </a:xfrm>
          <a:prstGeom prst="rect">
            <a:avLst/>
          </a:prstGeom>
          <a:noFill/>
        </p:spPr>
        <p:txBody>
          <a:bodyPr vert="horz" wrap="square" lIns="0" tIns="0" rIns="0" bIns="0" rtlCol="0">
            <a:noAutofit/>
          </a:bodyPr>
          <a:lstStyle/>
          <a:p>
            <a:pPr>
              <a:spcAft>
                <a:spcPts val="800"/>
              </a:spcAft>
            </a:pPr>
            <a:r>
              <a:rPr lang="en-IN" sz="1000">
                <a:solidFill>
                  <a:srgbClr val="72806B"/>
                </a:solidFill>
                <a:latin typeface="Arial" panose="020B0604020202020204" pitchFamily="34" charset="0"/>
              </a:rPr>
              <a:t>7</a:t>
            </a:r>
          </a:p>
        </p:txBody>
      </p:sp>
    </p:spTree>
    <p:extLst>
      <p:ext uri="{BB962C8B-B14F-4D97-AF65-F5344CB8AC3E}">
        <p14:creationId xmlns:p14="http://schemas.microsoft.com/office/powerpoint/2010/main" val="40942744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8F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AAA906C-D57C-FB9D-98C8-9C5C2FB8AD2E}"/>
              </a:ext>
            </a:extLst>
          </p:cNvPr>
          <p:cNvSpPr txBox="1"/>
          <p:nvPr/>
        </p:nvSpPr>
        <p:spPr>
          <a:xfrm>
            <a:off x="609600" y="406399"/>
            <a:ext cx="10985500" cy="609600"/>
          </a:xfrm>
          <a:prstGeom prst="rect">
            <a:avLst/>
          </a:prstGeom>
          <a:noFill/>
        </p:spPr>
        <p:txBody>
          <a:bodyPr vert="horz" wrap="square" lIns="0" tIns="0" rIns="0" bIns="0" rtlCol="0">
            <a:noAutofit/>
          </a:bodyPr>
          <a:lstStyle/>
          <a:p>
            <a:pPr>
              <a:spcAft>
                <a:spcPts val="800"/>
              </a:spcAft>
            </a:pPr>
            <a:r>
              <a:rPr lang="en-US" sz="3200" b="1">
                <a:solidFill>
                  <a:srgbClr val="20382A"/>
                </a:solidFill>
                <a:latin typeface="Arial" panose="020B0604020202020204" pitchFamily="34" charset="0"/>
              </a:rPr>
              <a:t>CNN views and the contrast feature</a:t>
            </a:r>
            <a:endParaRPr lang="en-IN" sz="3200" b="1">
              <a:solidFill>
                <a:srgbClr val="20382A"/>
              </a:solidFill>
              <a:latin typeface="Arial" panose="020B0604020202020204" pitchFamily="34" charset="0"/>
            </a:endParaRPr>
          </a:p>
        </p:txBody>
      </p:sp>
      <p:sp>
        <p:nvSpPr>
          <p:cNvPr id="3" name="TextBox 2">
            <a:extLst>
              <a:ext uri="{FF2B5EF4-FFF2-40B4-BE49-F238E27FC236}">
                <a16:creationId xmlns:a16="http://schemas.microsoft.com/office/drawing/2014/main" id="{A4C198BB-E7EC-9154-EBEE-590E18A61514}"/>
              </a:ext>
            </a:extLst>
          </p:cNvPr>
          <p:cNvSpPr txBox="1"/>
          <p:nvPr/>
        </p:nvSpPr>
        <p:spPr>
          <a:xfrm>
            <a:off x="622300" y="1142999"/>
            <a:ext cx="10858500" cy="558800"/>
          </a:xfrm>
          <a:prstGeom prst="rect">
            <a:avLst/>
          </a:prstGeom>
          <a:noFill/>
        </p:spPr>
        <p:txBody>
          <a:bodyPr vert="horz" wrap="square" lIns="0" tIns="0" rIns="0" bIns="0" rtlCol="0">
            <a:noAutofit/>
          </a:bodyPr>
          <a:lstStyle/>
          <a:p>
            <a:pPr>
              <a:spcAft>
                <a:spcPts val="800"/>
              </a:spcAft>
            </a:pPr>
            <a:r>
              <a:rPr lang="en-US" sz="1500">
                <a:solidFill>
                  <a:srgbClr val="72806B"/>
                </a:solidFill>
                <a:latin typeface="Arial" panose="020B0604020202020204" pitchFamily="34" charset="0"/>
              </a:rPr>
              <a:t>Frozen ImageNet MobileNetV2 gives two 1,280-value pooled embeddings</a:t>
            </a:r>
            <a:endParaRPr lang="en-IN" sz="1500">
              <a:solidFill>
                <a:srgbClr val="72806B"/>
              </a:solidFill>
              <a:latin typeface="Arial" panose="020B0604020202020204" pitchFamily="34" charset="0"/>
            </a:endParaRPr>
          </a:p>
        </p:txBody>
      </p:sp>
      <p:sp>
        <p:nvSpPr>
          <p:cNvPr id="4" name="TextBox 3">
            <a:extLst>
              <a:ext uri="{FF2B5EF4-FFF2-40B4-BE49-F238E27FC236}">
                <a16:creationId xmlns:a16="http://schemas.microsoft.com/office/drawing/2014/main" id="{4295B0A4-5C74-758F-9698-353E9274D8F0}"/>
              </a:ext>
            </a:extLst>
          </p:cNvPr>
          <p:cNvSpPr txBox="1"/>
          <p:nvPr/>
        </p:nvSpPr>
        <p:spPr>
          <a:xfrm>
            <a:off x="635000" y="5168899"/>
            <a:ext cx="10795000" cy="825500"/>
          </a:xfrm>
          <a:prstGeom prst="rect">
            <a:avLst/>
          </a:prstGeom>
          <a:noFill/>
        </p:spPr>
        <p:txBody>
          <a:bodyPr vert="horz" wrap="square" lIns="0" tIns="0" rIns="0" bIns="0" rtlCol="0">
            <a:noAutofit/>
          </a:bodyPr>
          <a:lstStyle/>
          <a:p>
            <a:pPr>
              <a:spcAft>
                <a:spcPts val="800"/>
              </a:spcAft>
            </a:pPr>
            <a:r>
              <a:rPr lang="en-US">
                <a:solidFill>
                  <a:srgbClr val="20382A"/>
                </a:solidFill>
                <a:latin typeface="Arial" panose="020B0604020202020204" pitchFamily="34" charset="0"/>
              </a:rPr>
              <a:t>Absolute difference is nonlinear; signed difference would be redundant
for a linear head on concatenation. This motivates a test, not a success claim.</a:t>
            </a:r>
            <a:endParaRPr lang="en-IN">
              <a:solidFill>
                <a:srgbClr val="20382A"/>
              </a:solidFill>
              <a:latin typeface="Arial" panose="020B0604020202020204" pitchFamily="34" charset="0"/>
            </a:endParaRPr>
          </a:p>
        </p:txBody>
      </p:sp>
      <p:graphicFrame>
        <p:nvGraphicFramePr>
          <p:cNvPr id="5" name="Table 4">
            <a:extLst>
              <a:ext uri="{FF2B5EF4-FFF2-40B4-BE49-F238E27FC236}">
                <a16:creationId xmlns:a16="http://schemas.microsoft.com/office/drawing/2014/main" id="{57925E37-E44B-2893-DD61-81BC0739CAB6}"/>
              </a:ext>
            </a:extLst>
          </p:cNvPr>
          <p:cNvGraphicFramePr>
            <a:graphicFrameLocks noGrp="1"/>
          </p:cNvGraphicFramePr>
          <p:nvPr>
            <p:extLst>
              <p:ext uri="{D42A27DB-BD31-4B8C-83A1-F6EECF244321}">
                <p14:modId xmlns:p14="http://schemas.microsoft.com/office/powerpoint/2010/main" val="2645606805"/>
              </p:ext>
            </p:extLst>
          </p:nvPr>
        </p:nvGraphicFramePr>
        <p:xfrm>
          <a:off x="635000" y="1905000"/>
          <a:ext cx="10922000" cy="2984500"/>
        </p:xfrm>
        <a:graphic>
          <a:graphicData uri="http://schemas.openxmlformats.org/drawingml/2006/table">
            <a:tbl>
              <a:tblPr firstRow="1" bandRow="1">
                <a:tableStyleId>{5C22544A-7EE6-4342-B048-85BDC9FD1C3A}</a:tableStyleId>
              </a:tblPr>
              <a:tblGrid>
                <a:gridCol w="3810000">
                  <a:extLst>
                    <a:ext uri="{9D8B030D-6E8A-4147-A177-3AD203B41FA5}">
                      <a16:colId xmlns:a16="http://schemas.microsoft.com/office/drawing/2014/main" val="3304361364"/>
                    </a:ext>
                  </a:extLst>
                </a:gridCol>
                <a:gridCol w="4572000">
                  <a:extLst>
                    <a:ext uri="{9D8B030D-6E8A-4147-A177-3AD203B41FA5}">
                      <a16:colId xmlns:a16="http://schemas.microsoft.com/office/drawing/2014/main" val="410694315"/>
                    </a:ext>
                  </a:extLst>
                </a:gridCol>
                <a:gridCol w="2540000">
                  <a:extLst>
                    <a:ext uri="{9D8B030D-6E8A-4147-A177-3AD203B41FA5}">
                      <a16:colId xmlns:a16="http://schemas.microsoft.com/office/drawing/2014/main" val="1859349803"/>
                    </a:ext>
                  </a:extLst>
                </a:gridCol>
              </a:tblGrid>
              <a:tr h="596900">
                <a:tc>
                  <a:txBody>
                    <a:bodyPr/>
                    <a:lstStyle/>
                    <a:p>
                      <a:r>
                        <a:rPr lang="en-IN" sz="1800" b="1">
                          <a:solidFill>
                            <a:srgbClr val="FFFFFF"/>
                          </a:solidFill>
                          <a:latin typeface="Arial" panose="020B0604020202020204" pitchFamily="34" charset="0"/>
                        </a:rPr>
                        <a:t>Representation</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20382A"/>
                    </a:solidFill>
                  </a:tcPr>
                </a:tc>
                <a:tc>
                  <a:txBody>
                    <a:bodyPr/>
                    <a:lstStyle/>
                    <a:p>
                      <a:r>
                        <a:rPr lang="en-IN" sz="1800" b="1">
                          <a:solidFill>
                            <a:srgbClr val="FFFFFF"/>
                          </a:solidFill>
                          <a:latin typeface="Arial" panose="020B0604020202020204" pitchFamily="34" charset="0"/>
                        </a:rPr>
                        <a:t>Normalized classifier input</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20382A"/>
                    </a:solidFill>
                  </a:tcPr>
                </a:tc>
                <a:tc>
                  <a:txBody>
                    <a:bodyPr/>
                    <a:lstStyle/>
                    <a:p>
                      <a:r>
                        <a:rPr lang="en-IN" sz="1800" b="1">
                          <a:solidFill>
                            <a:srgbClr val="FFFFFF"/>
                          </a:solidFill>
                          <a:latin typeface="Arial" panose="020B0604020202020204" pitchFamily="34" charset="0"/>
                        </a:rPr>
                        <a:t>Dimension</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20382A"/>
                    </a:solidFill>
                  </a:tcPr>
                </a:tc>
                <a:extLst>
                  <a:ext uri="{0D108BD9-81ED-4DB2-BD59-A6C34878D82A}">
                    <a16:rowId xmlns:a16="http://schemas.microsoft.com/office/drawing/2014/main" val="4227138705"/>
                  </a:ext>
                </a:extLst>
              </a:tr>
              <a:tr h="596900">
                <a:tc>
                  <a:txBody>
                    <a:bodyPr/>
                    <a:lstStyle/>
                    <a:p>
                      <a:r>
                        <a:rPr lang="en-IN" sz="1800" b="0">
                          <a:solidFill>
                            <a:srgbClr val="20382A"/>
                          </a:solidFill>
                          <a:latin typeface="Arial" panose="020B0604020202020204" pitchFamily="34" charset="0"/>
                        </a:rPr>
                        <a:t>Global</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800" b="0">
                          <a:solidFill>
                            <a:srgbClr val="20382A"/>
                          </a:solidFill>
                          <a:latin typeface="Arial" panose="020B0604020202020204" pitchFamily="34" charset="0"/>
                        </a:rPr>
                        <a:t>u</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800" b="0">
                          <a:solidFill>
                            <a:srgbClr val="20382A"/>
                          </a:solidFill>
                          <a:latin typeface="Arial" panose="020B0604020202020204" pitchFamily="34" charset="0"/>
                        </a:rPr>
                        <a:t>1,280</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extLst>
                  <a:ext uri="{0D108BD9-81ED-4DB2-BD59-A6C34878D82A}">
                    <a16:rowId xmlns:a16="http://schemas.microsoft.com/office/drawing/2014/main" val="1430032645"/>
                  </a:ext>
                </a:extLst>
              </a:tr>
              <a:tr h="596900">
                <a:tc>
                  <a:txBody>
                    <a:bodyPr/>
                    <a:lstStyle/>
                    <a:p>
                      <a:r>
                        <a:rPr lang="en-IN" sz="1800" b="0">
                          <a:solidFill>
                            <a:srgbClr val="20382A"/>
                          </a:solidFill>
                          <a:latin typeface="Arial" panose="020B0604020202020204" pitchFamily="34" charset="0"/>
                        </a:rPr>
                        <a:t>Fixed regional crop</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IN" sz="1800" b="0">
                          <a:solidFill>
                            <a:srgbClr val="20382A"/>
                          </a:solidFill>
                          <a:latin typeface="Arial" panose="020B0604020202020204" pitchFamily="34" charset="0"/>
                        </a:rPr>
                        <a:t>v</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IN" sz="1800" b="0">
                          <a:solidFill>
                            <a:srgbClr val="20382A"/>
                          </a:solidFill>
                          <a:latin typeface="Arial" panose="020B0604020202020204" pitchFamily="34" charset="0"/>
                        </a:rPr>
                        <a:t>1,280</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extLst>
                  <a:ext uri="{0D108BD9-81ED-4DB2-BD59-A6C34878D82A}">
                    <a16:rowId xmlns:a16="http://schemas.microsoft.com/office/drawing/2014/main" val="4258313058"/>
                  </a:ext>
                </a:extLst>
              </a:tr>
              <a:tr h="596900">
                <a:tc>
                  <a:txBody>
                    <a:bodyPr/>
                    <a:lstStyle/>
                    <a:p>
                      <a:r>
                        <a:rPr lang="en-IN" sz="1800" b="0">
                          <a:solidFill>
                            <a:srgbClr val="20382A"/>
                          </a:solidFill>
                          <a:latin typeface="Arial" panose="020B0604020202020204" pitchFamily="34" charset="0"/>
                        </a:rPr>
                        <a:t>Concatenation</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800" b="0">
                          <a:solidFill>
                            <a:srgbClr val="20382A"/>
                          </a:solidFill>
                          <a:latin typeface="Arial" panose="020B0604020202020204" pitchFamily="34" charset="0"/>
                        </a:rPr>
                        <a:t>[u; v]</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800" b="0">
                          <a:solidFill>
                            <a:srgbClr val="20382A"/>
                          </a:solidFill>
                          <a:latin typeface="Arial" panose="020B0604020202020204" pitchFamily="34" charset="0"/>
                        </a:rPr>
                        <a:t>2,560</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extLst>
                  <a:ext uri="{0D108BD9-81ED-4DB2-BD59-A6C34878D82A}">
                    <a16:rowId xmlns:a16="http://schemas.microsoft.com/office/drawing/2014/main" val="28864441"/>
                  </a:ext>
                </a:extLst>
              </a:tr>
              <a:tr h="596900">
                <a:tc>
                  <a:txBody>
                    <a:bodyPr/>
                    <a:lstStyle/>
                    <a:p>
                      <a:r>
                        <a:rPr lang="en-IN" sz="1800" b="0">
                          <a:solidFill>
                            <a:srgbClr val="20382A"/>
                          </a:solidFill>
                          <a:latin typeface="Arial" panose="020B0604020202020204" pitchFamily="34" charset="0"/>
                        </a:rPr>
                        <a:t>Contrast</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IN" sz="1800" b="0">
                          <a:solidFill>
                            <a:srgbClr val="20382A"/>
                          </a:solidFill>
                          <a:latin typeface="Arial" panose="020B0604020202020204" pitchFamily="34" charset="0"/>
                        </a:rPr>
                        <a:t>[u; v; abs(u-v)]</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IN" sz="1800" b="0">
                          <a:solidFill>
                            <a:srgbClr val="20382A"/>
                          </a:solidFill>
                          <a:latin typeface="Arial" panose="020B0604020202020204" pitchFamily="34" charset="0"/>
                        </a:rPr>
                        <a:t>3,840</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extLst>
                  <a:ext uri="{0D108BD9-81ED-4DB2-BD59-A6C34878D82A}">
                    <a16:rowId xmlns:a16="http://schemas.microsoft.com/office/drawing/2014/main" val="2949334616"/>
                  </a:ext>
                </a:extLst>
              </a:tr>
            </a:tbl>
          </a:graphicData>
        </a:graphic>
      </p:graphicFrame>
      <p:sp>
        <p:nvSpPr>
          <p:cNvPr id="6" name="TextBox 5">
            <a:extLst>
              <a:ext uri="{FF2B5EF4-FFF2-40B4-BE49-F238E27FC236}">
                <a16:creationId xmlns:a16="http://schemas.microsoft.com/office/drawing/2014/main" id="{23230B7E-27AF-D5EB-44D4-B199D086251D}"/>
              </a:ext>
            </a:extLst>
          </p:cNvPr>
          <p:cNvSpPr txBox="1"/>
          <p:nvPr/>
        </p:nvSpPr>
        <p:spPr>
          <a:xfrm>
            <a:off x="635000" y="6489700"/>
            <a:ext cx="9525000" cy="190500"/>
          </a:xfrm>
          <a:prstGeom prst="rect">
            <a:avLst/>
          </a:prstGeom>
          <a:noFill/>
        </p:spPr>
        <p:txBody>
          <a:bodyPr vert="horz" wrap="square" lIns="0" tIns="0" rIns="0" bIns="0" rtlCol="0">
            <a:noAutofit/>
          </a:bodyPr>
          <a:lstStyle/>
          <a:p>
            <a:pPr>
              <a:spcAft>
                <a:spcPts val="800"/>
              </a:spcAft>
            </a:pPr>
            <a:r>
              <a:rPr lang="en-IN" sz="800">
                <a:solidFill>
                  <a:srgbClr val="72806B"/>
                </a:solidFill>
                <a:latin typeface="Arial" panose="020B0604020202020204" pitchFamily="34" charset="0"/>
              </a:rPr>
              <a:t>CRICKET SHOT RECOGNITION / EE604</a:t>
            </a:r>
          </a:p>
        </p:txBody>
      </p:sp>
      <p:sp>
        <p:nvSpPr>
          <p:cNvPr id="7" name="TextBox 6">
            <a:extLst>
              <a:ext uri="{FF2B5EF4-FFF2-40B4-BE49-F238E27FC236}">
                <a16:creationId xmlns:a16="http://schemas.microsoft.com/office/drawing/2014/main" id="{76900C8B-1292-08B6-BF7D-FBCAD9CEB608}"/>
              </a:ext>
            </a:extLst>
          </p:cNvPr>
          <p:cNvSpPr txBox="1"/>
          <p:nvPr/>
        </p:nvSpPr>
        <p:spPr>
          <a:xfrm>
            <a:off x="11214100" y="6451600"/>
            <a:ext cx="317500" cy="228600"/>
          </a:xfrm>
          <a:prstGeom prst="rect">
            <a:avLst/>
          </a:prstGeom>
          <a:noFill/>
        </p:spPr>
        <p:txBody>
          <a:bodyPr vert="horz" wrap="square" lIns="0" tIns="0" rIns="0" bIns="0" rtlCol="0">
            <a:noAutofit/>
          </a:bodyPr>
          <a:lstStyle/>
          <a:p>
            <a:pPr>
              <a:spcAft>
                <a:spcPts val="800"/>
              </a:spcAft>
            </a:pPr>
            <a:r>
              <a:rPr lang="en-IN" sz="1000">
                <a:solidFill>
                  <a:srgbClr val="72806B"/>
                </a:solidFill>
                <a:latin typeface="Arial" panose="020B0604020202020204" pitchFamily="34" charset="0"/>
              </a:rPr>
              <a:t>8</a:t>
            </a:r>
          </a:p>
        </p:txBody>
      </p:sp>
    </p:spTree>
    <p:extLst>
      <p:ext uri="{BB962C8B-B14F-4D97-AF65-F5344CB8AC3E}">
        <p14:creationId xmlns:p14="http://schemas.microsoft.com/office/powerpoint/2010/main" val="27027265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8F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67F16DC-E9A8-B583-0594-20534728AA84}"/>
              </a:ext>
            </a:extLst>
          </p:cNvPr>
          <p:cNvSpPr txBox="1"/>
          <p:nvPr/>
        </p:nvSpPr>
        <p:spPr>
          <a:xfrm>
            <a:off x="609600" y="406399"/>
            <a:ext cx="10985500" cy="609600"/>
          </a:xfrm>
          <a:prstGeom prst="rect">
            <a:avLst/>
          </a:prstGeom>
          <a:noFill/>
        </p:spPr>
        <p:txBody>
          <a:bodyPr vert="horz" wrap="square" lIns="0" tIns="0" rIns="0" bIns="0" rtlCol="0">
            <a:noAutofit/>
          </a:bodyPr>
          <a:lstStyle/>
          <a:p>
            <a:pPr>
              <a:spcAft>
                <a:spcPts val="800"/>
              </a:spcAft>
            </a:pPr>
            <a:r>
              <a:rPr lang="en-IN" sz="3200" b="1">
                <a:solidFill>
                  <a:srgbClr val="20382A"/>
                </a:solidFill>
                <a:latin typeface="Arial" panose="020B0604020202020204" pitchFamily="34" charset="0"/>
              </a:rPr>
              <a:t>Recognition results</a:t>
            </a:r>
          </a:p>
        </p:txBody>
      </p:sp>
      <p:sp>
        <p:nvSpPr>
          <p:cNvPr id="3" name="TextBox 2">
            <a:extLst>
              <a:ext uri="{FF2B5EF4-FFF2-40B4-BE49-F238E27FC236}">
                <a16:creationId xmlns:a16="http://schemas.microsoft.com/office/drawing/2014/main" id="{477D7371-2124-813E-6C93-DF86E6823E16}"/>
              </a:ext>
            </a:extLst>
          </p:cNvPr>
          <p:cNvSpPr txBox="1"/>
          <p:nvPr/>
        </p:nvSpPr>
        <p:spPr>
          <a:xfrm>
            <a:off x="622300" y="1142999"/>
            <a:ext cx="10858500" cy="558800"/>
          </a:xfrm>
          <a:prstGeom prst="rect">
            <a:avLst/>
          </a:prstGeom>
          <a:noFill/>
        </p:spPr>
        <p:txBody>
          <a:bodyPr vert="horz" wrap="square" lIns="0" tIns="0" rIns="0" bIns="0" rtlCol="0">
            <a:noAutofit/>
          </a:bodyPr>
          <a:lstStyle/>
          <a:p>
            <a:pPr>
              <a:spcAft>
                <a:spcPts val="800"/>
              </a:spcAft>
            </a:pPr>
            <a:r>
              <a:rPr lang="en-US" sz="1500">
                <a:solidFill>
                  <a:srgbClr val="72806B"/>
                </a:solidFill>
                <a:latin typeface="Arial" panose="020B0604020202020204" pitchFamily="34" charset="0"/>
              </a:rPr>
              <a:t>Same corrected split; every test image contributes, including review cases</a:t>
            </a:r>
            <a:endParaRPr lang="en-IN" sz="1500">
              <a:solidFill>
                <a:srgbClr val="72806B"/>
              </a:solidFill>
              <a:latin typeface="Arial" panose="020B0604020202020204" pitchFamily="34" charset="0"/>
            </a:endParaRPr>
          </a:p>
        </p:txBody>
      </p:sp>
      <p:graphicFrame>
        <p:nvGraphicFramePr>
          <p:cNvPr id="4" name="Table 3">
            <a:extLst>
              <a:ext uri="{FF2B5EF4-FFF2-40B4-BE49-F238E27FC236}">
                <a16:creationId xmlns:a16="http://schemas.microsoft.com/office/drawing/2014/main" id="{B508A277-545E-17A1-C5C0-5D37E204B9BD}"/>
              </a:ext>
            </a:extLst>
          </p:cNvPr>
          <p:cNvGraphicFramePr>
            <a:graphicFrameLocks noGrp="1"/>
          </p:cNvGraphicFramePr>
          <p:nvPr>
            <p:extLst>
              <p:ext uri="{D42A27DB-BD31-4B8C-83A1-F6EECF244321}">
                <p14:modId xmlns:p14="http://schemas.microsoft.com/office/powerpoint/2010/main" val="2390203610"/>
              </p:ext>
            </p:extLst>
          </p:nvPr>
        </p:nvGraphicFramePr>
        <p:xfrm>
          <a:off x="635000" y="1905000"/>
          <a:ext cx="10922000" cy="3365500"/>
        </p:xfrm>
        <a:graphic>
          <a:graphicData uri="http://schemas.openxmlformats.org/drawingml/2006/table">
            <a:tbl>
              <a:tblPr firstRow="1" bandRow="1">
                <a:tableStyleId>{5C22544A-7EE6-4342-B048-85BDC9FD1C3A}</a:tableStyleId>
              </a:tblPr>
              <a:tblGrid>
                <a:gridCol w="3810000">
                  <a:extLst>
                    <a:ext uri="{9D8B030D-6E8A-4147-A177-3AD203B41FA5}">
                      <a16:colId xmlns:a16="http://schemas.microsoft.com/office/drawing/2014/main" val="1403984627"/>
                    </a:ext>
                  </a:extLst>
                </a:gridCol>
                <a:gridCol w="1016000">
                  <a:extLst>
                    <a:ext uri="{9D8B030D-6E8A-4147-A177-3AD203B41FA5}">
                      <a16:colId xmlns:a16="http://schemas.microsoft.com/office/drawing/2014/main" val="431130825"/>
                    </a:ext>
                  </a:extLst>
                </a:gridCol>
                <a:gridCol w="2032000">
                  <a:extLst>
                    <a:ext uri="{9D8B030D-6E8A-4147-A177-3AD203B41FA5}">
                      <a16:colId xmlns:a16="http://schemas.microsoft.com/office/drawing/2014/main" val="123444724"/>
                    </a:ext>
                  </a:extLst>
                </a:gridCol>
                <a:gridCol w="2032000">
                  <a:extLst>
                    <a:ext uri="{9D8B030D-6E8A-4147-A177-3AD203B41FA5}">
                      <a16:colId xmlns:a16="http://schemas.microsoft.com/office/drawing/2014/main" val="416654287"/>
                    </a:ext>
                  </a:extLst>
                </a:gridCol>
                <a:gridCol w="2032000">
                  <a:extLst>
                    <a:ext uri="{9D8B030D-6E8A-4147-A177-3AD203B41FA5}">
                      <a16:colId xmlns:a16="http://schemas.microsoft.com/office/drawing/2014/main" val="2836748067"/>
                    </a:ext>
                  </a:extLst>
                </a:gridCol>
              </a:tblGrid>
              <a:tr h="560917">
                <a:tc>
                  <a:txBody>
                    <a:bodyPr/>
                    <a:lstStyle/>
                    <a:p>
                      <a:r>
                        <a:rPr lang="en-IN" sz="1700" b="1">
                          <a:solidFill>
                            <a:srgbClr val="FFFFFF"/>
                          </a:solidFill>
                          <a:latin typeface="Arial" panose="020B0604020202020204" pitchFamily="34" charset="0"/>
                        </a:rPr>
                        <a:t>Feature</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20382A"/>
                    </a:solidFill>
                  </a:tcPr>
                </a:tc>
                <a:tc>
                  <a:txBody>
                    <a:bodyPr/>
                    <a:lstStyle/>
                    <a:p>
                      <a:r>
                        <a:rPr lang="en-IN" sz="1700" b="1">
                          <a:solidFill>
                            <a:srgbClr val="FFFFFF"/>
                          </a:solidFill>
                          <a:latin typeface="Arial" panose="020B0604020202020204" pitchFamily="34" charset="0"/>
                        </a:rPr>
                        <a:t>C</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20382A"/>
                    </a:solidFill>
                  </a:tcPr>
                </a:tc>
                <a:tc>
                  <a:txBody>
                    <a:bodyPr/>
                    <a:lstStyle/>
                    <a:p>
                      <a:r>
                        <a:rPr lang="en-IN" sz="1700" b="1">
                          <a:solidFill>
                            <a:srgbClr val="FFFFFF"/>
                          </a:solidFill>
                          <a:latin typeface="Arial" panose="020B0604020202020204" pitchFamily="34" charset="0"/>
                        </a:rPr>
                        <a:t>Val. F1</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20382A"/>
                    </a:solidFill>
                  </a:tcPr>
                </a:tc>
                <a:tc>
                  <a:txBody>
                    <a:bodyPr/>
                    <a:lstStyle/>
                    <a:p>
                      <a:r>
                        <a:rPr lang="en-IN" sz="1700" b="1">
                          <a:solidFill>
                            <a:srgbClr val="FFFFFF"/>
                          </a:solidFill>
                          <a:latin typeface="Arial" panose="020B0604020202020204" pitchFamily="34" charset="0"/>
                        </a:rPr>
                        <a:t>Test acc.</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20382A"/>
                    </a:solidFill>
                  </a:tcPr>
                </a:tc>
                <a:tc>
                  <a:txBody>
                    <a:bodyPr/>
                    <a:lstStyle/>
                    <a:p>
                      <a:r>
                        <a:rPr lang="en-IN" sz="1700" b="1">
                          <a:solidFill>
                            <a:srgbClr val="FFFFFF"/>
                          </a:solidFill>
                          <a:latin typeface="Arial" panose="020B0604020202020204" pitchFamily="34" charset="0"/>
                        </a:rPr>
                        <a:t>Test F1</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20382A"/>
                    </a:solidFill>
                  </a:tcPr>
                </a:tc>
                <a:extLst>
                  <a:ext uri="{0D108BD9-81ED-4DB2-BD59-A6C34878D82A}">
                    <a16:rowId xmlns:a16="http://schemas.microsoft.com/office/drawing/2014/main" val="2302773172"/>
                  </a:ext>
                </a:extLst>
              </a:tr>
              <a:tr h="560917">
                <a:tc>
                  <a:txBody>
                    <a:bodyPr/>
                    <a:lstStyle/>
                    <a:p>
                      <a:r>
                        <a:rPr lang="en-IN" sz="1700" b="0">
                          <a:solidFill>
                            <a:srgbClr val="20382A"/>
                          </a:solidFill>
                          <a:latin typeface="Arial" panose="020B0604020202020204" pitchFamily="34" charset="0"/>
                        </a:rPr>
                        <a:t>HOG</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700" b="0">
                          <a:solidFill>
                            <a:srgbClr val="20382A"/>
                          </a:solidFill>
                          <a:latin typeface="Arial" panose="020B0604020202020204" pitchFamily="34" charset="0"/>
                        </a:rPr>
                        <a:t>0.1</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700" b="0">
                          <a:solidFill>
                            <a:srgbClr val="20382A"/>
                          </a:solidFill>
                          <a:latin typeface="Arial" panose="020B0604020202020204" pitchFamily="34" charset="0"/>
                        </a:rPr>
                        <a:t>49.4%</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700" b="0">
                          <a:solidFill>
                            <a:srgbClr val="20382A"/>
                          </a:solidFill>
                          <a:latin typeface="Arial" panose="020B0604020202020204" pitchFamily="34" charset="0"/>
                        </a:rPr>
                        <a:t>35.3%</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700" b="0">
                          <a:solidFill>
                            <a:srgbClr val="20382A"/>
                          </a:solidFill>
                          <a:latin typeface="Arial" panose="020B0604020202020204" pitchFamily="34" charset="0"/>
                        </a:rPr>
                        <a:t>34.5%</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extLst>
                  <a:ext uri="{0D108BD9-81ED-4DB2-BD59-A6C34878D82A}">
                    <a16:rowId xmlns:a16="http://schemas.microsoft.com/office/drawing/2014/main" val="826111151"/>
                  </a:ext>
                </a:extLst>
              </a:tr>
              <a:tr h="560917">
                <a:tc>
                  <a:txBody>
                    <a:bodyPr/>
                    <a:lstStyle/>
                    <a:p>
                      <a:r>
                        <a:rPr lang="en-IN" sz="1700" b="0">
                          <a:solidFill>
                            <a:srgbClr val="20382A"/>
                          </a:solidFill>
                          <a:latin typeface="Arial" panose="020B0604020202020204" pitchFamily="34" charset="0"/>
                        </a:rPr>
                        <a:t>CNN global</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IN" sz="1700" b="0">
                          <a:solidFill>
                            <a:srgbClr val="20382A"/>
                          </a:solidFill>
                          <a:latin typeface="Arial" panose="020B0604020202020204" pitchFamily="34" charset="0"/>
                        </a:rPr>
                        <a:t>10</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IN" sz="1700" b="0">
                          <a:solidFill>
                            <a:srgbClr val="20382A"/>
                          </a:solidFill>
                          <a:latin typeface="Arial" panose="020B0604020202020204" pitchFamily="34" charset="0"/>
                        </a:rPr>
                        <a:t>77.1%</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IN" sz="1700" b="0">
                          <a:solidFill>
                            <a:srgbClr val="20382A"/>
                          </a:solidFill>
                          <a:latin typeface="Arial" panose="020B0604020202020204" pitchFamily="34" charset="0"/>
                        </a:rPr>
                        <a:t>63.0%</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IN" sz="1700" b="0">
                          <a:solidFill>
                            <a:srgbClr val="20382A"/>
                          </a:solidFill>
                          <a:latin typeface="Arial" panose="020B0604020202020204" pitchFamily="34" charset="0"/>
                        </a:rPr>
                        <a:t>62.9%</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extLst>
                  <a:ext uri="{0D108BD9-81ED-4DB2-BD59-A6C34878D82A}">
                    <a16:rowId xmlns:a16="http://schemas.microsoft.com/office/drawing/2014/main" val="407550352"/>
                  </a:ext>
                </a:extLst>
              </a:tr>
              <a:tr h="560917">
                <a:tc>
                  <a:txBody>
                    <a:bodyPr/>
                    <a:lstStyle/>
                    <a:p>
                      <a:r>
                        <a:rPr lang="en-IN" sz="1700" b="0">
                          <a:solidFill>
                            <a:srgbClr val="20382A"/>
                          </a:solidFill>
                          <a:latin typeface="Arial" panose="020B0604020202020204" pitchFamily="34" charset="0"/>
                        </a:rPr>
                        <a:t>CNN crop</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700" b="0">
                          <a:solidFill>
                            <a:srgbClr val="20382A"/>
                          </a:solidFill>
                          <a:latin typeface="Arial" panose="020B0604020202020204" pitchFamily="34" charset="0"/>
                        </a:rPr>
                        <a:t>10</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700" b="0">
                          <a:solidFill>
                            <a:srgbClr val="20382A"/>
                          </a:solidFill>
                          <a:latin typeface="Arial" panose="020B0604020202020204" pitchFamily="34" charset="0"/>
                        </a:rPr>
                        <a:t>74.8%</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700" b="0">
                          <a:solidFill>
                            <a:srgbClr val="20382A"/>
                          </a:solidFill>
                          <a:latin typeface="Arial" panose="020B0604020202020204" pitchFamily="34" charset="0"/>
                        </a:rPr>
                        <a:t>62.4%</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700" b="0">
                          <a:solidFill>
                            <a:srgbClr val="20382A"/>
                          </a:solidFill>
                          <a:latin typeface="Arial" panose="020B0604020202020204" pitchFamily="34" charset="0"/>
                        </a:rPr>
                        <a:t>61.7%</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extLst>
                  <a:ext uri="{0D108BD9-81ED-4DB2-BD59-A6C34878D82A}">
                    <a16:rowId xmlns:a16="http://schemas.microsoft.com/office/drawing/2014/main" val="510581478"/>
                  </a:ext>
                </a:extLst>
              </a:tr>
              <a:tr h="560917">
                <a:tc>
                  <a:txBody>
                    <a:bodyPr/>
                    <a:lstStyle/>
                    <a:p>
                      <a:r>
                        <a:rPr lang="en-IN" sz="1700" b="0">
                          <a:solidFill>
                            <a:srgbClr val="20382A"/>
                          </a:solidFill>
                          <a:latin typeface="Arial" panose="020B0604020202020204" pitchFamily="34" charset="0"/>
                        </a:rPr>
                        <a:t>Concatenation</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IN" sz="1700" b="0">
                          <a:solidFill>
                            <a:srgbClr val="20382A"/>
                          </a:solidFill>
                          <a:latin typeface="Arial" panose="020B0604020202020204" pitchFamily="34" charset="0"/>
                        </a:rPr>
                        <a:t>10</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IN" sz="1700" b="0">
                          <a:solidFill>
                            <a:srgbClr val="20382A"/>
                          </a:solidFill>
                          <a:latin typeface="Arial" panose="020B0604020202020204" pitchFamily="34" charset="0"/>
                        </a:rPr>
                        <a:t>79.6%</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IN" sz="1700" b="0">
                          <a:solidFill>
                            <a:srgbClr val="20382A"/>
                          </a:solidFill>
                          <a:latin typeface="Arial" panose="020B0604020202020204" pitchFamily="34" charset="0"/>
                        </a:rPr>
                        <a:t>65.2%</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IN" sz="1700" b="0">
                          <a:solidFill>
                            <a:srgbClr val="20382A"/>
                          </a:solidFill>
                          <a:latin typeface="Arial" panose="020B0604020202020204" pitchFamily="34" charset="0"/>
                        </a:rPr>
                        <a:t>64.6%</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extLst>
                  <a:ext uri="{0D108BD9-81ED-4DB2-BD59-A6C34878D82A}">
                    <a16:rowId xmlns:a16="http://schemas.microsoft.com/office/drawing/2014/main" val="1336223254"/>
                  </a:ext>
                </a:extLst>
              </a:tr>
              <a:tr h="560917">
                <a:tc>
                  <a:txBody>
                    <a:bodyPr/>
                    <a:lstStyle/>
                    <a:p>
                      <a:r>
                        <a:rPr lang="en-IN" sz="1700" b="0">
                          <a:solidFill>
                            <a:srgbClr val="20382A"/>
                          </a:solidFill>
                          <a:latin typeface="Arial" panose="020B0604020202020204" pitchFamily="34" charset="0"/>
                        </a:rPr>
                        <a:t>Contrast</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700" b="0">
                          <a:solidFill>
                            <a:srgbClr val="20382A"/>
                          </a:solidFill>
                          <a:latin typeface="Arial" panose="020B0604020202020204" pitchFamily="34" charset="0"/>
                        </a:rPr>
                        <a:t>10</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700" b="0">
                          <a:solidFill>
                            <a:srgbClr val="20382A"/>
                          </a:solidFill>
                          <a:latin typeface="Arial" panose="020B0604020202020204" pitchFamily="34" charset="0"/>
                        </a:rPr>
                        <a:t>77.8%</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700" b="0">
                          <a:solidFill>
                            <a:srgbClr val="20382A"/>
                          </a:solidFill>
                          <a:latin typeface="Arial" panose="020B0604020202020204" pitchFamily="34" charset="0"/>
                        </a:rPr>
                        <a:t>65.5%</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700" b="0">
                          <a:solidFill>
                            <a:srgbClr val="20382A"/>
                          </a:solidFill>
                          <a:latin typeface="Arial" panose="020B0604020202020204" pitchFamily="34" charset="0"/>
                        </a:rPr>
                        <a:t>64.9%</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extLst>
                  <a:ext uri="{0D108BD9-81ED-4DB2-BD59-A6C34878D82A}">
                    <a16:rowId xmlns:a16="http://schemas.microsoft.com/office/drawing/2014/main" val="3429864367"/>
                  </a:ext>
                </a:extLst>
              </a:tr>
            </a:tbl>
          </a:graphicData>
        </a:graphic>
      </p:graphicFrame>
      <p:sp>
        <p:nvSpPr>
          <p:cNvPr id="5" name="TextBox 4">
            <a:extLst>
              <a:ext uri="{FF2B5EF4-FFF2-40B4-BE49-F238E27FC236}">
                <a16:creationId xmlns:a16="http://schemas.microsoft.com/office/drawing/2014/main" id="{2898D917-2511-1486-E907-98233E8BA860}"/>
              </a:ext>
            </a:extLst>
          </p:cNvPr>
          <p:cNvSpPr txBox="1"/>
          <p:nvPr/>
        </p:nvSpPr>
        <p:spPr>
          <a:xfrm>
            <a:off x="635000" y="5702299"/>
            <a:ext cx="10858500" cy="533400"/>
          </a:xfrm>
          <a:prstGeom prst="rect">
            <a:avLst/>
          </a:prstGeom>
          <a:noFill/>
        </p:spPr>
        <p:txBody>
          <a:bodyPr vert="horz" wrap="square" lIns="0" tIns="0" rIns="0" bIns="0" rtlCol="0">
            <a:noAutofit/>
          </a:bodyPr>
          <a:lstStyle/>
          <a:p>
            <a:pPr>
              <a:spcAft>
                <a:spcPts val="800"/>
              </a:spcAft>
            </a:pPr>
            <a:r>
              <a:rPr lang="en-US" sz="1600">
                <a:solidFill>
                  <a:srgbClr val="AF623E"/>
                </a:solidFill>
                <a:latin typeface="Arial" panose="020B0604020202020204" pitchFamily="34" charset="0"/>
              </a:rPr>
              <a:t>HOG is a controlled baseline. Pretrained features help here; contrast adds only three correct images.</a:t>
            </a:r>
            <a:endParaRPr lang="en-IN" sz="1600">
              <a:solidFill>
                <a:srgbClr val="AF623E"/>
              </a:solidFill>
              <a:latin typeface="Arial" panose="020B0604020202020204" pitchFamily="34" charset="0"/>
            </a:endParaRPr>
          </a:p>
        </p:txBody>
      </p:sp>
      <p:sp>
        <p:nvSpPr>
          <p:cNvPr id="6" name="TextBox 5">
            <a:extLst>
              <a:ext uri="{FF2B5EF4-FFF2-40B4-BE49-F238E27FC236}">
                <a16:creationId xmlns:a16="http://schemas.microsoft.com/office/drawing/2014/main" id="{AC7826E2-B5EC-6632-FBA0-796D04871956}"/>
              </a:ext>
            </a:extLst>
          </p:cNvPr>
          <p:cNvSpPr txBox="1"/>
          <p:nvPr/>
        </p:nvSpPr>
        <p:spPr>
          <a:xfrm>
            <a:off x="635000" y="6489700"/>
            <a:ext cx="9525000" cy="190500"/>
          </a:xfrm>
          <a:prstGeom prst="rect">
            <a:avLst/>
          </a:prstGeom>
          <a:noFill/>
        </p:spPr>
        <p:txBody>
          <a:bodyPr vert="horz" wrap="square" lIns="0" tIns="0" rIns="0" bIns="0" rtlCol="0">
            <a:noAutofit/>
          </a:bodyPr>
          <a:lstStyle/>
          <a:p>
            <a:pPr>
              <a:spcAft>
                <a:spcPts val="800"/>
              </a:spcAft>
            </a:pPr>
            <a:r>
              <a:rPr lang="en-IN" sz="800">
                <a:solidFill>
                  <a:srgbClr val="72806B"/>
                </a:solidFill>
                <a:latin typeface="Arial" panose="020B0604020202020204" pitchFamily="34" charset="0"/>
              </a:rPr>
              <a:t>CRICKET SHOT RECOGNITION / EE604</a:t>
            </a:r>
          </a:p>
        </p:txBody>
      </p:sp>
      <p:sp>
        <p:nvSpPr>
          <p:cNvPr id="7" name="TextBox 6">
            <a:extLst>
              <a:ext uri="{FF2B5EF4-FFF2-40B4-BE49-F238E27FC236}">
                <a16:creationId xmlns:a16="http://schemas.microsoft.com/office/drawing/2014/main" id="{8F5E7923-F7CF-5407-C272-CBEEC8E3F4BF}"/>
              </a:ext>
            </a:extLst>
          </p:cNvPr>
          <p:cNvSpPr txBox="1"/>
          <p:nvPr/>
        </p:nvSpPr>
        <p:spPr>
          <a:xfrm>
            <a:off x="11214100" y="6451600"/>
            <a:ext cx="317500" cy="228600"/>
          </a:xfrm>
          <a:prstGeom prst="rect">
            <a:avLst/>
          </a:prstGeom>
          <a:noFill/>
        </p:spPr>
        <p:txBody>
          <a:bodyPr vert="horz" wrap="square" lIns="0" tIns="0" rIns="0" bIns="0" rtlCol="0">
            <a:noAutofit/>
          </a:bodyPr>
          <a:lstStyle/>
          <a:p>
            <a:pPr>
              <a:spcAft>
                <a:spcPts val="800"/>
              </a:spcAft>
            </a:pPr>
            <a:r>
              <a:rPr lang="en-IN" sz="1000">
                <a:solidFill>
                  <a:srgbClr val="72806B"/>
                </a:solidFill>
                <a:latin typeface="Arial" panose="020B0604020202020204" pitchFamily="34" charset="0"/>
              </a:rPr>
              <a:t>9</a:t>
            </a:r>
          </a:p>
        </p:txBody>
      </p:sp>
    </p:spTree>
    <p:extLst>
      <p:ext uri="{BB962C8B-B14F-4D97-AF65-F5344CB8AC3E}">
        <p14:creationId xmlns:p14="http://schemas.microsoft.com/office/powerpoint/2010/main" val="25566599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8F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B4AD9D7-8E71-79A1-60A8-C91925413AD5}"/>
              </a:ext>
            </a:extLst>
          </p:cNvPr>
          <p:cNvSpPr txBox="1"/>
          <p:nvPr/>
        </p:nvSpPr>
        <p:spPr>
          <a:xfrm>
            <a:off x="609600" y="406399"/>
            <a:ext cx="10985500" cy="609600"/>
          </a:xfrm>
          <a:prstGeom prst="rect">
            <a:avLst/>
          </a:prstGeom>
          <a:noFill/>
        </p:spPr>
        <p:txBody>
          <a:bodyPr vert="horz" wrap="square" lIns="0" tIns="0" rIns="0" bIns="0" rtlCol="0">
            <a:noAutofit/>
          </a:bodyPr>
          <a:lstStyle/>
          <a:p>
            <a:pPr>
              <a:spcAft>
                <a:spcPts val="800"/>
              </a:spcAft>
            </a:pPr>
            <a:r>
              <a:rPr lang="en-US" sz="3200" b="1">
                <a:solidFill>
                  <a:srgbClr val="20382A"/>
                </a:solidFill>
                <a:latin typeface="Arial" panose="020B0604020202020204" pitchFamily="34" charset="0"/>
              </a:rPr>
              <a:t>Uncertainty comes from 70 visual groups</a:t>
            </a:r>
            <a:endParaRPr lang="en-IN" sz="3200" b="1">
              <a:solidFill>
                <a:srgbClr val="20382A"/>
              </a:solidFill>
              <a:latin typeface="Arial" panose="020B0604020202020204" pitchFamily="34" charset="0"/>
            </a:endParaRPr>
          </a:p>
        </p:txBody>
      </p:sp>
      <p:sp>
        <p:nvSpPr>
          <p:cNvPr id="3" name="TextBox 2">
            <a:extLst>
              <a:ext uri="{FF2B5EF4-FFF2-40B4-BE49-F238E27FC236}">
                <a16:creationId xmlns:a16="http://schemas.microsoft.com/office/drawing/2014/main" id="{069103D9-AD81-38BF-25F4-5EFD8D975384}"/>
              </a:ext>
            </a:extLst>
          </p:cNvPr>
          <p:cNvSpPr txBox="1"/>
          <p:nvPr/>
        </p:nvSpPr>
        <p:spPr>
          <a:xfrm>
            <a:off x="622300" y="1142999"/>
            <a:ext cx="10858500" cy="558800"/>
          </a:xfrm>
          <a:prstGeom prst="rect">
            <a:avLst/>
          </a:prstGeom>
          <a:noFill/>
        </p:spPr>
        <p:txBody>
          <a:bodyPr vert="horz" wrap="square" lIns="0" tIns="0" rIns="0" bIns="0" rtlCol="0">
            <a:noAutofit/>
          </a:bodyPr>
          <a:lstStyle/>
          <a:p>
            <a:pPr>
              <a:spcAft>
                <a:spcPts val="800"/>
              </a:spcAft>
            </a:pPr>
            <a:r>
              <a:rPr lang="en-US" sz="1500">
                <a:solidFill>
                  <a:srgbClr val="72806B"/>
                </a:solidFill>
                <a:latin typeface="Arial" panose="020B0604020202020204" pitchFamily="34" charset="0"/>
              </a:rPr>
              <a:t>Whole-group bootstrap, 2,000 paired draws, fixed model and split</a:t>
            </a:r>
            <a:endParaRPr lang="en-IN" sz="1500">
              <a:solidFill>
                <a:srgbClr val="72806B"/>
              </a:solidFill>
              <a:latin typeface="Arial" panose="020B0604020202020204" pitchFamily="34" charset="0"/>
            </a:endParaRPr>
          </a:p>
        </p:txBody>
      </p:sp>
      <p:graphicFrame>
        <p:nvGraphicFramePr>
          <p:cNvPr id="4" name="Table 3">
            <a:extLst>
              <a:ext uri="{FF2B5EF4-FFF2-40B4-BE49-F238E27FC236}">
                <a16:creationId xmlns:a16="http://schemas.microsoft.com/office/drawing/2014/main" id="{FEDE8126-AB7E-FA54-2A8B-855C1496243D}"/>
              </a:ext>
            </a:extLst>
          </p:cNvPr>
          <p:cNvGraphicFramePr>
            <a:graphicFrameLocks noGrp="1"/>
          </p:cNvGraphicFramePr>
          <p:nvPr>
            <p:extLst>
              <p:ext uri="{D42A27DB-BD31-4B8C-83A1-F6EECF244321}">
                <p14:modId xmlns:p14="http://schemas.microsoft.com/office/powerpoint/2010/main" val="2037736763"/>
              </p:ext>
            </p:extLst>
          </p:nvPr>
        </p:nvGraphicFramePr>
        <p:xfrm>
          <a:off x="635000" y="1905000"/>
          <a:ext cx="10922000" cy="3111500"/>
        </p:xfrm>
        <a:graphic>
          <a:graphicData uri="http://schemas.openxmlformats.org/drawingml/2006/table">
            <a:tbl>
              <a:tblPr firstRow="1" bandRow="1">
                <a:tableStyleId>{5C22544A-7EE6-4342-B048-85BDC9FD1C3A}</a:tableStyleId>
              </a:tblPr>
              <a:tblGrid>
                <a:gridCol w="3810000">
                  <a:extLst>
                    <a:ext uri="{9D8B030D-6E8A-4147-A177-3AD203B41FA5}">
                      <a16:colId xmlns:a16="http://schemas.microsoft.com/office/drawing/2014/main" val="2649988353"/>
                    </a:ext>
                  </a:extLst>
                </a:gridCol>
                <a:gridCol w="2286000">
                  <a:extLst>
                    <a:ext uri="{9D8B030D-6E8A-4147-A177-3AD203B41FA5}">
                      <a16:colId xmlns:a16="http://schemas.microsoft.com/office/drawing/2014/main" val="1761715499"/>
                    </a:ext>
                  </a:extLst>
                </a:gridCol>
                <a:gridCol w="4826000">
                  <a:extLst>
                    <a:ext uri="{9D8B030D-6E8A-4147-A177-3AD203B41FA5}">
                      <a16:colId xmlns:a16="http://schemas.microsoft.com/office/drawing/2014/main" val="3074253730"/>
                    </a:ext>
                  </a:extLst>
                </a:gridCol>
              </a:tblGrid>
              <a:tr h="518583">
                <a:tc>
                  <a:txBody>
                    <a:bodyPr/>
                    <a:lstStyle/>
                    <a:p>
                      <a:r>
                        <a:rPr lang="en-IN" sz="1700" b="1">
                          <a:solidFill>
                            <a:srgbClr val="FFFFFF"/>
                          </a:solidFill>
                          <a:latin typeface="Arial" panose="020B0604020202020204" pitchFamily="34" charset="0"/>
                        </a:rPr>
                        <a:t>Feature</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20382A"/>
                    </a:solidFill>
                  </a:tcPr>
                </a:tc>
                <a:tc>
                  <a:txBody>
                    <a:bodyPr/>
                    <a:lstStyle/>
                    <a:p>
                      <a:r>
                        <a:rPr lang="en-IN" sz="1700" b="1">
                          <a:solidFill>
                            <a:srgbClr val="FFFFFF"/>
                          </a:solidFill>
                          <a:latin typeface="Arial" panose="020B0604020202020204" pitchFamily="34" charset="0"/>
                        </a:rPr>
                        <a:t>Accuracy</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20382A"/>
                    </a:solidFill>
                  </a:tcPr>
                </a:tc>
                <a:tc>
                  <a:txBody>
                    <a:bodyPr/>
                    <a:lstStyle/>
                    <a:p>
                      <a:r>
                        <a:rPr lang="en-IN" sz="1700" b="1">
                          <a:solidFill>
                            <a:srgbClr val="FFFFFF"/>
                          </a:solidFill>
                          <a:latin typeface="Arial" panose="020B0604020202020204" pitchFamily="34" charset="0"/>
                        </a:rPr>
                        <a:t>Conditional 95% interval</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20382A"/>
                    </a:solidFill>
                  </a:tcPr>
                </a:tc>
                <a:extLst>
                  <a:ext uri="{0D108BD9-81ED-4DB2-BD59-A6C34878D82A}">
                    <a16:rowId xmlns:a16="http://schemas.microsoft.com/office/drawing/2014/main" val="3405473579"/>
                  </a:ext>
                </a:extLst>
              </a:tr>
              <a:tr h="518583">
                <a:tc>
                  <a:txBody>
                    <a:bodyPr/>
                    <a:lstStyle/>
                    <a:p>
                      <a:r>
                        <a:rPr lang="en-IN" sz="1700" b="0">
                          <a:solidFill>
                            <a:srgbClr val="20382A"/>
                          </a:solidFill>
                          <a:latin typeface="Arial" panose="020B0604020202020204" pitchFamily="34" charset="0"/>
                        </a:rPr>
                        <a:t>HOG</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700" b="0">
                          <a:solidFill>
                            <a:srgbClr val="20382A"/>
                          </a:solidFill>
                          <a:latin typeface="Arial" panose="020B0604020202020204" pitchFamily="34" charset="0"/>
                        </a:rPr>
                        <a:t>35.3%</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700" b="0">
                          <a:solidFill>
                            <a:srgbClr val="20382A"/>
                          </a:solidFill>
                          <a:latin typeface="Arial" panose="020B0604020202020204" pitchFamily="34" charset="0"/>
                        </a:rPr>
                        <a:t>25.9 to 48.1%</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extLst>
                  <a:ext uri="{0D108BD9-81ED-4DB2-BD59-A6C34878D82A}">
                    <a16:rowId xmlns:a16="http://schemas.microsoft.com/office/drawing/2014/main" val="1096819625"/>
                  </a:ext>
                </a:extLst>
              </a:tr>
              <a:tr h="518583">
                <a:tc>
                  <a:txBody>
                    <a:bodyPr/>
                    <a:lstStyle/>
                    <a:p>
                      <a:r>
                        <a:rPr lang="en-IN" sz="1700" b="0">
                          <a:solidFill>
                            <a:srgbClr val="20382A"/>
                          </a:solidFill>
                          <a:latin typeface="Arial" panose="020B0604020202020204" pitchFamily="34" charset="0"/>
                        </a:rPr>
                        <a:t>CNN global</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IN" sz="1700" b="0">
                          <a:solidFill>
                            <a:srgbClr val="20382A"/>
                          </a:solidFill>
                          <a:latin typeface="Arial" panose="020B0604020202020204" pitchFamily="34" charset="0"/>
                        </a:rPr>
                        <a:t>63.0%</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IN" sz="1700" b="0">
                          <a:solidFill>
                            <a:srgbClr val="20382A"/>
                          </a:solidFill>
                          <a:latin typeface="Arial" panose="020B0604020202020204" pitchFamily="34" charset="0"/>
                        </a:rPr>
                        <a:t>49.5 to 74.2%</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extLst>
                  <a:ext uri="{0D108BD9-81ED-4DB2-BD59-A6C34878D82A}">
                    <a16:rowId xmlns:a16="http://schemas.microsoft.com/office/drawing/2014/main" val="3045006925"/>
                  </a:ext>
                </a:extLst>
              </a:tr>
              <a:tr h="518583">
                <a:tc>
                  <a:txBody>
                    <a:bodyPr/>
                    <a:lstStyle/>
                    <a:p>
                      <a:r>
                        <a:rPr lang="en-IN" sz="1700" b="0">
                          <a:solidFill>
                            <a:srgbClr val="20382A"/>
                          </a:solidFill>
                          <a:latin typeface="Arial" panose="020B0604020202020204" pitchFamily="34" charset="0"/>
                        </a:rPr>
                        <a:t>CNN crop</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700" b="0">
                          <a:solidFill>
                            <a:srgbClr val="20382A"/>
                          </a:solidFill>
                          <a:latin typeface="Arial" panose="020B0604020202020204" pitchFamily="34" charset="0"/>
                        </a:rPr>
                        <a:t>62.4%</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700" b="0">
                          <a:solidFill>
                            <a:srgbClr val="20382A"/>
                          </a:solidFill>
                          <a:latin typeface="Arial" panose="020B0604020202020204" pitchFamily="34" charset="0"/>
                        </a:rPr>
                        <a:t>45.3 to 76.7%</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extLst>
                  <a:ext uri="{0D108BD9-81ED-4DB2-BD59-A6C34878D82A}">
                    <a16:rowId xmlns:a16="http://schemas.microsoft.com/office/drawing/2014/main" val="4086029323"/>
                  </a:ext>
                </a:extLst>
              </a:tr>
              <a:tr h="518583">
                <a:tc>
                  <a:txBody>
                    <a:bodyPr/>
                    <a:lstStyle/>
                    <a:p>
                      <a:r>
                        <a:rPr lang="en-IN" sz="1700" b="0">
                          <a:solidFill>
                            <a:srgbClr val="20382A"/>
                          </a:solidFill>
                          <a:latin typeface="Arial" panose="020B0604020202020204" pitchFamily="34" charset="0"/>
                        </a:rPr>
                        <a:t>Concatenation</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IN" sz="1700" b="0">
                          <a:solidFill>
                            <a:srgbClr val="20382A"/>
                          </a:solidFill>
                          <a:latin typeface="Arial" panose="020B0604020202020204" pitchFamily="34" charset="0"/>
                        </a:rPr>
                        <a:t>65.2%</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IN" sz="1700" b="0">
                          <a:solidFill>
                            <a:srgbClr val="20382A"/>
                          </a:solidFill>
                          <a:latin typeface="Arial" panose="020B0604020202020204" pitchFamily="34" charset="0"/>
                        </a:rPr>
                        <a:t>48.9 to 77.9%</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extLst>
                  <a:ext uri="{0D108BD9-81ED-4DB2-BD59-A6C34878D82A}">
                    <a16:rowId xmlns:a16="http://schemas.microsoft.com/office/drawing/2014/main" val="6643461"/>
                  </a:ext>
                </a:extLst>
              </a:tr>
              <a:tr h="518583">
                <a:tc>
                  <a:txBody>
                    <a:bodyPr/>
                    <a:lstStyle/>
                    <a:p>
                      <a:r>
                        <a:rPr lang="en-IN" sz="1700" b="0">
                          <a:solidFill>
                            <a:srgbClr val="20382A"/>
                          </a:solidFill>
                          <a:latin typeface="Arial" panose="020B0604020202020204" pitchFamily="34" charset="0"/>
                        </a:rPr>
                        <a:t>Contrast</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700" b="0">
                          <a:solidFill>
                            <a:srgbClr val="20382A"/>
                          </a:solidFill>
                          <a:latin typeface="Arial" panose="020B0604020202020204" pitchFamily="34" charset="0"/>
                        </a:rPr>
                        <a:t>65.5%</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700" b="0">
                          <a:solidFill>
                            <a:srgbClr val="20382A"/>
                          </a:solidFill>
                          <a:latin typeface="Arial" panose="020B0604020202020204" pitchFamily="34" charset="0"/>
                        </a:rPr>
                        <a:t>49.9 to 77.6%</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extLst>
                  <a:ext uri="{0D108BD9-81ED-4DB2-BD59-A6C34878D82A}">
                    <a16:rowId xmlns:a16="http://schemas.microsoft.com/office/drawing/2014/main" val="1876782901"/>
                  </a:ext>
                </a:extLst>
              </a:tr>
            </a:tbl>
          </a:graphicData>
        </a:graphic>
      </p:graphicFrame>
      <p:sp>
        <p:nvSpPr>
          <p:cNvPr id="5" name="TextBox 4">
            <a:extLst>
              <a:ext uri="{FF2B5EF4-FFF2-40B4-BE49-F238E27FC236}">
                <a16:creationId xmlns:a16="http://schemas.microsoft.com/office/drawing/2014/main" id="{D49EEE81-39F8-FEDE-63A9-65ACC80DCFFA}"/>
              </a:ext>
            </a:extLst>
          </p:cNvPr>
          <p:cNvSpPr txBox="1"/>
          <p:nvPr/>
        </p:nvSpPr>
        <p:spPr>
          <a:xfrm>
            <a:off x="635000" y="5702299"/>
            <a:ext cx="10858500" cy="533400"/>
          </a:xfrm>
          <a:prstGeom prst="rect">
            <a:avLst/>
          </a:prstGeom>
          <a:noFill/>
        </p:spPr>
        <p:txBody>
          <a:bodyPr vert="horz" wrap="square" lIns="0" tIns="0" rIns="0" bIns="0" rtlCol="0">
            <a:noAutofit/>
          </a:bodyPr>
          <a:lstStyle/>
          <a:p>
            <a:pPr>
              <a:spcAft>
                <a:spcPts val="800"/>
              </a:spcAft>
            </a:pPr>
            <a:r>
              <a:rPr lang="en-US" sz="1600">
                <a:solidFill>
                  <a:srgbClr val="AF623E"/>
                </a:solidFill>
                <a:latin typeface="Arial" panose="020B0604020202020204" pitchFamily="34" charset="0"/>
              </a:rPr>
              <a:t>Contrast minus concatenation: +0.32 points; interval -1.46 to +2.38. No clear advantage.</a:t>
            </a:r>
            <a:endParaRPr lang="en-IN" sz="1600">
              <a:solidFill>
                <a:srgbClr val="AF623E"/>
              </a:solidFill>
              <a:latin typeface="Arial" panose="020B0604020202020204" pitchFamily="34" charset="0"/>
            </a:endParaRPr>
          </a:p>
        </p:txBody>
      </p:sp>
      <p:sp>
        <p:nvSpPr>
          <p:cNvPr id="6" name="TextBox 5">
            <a:extLst>
              <a:ext uri="{FF2B5EF4-FFF2-40B4-BE49-F238E27FC236}">
                <a16:creationId xmlns:a16="http://schemas.microsoft.com/office/drawing/2014/main" id="{88EF36A9-2D50-7DE1-E339-8471EA02B10E}"/>
              </a:ext>
            </a:extLst>
          </p:cNvPr>
          <p:cNvSpPr txBox="1"/>
          <p:nvPr/>
        </p:nvSpPr>
        <p:spPr>
          <a:xfrm>
            <a:off x="635000" y="6489700"/>
            <a:ext cx="9525000" cy="190500"/>
          </a:xfrm>
          <a:prstGeom prst="rect">
            <a:avLst/>
          </a:prstGeom>
          <a:noFill/>
        </p:spPr>
        <p:txBody>
          <a:bodyPr vert="horz" wrap="square" lIns="0" tIns="0" rIns="0" bIns="0" rtlCol="0">
            <a:noAutofit/>
          </a:bodyPr>
          <a:lstStyle/>
          <a:p>
            <a:pPr>
              <a:spcAft>
                <a:spcPts val="800"/>
              </a:spcAft>
            </a:pPr>
            <a:r>
              <a:rPr lang="en-IN" sz="800">
                <a:solidFill>
                  <a:srgbClr val="72806B"/>
                </a:solidFill>
                <a:latin typeface="Arial" panose="020B0604020202020204" pitchFamily="34" charset="0"/>
              </a:rPr>
              <a:t>CRICKET SHOT RECOGNITION / EE604</a:t>
            </a:r>
          </a:p>
        </p:txBody>
      </p:sp>
      <p:sp>
        <p:nvSpPr>
          <p:cNvPr id="7" name="TextBox 6">
            <a:extLst>
              <a:ext uri="{FF2B5EF4-FFF2-40B4-BE49-F238E27FC236}">
                <a16:creationId xmlns:a16="http://schemas.microsoft.com/office/drawing/2014/main" id="{347F5C57-9E97-5439-1E80-D0032DF4FFBC}"/>
              </a:ext>
            </a:extLst>
          </p:cNvPr>
          <p:cNvSpPr txBox="1"/>
          <p:nvPr/>
        </p:nvSpPr>
        <p:spPr>
          <a:xfrm>
            <a:off x="11214100" y="6451600"/>
            <a:ext cx="317500" cy="228600"/>
          </a:xfrm>
          <a:prstGeom prst="rect">
            <a:avLst/>
          </a:prstGeom>
          <a:noFill/>
        </p:spPr>
        <p:txBody>
          <a:bodyPr vert="horz" wrap="square" lIns="0" tIns="0" rIns="0" bIns="0" rtlCol="0">
            <a:noAutofit/>
          </a:bodyPr>
          <a:lstStyle/>
          <a:p>
            <a:pPr>
              <a:spcAft>
                <a:spcPts val="800"/>
              </a:spcAft>
            </a:pPr>
            <a:r>
              <a:rPr lang="en-IN" sz="1000">
                <a:solidFill>
                  <a:srgbClr val="72806B"/>
                </a:solidFill>
                <a:latin typeface="Arial" panose="020B0604020202020204" pitchFamily="34" charset="0"/>
              </a:rPr>
              <a:t>10</a:t>
            </a:r>
          </a:p>
        </p:txBody>
      </p:sp>
    </p:spTree>
    <p:extLst>
      <p:ext uri="{BB962C8B-B14F-4D97-AF65-F5344CB8AC3E}">
        <p14:creationId xmlns:p14="http://schemas.microsoft.com/office/powerpoint/2010/main" val="7254907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8F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A51C51-CCDC-7F45-750E-64025DF14F95}"/>
              </a:ext>
            </a:extLst>
          </p:cNvPr>
          <p:cNvSpPr txBox="1"/>
          <p:nvPr/>
        </p:nvSpPr>
        <p:spPr>
          <a:xfrm>
            <a:off x="609600" y="406399"/>
            <a:ext cx="10985500" cy="609600"/>
          </a:xfrm>
          <a:prstGeom prst="rect">
            <a:avLst/>
          </a:prstGeom>
          <a:noFill/>
        </p:spPr>
        <p:txBody>
          <a:bodyPr vert="horz" wrap="square" lIns="0" tIns="0" rIns="0" bIns="0" rtlCol="0">
            <a:noAutofit/>
          </a:bodyPr>
          <a:lstStyle/>
          <a:p>
            <a:pPr>
              <a:spcAft>
                <a:spcPts val="800"/>
              </a:spcAft>
            </a:pPr>
            <a:r>
              <a:rPr lang="en-IN" sz="3200" b="1">
                <a:solidFill>
                  <a:srgbClr val="20382A"/>
                </a:solidFill>
                <a:latin typeface="Arial" panose="020B0604020202020204" pitchFamily="34" charset="0"/>
              </a:rPr>
              <a:t>Class errors</a:t>
            </a:r>
          </a:p>
        </p:txBody>
      </p:sp>
      <p:sp>
        <p:nvSpPr>
          <p:cNvPr id="3" name="TextBox 2">
            <a:extLst>
              <a:ext uri="{FF2B5EF4-FFF2-40B4-BE49-F238E27FC236}">
                <a16:creationId xmlns:a16="http://schemas.microsoft.com/office/drawing/2014/main" id="{CEA0BE99-1F89-5735-A9E9-C0E36289DDB0}"/>
              </a:ext>
            </a:extLst>
          </p:cNvPr>
          <p:cNvSpPr txBox="1"/>
          <p:nvPr/>
        </p:nvSpPr>
        <p:spPr>
          <a:xfrm>
            <a:off x="622300" y="1142999"/>
            <a:ext cx="10858500" cy="558800"/>
          </a:xfrm>
          <a:prstGeom prst="rect">
            <a:avLst/>
          </a:prstGeom>
          <a:noFill/>
        </p:spPr>
        <p:txBody>
          <a:bodyPr vert="horz" wrap="square" lIns="0" tIns="0" rIns="0" bIns="0" rtlCol="0">
            <a:noAutofit/>
          </a:bodyPr>
          <a:lstStyle/>
          <a:p>
            <a:pPr>
              <a:spcAft>
                <a:spcPts val="800"/>
              </a:spcAft>
            </a:pPr>
            <a:r>
              <a:rPr lang="en-US" sz="1500">
                <a:solidFill>
                  <a:srgbClr val="72806B"/>
                </a:solidFill>
                <a:latin typeface="Arial" panose="020B0604020202020204" pitchFamily="34" charset="0"/>
              </a:rPr>
              <a:t>Contrast confusion counts; rows are dataset labels</a:t>
            </a:r>
            <a:endParaRPr lang="en-IN" sz="1500">
              <a:solidFill>
                <a:srgbClr val="72806B"/>
              </a:solidFill>
              <a:latin typeface="Arial" panose="020B0604020202020204" pitchFamily="34" charset="0"/>
            </a:endParaRPr>
          </a:p>
        </p:txBody>
      </p:sp>
      <p:graphicFrame>
        <p:nvGraphicFramePr>
          <p:cNvPr id="4" name="Table 3">
            <a:extLst>
              <a:ext uri="{FF2B5EF4-FFF2-40B4-BE49-F238E27FC236}">
                <a16:creationId xmlns:a16="http://schemas.microsoft.com/office/drawing/2014/main" id="{775560BE-3BF2-FFA4-EAC1-0C9AAB751A20}"/>
              </a:ext>
            </a:extLst>
          </p:cNvPr>
          <p:cNvGraphicFramePr>
            <a:graphicFrameLocks noGrp="1"/>
          </p:cNvGraphicFramePr>
          <p:nvPr>
            <p:extLst>
              <p:ext uri="{D42A27DB-BD31-4B8C-83A1-F6EECF244321}">
                <p14:modId xmlns:p14="http://schemas.microsoft.com/office/powerpoint/2010/main" val="1942794517"/>
              </p:ext>
            </p:extLst>
          </p:nvPr>
        </p:nvGraphicFramePr>
        <p:xfrm>
          <a:off x="635000" y="1905000"/>
          <a:ext cx="10922000" cy="3429000"/>
        </p:xfrm>
        <a:graphic>
          <a:graphicData uri="http://schemas.openxmlformats.org/drawingml/2006/table">
            <a:tbl>
              <a:tblPr firstRow="1" bandRow="1">
                <a:tableStyleId>{5C22544A-7EE6-4342-B048-85BDC9FD1C3A}</a:tableStyleId>
              </a:tblPr>
              <a:tblGrid>
                <a:gridCol w="3302000">
                  <a:extLst>
                    <a:ext uri="{9D8B030D-6E8A-4147-A177-3AD203B41FA5}">
                      <a16:colId xmlns:a16="http://schemas.microsoft.com/office/drawing/2014/main" val="2739273257"/>
                    </a:ext>
                  </a:extLst>
                </a:gridCol>
                <a:gridCol w="1905000">
                  <a:extLst>
                    <a:ext uri="{9D8B030D-6E8A-4147-A177-3AD203B41FA5}">
                      <a16:colId xmlns:a16="http://schemas.microsoft.com/office/drawing/2014/main" val="65077783"/>
                    </a:ext>
                  </a:extLst>
                </a:gridCol>
                <a:gridCol w="1905000">
                  <a:extLst>
                    <a:ext uri="{9D8B030D-6E8A-4147-A177-3AD203B41FA5}">
                      <a16:colId xmlns:a16="http://schemas.microsoft.com/office/drawing/2014/main" val="941637770"/>
                    </a:ext>
                  </a:extLst>
                </a:gridCol>
                <a:gridCol w="1905000">
                  <a:extLst>
                    <a:ext uri="{9D8B030D-6E8A-4147-A177-3AD203B41FA5}">
                      <a16:colId xmlns:a16="http://schemas.microsoft.com/office/drawing/2014/main" val="1429278253"/>
                    </a:ext>
                  </a:extLst>
                </a:gridCol>
                <a:gridCol w="1905000">
                  <a:extLst>
                    <a:ext uri="{9D8B030D-6E8A-4147-A177-3AD203B41FA5}">
                      <a16:colId xmlns:a16="http://schemas.microsoft.com/office/drawing/2014/main" val="1817886993"/>
                    </a:ext>
                  </a:extLst>
                </a:gridCol>
              </a:tblGrid>
              <a:tr h="685800">
                <a:tc>
                  <a:txBody>
                    <a:bodyPr/>
                    <a:lstStyle/>
                    <a:p>
                      <a:r>
                        <a:rPr lang="en-IN" sz="1900" b="1">
                          <a:solidFill>
                            <a:srgbClr val="FFFFFF"/>
                          </a:solidFill>
                          <a:latin typeface="Arial" panose="020B0604020202020204" pitchFamily="34" charset="0"/>
                        </a:rPr>
                        <a:t>True / predicted</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20382A"/>
                    </a:solidFill>
                  </a:tcPr>
                </a:tc>
                <a:tc>
                  <a:txBody>
                    <a:bodyPr/>
                    <a:lstStyle/>
                    <a:p>
                      <a:r>
                        <a:rPr lang="en-IN" sz="1900" b="1">
                          <a:solidFill>
                            <a:srgbClr val="FFFFFF"/>
                          </a:solidFill>
                          <a:latin typeface="Arial" panose="020B0604020202020204" pitchFamily="34" charset="0"/>
                        </a:rPr>
                        <a:t>Drive</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20382A"/>
                    </a:solidFill>
                  </a:tcPr>
                </a:tc>
                <a:tc>
                  <a:txBody>
                    <a:bodyPr/>
                    <a:lstStyle/>
                    <a:p>
                      <a:r>
                        <a:rPr lang="en-IN" sz="1900" b="1">
                          <a:solidFill>
                            <a:srgbClr val="FFFFFF"/>
                          </a:solidFill>
                          <a:latin typeface="Arial" panose="020B0604020202020204" pitchFamily="34" charset="0"/>
                        </a:rPr>
                        <a:t>Glance/flick</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20382A"/>
                    </a:solidFill>
                  </a:tcPr>
                </a:tc>
                <a:tc>
                  <a:txBody>
                    <a:bodyPr/>
                    <a:lstStyle/>
                    <a:p>
                      <a:r>
                        <a:rPr lang="en-IN" sz="1900" b="1">
                          <a:solidFill>
                            <a:srgbClr val="FFFFFF"/>
                          </a:solidFill>
                          <a:latin typeface="Arial" panose="020B0604020202020204" pitchFamily="34" charset="0"/>
                        </a:rPr>
                        <a:t>Pull</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20382A"/>
                    </a:solidFill>
                  </a:tcPr>
                </a:tc>
                <a:tc>
                  <a:txBody>
                    <a:bodyPr/>
                    <a:lstStyle/>
                    <a:p>
                      <a:r>
                        <a:rPr lang="en-IN" sz="1900" b="1">
                          <a:solidFill>
                            <a:srgbClr val="FFFFFF"/>
                          </a:solidFill>
                          <a:latin typeface="Arial" panose="020B0604020202020204" pitchFamily="34" charset="0"/>
                        </a:rPr>
                        <a:t>Sweep</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20382A"/>
                    </a:solidFill>
                  </a:tcPr>
                </a:tc>
                <a:extLst>
                  <a:ext uri="{0D108BD9-81ED-4DB2-BD59-A6C34878D82A}">
                    <a16:rowId xmlns:a16="http://schemas.microsoft.com/office/drawing/2014/main" val="4169113435"/>
                  </a:ext>
                </a:extLst>
              </a:tr>
              <a:tr h="685800">
                <a:tc>
                  <a:txBody>
                    <a:bodyPr/>
                    <a:lstStyle/>
                    <a:p>
                      <a:r>
                        <a:rPr lang="en-IN" sz="1900" b="0">
                          <a:solidFill>
                            <a:srgbClr val="20382A"/>
                          </a:solidFill>
                          <a:latin typeface="Arial" panose="020B0604020202020204" pitchFamily="34" charset="0"/>
                        </a:rPr>
                        <a:t>Drive</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900" b="0">
                          <a:solidFill>
                            <a:srgbClr val="FFFFFF"/>
                          </a:solidFill>
                          <a:latin typeface="Arial" panose="020B0604020202020204" pitchFamily="34" charset="0"/>
                        </a:rPr>
                        <a:t>161</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869F82"/>
                    </a:solidFill>
                  </a:tcPr>
                </a:tc>
                <a:tc>
                  <a:txBody>
                    <a:bodyPr/>
                    <a:lstStyle/>
                    <a:p>
                      <a:r>
                        <a:rPr lang="en-IN" sz="1900" b="0">
                          <a:solidFill>
                            <a:srgbClr val="20382A"/>
                          </a:solidFill>
                          <a:latin typeface="Arial" panose="020B0604020202020204" pitchFamily="34" charset="0"/>
                        </a:rPr>
                        <a:t>27</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3E9DC"/>
                    </a:solidFill>
                  </a:tcPr>
                </a:tc>
                <a:tc>
                  <a:txBody>
                    <a:bodyPr/>
                    <a:lstStyle/>
                    <a:p>
                      <a:r>
                        <a:rPr lang="en-IN" sz="1900" b="0">
                          <a:solidFill>
                            <a:srgbClr val="20382A"/>
                          </a:solidFill>
                          <a:latin typeface="Arial" panose="020B0604020202020204" pitchFamily="34" charset="0"/>
                        </a:rPr>
                        <a:t>36</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DDE4D6"/>
                    </a:solidFill>
                  </a:tcPr>
                </a:tc>
                <a:tc>
                  <a:txBody>
                    <a:bodyPr/>
                    <a:lstStyle/>
                    <a:p>
                      <a:r>
                        <a:rPr lang="en-IN" sz="1900" b="0">
                          <a:solidFill>
                            <a:srgbClr val="20382A"/>
                          </a:solidFill>
                          <a:latin typeface="Arial" panose="020B0604020202020204" pitchFamily="34" charset="0"/>
                        </a:rPr>
                        <a:t>21</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7ECE0"/>
                    </a:solidFill>
                  </a:tcPr>
                </a:tc>
                <a:extLst>
                  <a:ext uri="{0D108BD9-81ED-4DB2-BD59-A6C34878D82A}">
                    <a16:rowId xmlns:a16="http://schemas.microsoft.com/office/drawing/2014/main" val="3382521347"/>
                  </a:ext>
                </a:extLst>
              </a:tr>
              <a:tr h="685800">
                <a:tc>
                  <a:txBody>
                    <a:bodyPr/>
                    <a:lstStyle/>
                    <a:p>
                      <a:r>
                        <a:rPr lang="en-IN" sz="1900" b="0">
                          <a:solidFill>
                            <a:srgbClr val="20382A"/>
                          </a:solidFill>
                          <a:latin typeface="Arial" panose="020B0604020202020204" pitchFamily="34" charset="0"/>
                        </a:rPr>
                        <a:t>Glance / flick</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IN" sz="1900" b="0">
                          <a:solidFill>
                            <a:srgbClr val="20382A"/>
                          </a:solidFill>
                          <a:latin typeface="Arial" panose="020B0604020202020204" pitchFamily="34" charset="0"/>
                        </a:rPr>
                        <a:t>80</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B9C8B3"/>
                    </a:solidFill>
                  </a:tcPr>
                </a:tc>
                <a:tc>
                  <a:txBody>
                    <a:bodyPr/>
                    <a:lstStyle/>
                    <a:p>
                      <a:r>
                        <a:rPr lang="en-IN" sz="1900" b="0">
                          <a:solidFill>
                            <a:srgbClr val="20382A"/>
                          </a:solidFill>
                          <a:latin typeface="Arial" panose="020B0604020202020204" pitchFamily="34" charset="0"/>
                        </a:rPr>
                        <a:t>102</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A9BBA3"/>
                    </a:solidFill>
                  </a:tcPr>
                </a:tc>
                <a:tc>
                  <a:txBody>
                    <a:bodyPr/>
                    <a:lstStyle/>
                    <a:p>
                      <a:r>
                        <a:rPr lang="en-IN" sz="1900" b="0">
                          <a:solidFill>
                            <a:srgbClr val="20382A"/>
                          </a:solidFill>
                          <a:latin typeface="Arial" panose="020B0604020202020204" pitchFamily="34" charset="0"/>
                        </a:rPr>
                        <a:t>15</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BEFE3"/>
                    </a:solidFill>
                  </a:tcPr>
                </a:tc>
                <a:tc>
                  <a:txBody>
                    <a:bodyPr/>
                    <a:lstStyle/>
                    <a:p>
                      <a:r>
                        <a:rPr lang="en-IN" sz="1900" b="0">
                          <a:solidFill>
                            <a:srgbClr val="20382A"/>
                          </a:solidFill>
                          <a:latin typeface="Arial" panose="020B0604020202020204" pitchFamily="34" charset="0"/>
                        </a:rPr>
                        <a:t>27</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2E8DA"/>
                    </a:solidFill>
                  </a:tcPr>
                </a:tc>
                <a:extLst>
                  <a:ext uri="{0D108BD9-81ED-4DB2-BD59-A6C34878D82A}">
                    <a16:rowId xmlns:a16="http://schemas.microsoft.com/office/drawing/2014/main" val="503023023"/>
                  </a:ext>
                </a:extLst>
              </a:tr>
              <a:tr h="685800">
                <a:tc>
                  <a:txBody>
                    <a:bodyPr/>
                    <a:lstStyle/>
                    <a:p>
                      <a:r>
                        <a:rPr lang="en-IN" sz="1900" b="0">
                          <a:solidFill>
                            <a:srgbClr val="20382A"/>
                          </a:solidFill>
                          <a:latin typeface="Arial" panose="020B0604020202020204" pitchFamily="34" charset="0"/>
                        </a:rPr>
                        <a:t>Pull</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900" b="0">
                          <a:solidFill>
                            <a:srgbClr val="20382A"/>
                          </a:solidFill>
                          <a:latin typeface="Arial" panose="020B0604020202020204" pitchFamily="34" charset="0"/>
                        </a:rPr>
                        <a:t>36</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DEE5D6"/>
                    </a:solidFill>
                  </a:tcPr>
                </a:tc>
                <a:tc>
                  <a:txBody>
                    <a:bodyPr/>
                    <a:lstStyle/>
                    <a:p>
                      <a:r>
                        <a:rPr lang="en-IN" sz="1900" b="0">
                          <a:solidFill>
                            <a:srgbClr val="20382A"/>
                          </a:solidFill>
                          <a:latin typeface="Arial" panose="020B0604020202020204" pitchFamily="34" charset="0"/>
                        </a:rPr>
                        <a:t>13</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DF1E5"/>
                    </a:solidFill>
                  </a:tcPr>
                </a:tc>
                <a:tc>
                  <a:txBody>
                    <a:bodyPr/>
                    <a:lstStyle/>
                    <a:p>
                      <a:r>
                        <a:rPr lang="en-IN" sz="1900" b="0">
                          <a:solidFill>
                            <a:srgbClr val="FFFFFF"/>
                          </a:solidFill>
                          <a:latin typeface="Arial" panose="020B0604020202020204" pitchFamily="34" charset="0"/>
                        </a:rPr>
                        <a:t>197</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718E6D"/>
                    </a:solidFill>
                  </a:tcPr>
                </a:tc>
                <a:tc>
                  <a:txBody>
                    <a:bodyPr/>
                    <a:lstStyle/>
                    <a:p>
                      <a:r>
                        <a:rPr lang="en-IN" sz="1900" b="0">
                          <a:solidFill>
                            <a:srgbClr val="20382A"/>
                          </a:solidFill>
                          <a:latin typeface="Arial" panose="020B0604020202020204" pitchFamily="34" charset="0"/>
                        </a:rPr>
                        <a:t>6</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2F5EA"/>
                    </a:solidFill>
                  </a:tcPr>
                </a:tc>
                <a:extLst>
                  <a:ext uri="{0D108BD9-81ED-4DB2-BD59-A6C34878D82A}">
                    <a16:rowId xmlns:a16="http://schemas.microsoft.com/office/drawing/2014/main" val="2603615563"/>
                  </a:ext>
                </a:extLst>
              </a:tr>
              <a:tr h="685800">
                <a:tc>
                  <a:txBody>
                    <a:bodyPr/>
                    <a:lstStyle/>
                    <a:p>
                      <a:r>
                        <a:rPr lang="en-IN" sz="1900" b="0">
                          <a:solidFill>
                            <a:srgbClr val="20382A"/>
                          </a:solidFill>
                          <a:latin typeface="Arial" panose="020B0604020202020204" pitchFamily="34" charset="0"/>
                        </a:rPr>
                        <a:t>Sweep</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IN" sz="1900" b="0">
                          <a:solidFill>
                            <a:srgbClr val="20382A"/>
                          </a:solidFill>
                          <a:latin typeface="Arial" panose="020B0604020202020204" pitchFamily="34" charset="0"/>
                        </a:rPr>
                        <a:t>1</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5F7ED"/>
                    </a:solidFill>
                  </a:tcPr>
                </a:tc>
                <a:tc>
                  <a:txBody>
                    <a:bodyPr/>
                    <a:lstStyle/>
                    <a:p>
                      <a:r>
                        <a:rPr lang="en-IN" sz="1900" b="0">
                          <a:solidFill>
                            <a:srgbClr val="20382A"/>
                          </a:solidFill>
                          <a:latin typeface="Arial" panose="020B0604020202020204" pitchFamily="34" charset="0"/>
                        </a:rPr>
                        <a:t>15</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BEFE3"/>
                    </a:solidFill>
                  </a:tcPr>
                </a:tc>
                <a:tc>
                  <a:txBody>
                    <a:bodyPr/>
                    <a:lstStyle/>
                    <a:p>
                      <a:r>
                        <a:rPr lang="en-IN" sz="1900" b="0">
                          <a:solidFill>
                            <a:srgbClr val="20382A"/>
                          </a:solidFill>
                          <a:latin typeface="Arial" panose="020B0604020202020204" pitchFamily="34" charset="0"/>
                        </a:rPr>
                        <a:t>49</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D1DACA"/>
                    </a:solidFill>
                  </a:tcPr>
                </a:tc>
                <a:tc>
                  <a:txBody>
                    <a:bodyPr/>
                    <a:lstStyle/>
                    <a:p>
                      <a:r>
                        <a:rPr lang="en-IN" sz="1900" b="0">
                          <a:solidFill>
                            <a:srgbClr val="FFFFFF"/>
                          </a:solidFill>
                          <a:latin typeface="Arial" panose="020B0604020202020204" pitchFamily="34" charset="0"/>
                        </a:rPr>
                        <a:t>159</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7D9879"/>
                    </a:solidFill>
                  </a:tcPr>
                </a:tc>
                <a:extLst>
                  <a:ext uri="{0D108BD9-81ED-4DB2-BD59-A6C34878D82A}">
                    <a16:rowId xmlns:a16="http://schemas.microsoft.com/office/drawing/2014/main" val="3258060934"/>
                  </a:ext>
                </a:extLst>
              </a:tr>
            </a:tbl>
          </a:graphicData>
        </a:graphic>
      </p:graphicFrame>
      <p:sp>
        <p:nvSpPr>
          <p:cNvPr id="5" name="TextBox 4">
            <a:extLst>
              <a:ext uri="{FF2B5EF4-FFF2-40B4-BE49-F238E27FC236}">
                <a16:creationId xmlns:a16="http://schemas.microsoft.com/office/drawing/2014/main" id="{386335B0-56BF-D565-49A8-02DFDCEFF48E}"/>
              </a:ext>
            </a:extLst>
          </p:cNvPr>
          <p:cNvSpPr txBox="1"/>
          <p:nvPr/>
        </p:nvSpPr>
        <p:spPr>
          <a:xfrm>
            <a:off x="635000" y="5702299"/>
            <a:ext cx="10858500" cy="533400"/>
          </a:xfrm>
          <a:prstGeom prst="rect">
            <a:avLst/>
          </a:prstGeom>
          <a:noFill/>
        </p:spPr>
        <p:txBody>
          <a:bodyPr vert="horz" wrap="square" lIns="0" tIns="0" rIns="0" bIns="0" rtlCol="0">
            <a:noAutofit/>
          </a:bodyPr>
          <a:lstStyle/>
          <a:p>
            <a:pPr>
              <a:spcAft>
                <a:spcPts val="800"/>
              </a:spcAft>
            </a:pPr>
            <a:r>
              <a:rPr lang="en-US" sz="1600">
                <a:solidFill>
                  <a:srgbClr val="AF623E"/>
                </a:solidFill>
                <a:latin typeface="Arial" panose="020B0604020202020204" pitchFamily="34" charset="0"/>
              </a:rPr>
              <a:t>Macro F1 averages the four class F1 scores equally. Review does not remove mistakes from this table.</a:t>
            </a:r>
            <a:endParaRPr lang="en-IN" sz="1600">
              <a:solidFill>
                <a:srgbClr val="AF623E"/>
              </a:solidFill>
              <a:latin typeface="Arial" panose="020B0604020202020204" pitchFamily="34" charset="0"/>
            </a:endParaRPr>
          </a:p>
        </p:txBody>
      </p:sp>
      <p:sp>
        <p:nvSpPr>
          <p:cNvPr id="6" name="TextBox 5">
            <a:extLst>
              <a:ext uri="{FF2B5EF4-FFF2-40B4-BE49-F238E27FC236}">
                <a16:creationId xmlns:a16="http://schemas.microsoft.com/office/drawing/2014/main" id="{33BD448F-1047-9491-D85D-CACD399D9B0C}"/>
              </a:ext>
            </a:extLst>
          </p:cNvPr>
          <p:cNvSpPr txBox="1"/>
          <p:nvPr/>
        </p:nvSpPr>
        <p:spPr>
          <a:xfrm>
            <a:off x="635000" y="6489700"/>
            <a:ext cx="9525000" cy="190500"/>
          </a:xfrm>
          <a:prstGeom prst="rect">
            <a:avLst/>
          </a:prstGeom>
          <a:noFill/>
        </p:spPr>
        <p:txBody>
          <a:bodyPr vert="horz" wrap="square" lIns="0" tIns="0" rIns="0" bIns="0" rtlCol="0">
            <a:noAutofit/>
          </a:bodyPr>
          <a:lstStyle/>
          <a:p>
            <a:pPr>
              <a:spcAft>
                <a:spcPts val="800"/>
              </a:spcAft>
            </a:pPr>
            <a:r>
              <a:rPr lang="en-IN" sz="800">
                <a:solidFill>
                  <a:srgbClr val="72806B"/>
                </a:solidFill>
                <a:latin typeface="Arial" panose="020B0604020202020204" pitchFamily="34" charset="0"/>
              </a:rPr>
              <a:t>CRICKET SHOT RECOGNITION / EE604</a:t>
            </a:r>
          </a:p>
        </p:txBody>
      </p:sp>
      <p:sp>
        <p:nvSpPr>
          <p:cNvPr id="7" name="TextBox 6">
            <a:extLst>
              <a:ext uri="{FF2B5EF4-FFF2-40B4-BE49-F238E27FC236}">
                <a16:creationId xmlns:a16="http://schemas.microsoft.com/office/drawing/2014/main" id="{B1F08C2D-5DB3-A175-B4EA-76D8898631E0}"/>
              </a:ext>
            </a:extLst>
          </p:cNvPr>
          <p:cNvSpPr txBox="1"/>
          <p:nvPr/>
        </p:nvSpPr>
        <p:spPr>
          <a:xfrm>
            <a:off x="11214100" y="6451600"/>
            <a:ext cx="317500" cy="228600"/>
          </a:xfrm>
          <a:prstGeom prst="rect">
            <a:avLst/>
          </a:prstGeom>
          <a:noFill/>
        </p:spPr>
        <p:txBody>
          <a:bodyPr vert="horz" wrap="square" lIns="0" tIns="0" rIns="0" bIns="0" rtlCol="0">
            <a:noAutofit/>
          </a:bodyPr>
          <a:lstStyle/>
          <a:p>
            <a:pPr>
              <a:spcAft>
                <a:spcPts val="800"/>
              </a:spcAft>
            </a:pPr>
            <a:r>
              <a:rPr lang="en-IN" sz="1000">
                <a:solidFill>
                  <a:srgbClr val="72806B"/>
                </a:solidFill>
                <a:latin typeface="Arial" panose="020B0604020202020204" pitchFamily="34" charset="0"/>
              </a:rPr>
              <a:t>11</a:t>
            </a:r>
          </a:p>
        </p:txBody>
      </p:sp>
    </p:spTree>
    <p:extLst>
      <p:ext uri="{BB962C8B-B14F-4D97-AF65-F5344CB8AC3E}">
        <p14:creationId xmlns:p14="http://schemas.microsoft.com/office/powerpoint/2010/main" val="9263853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8F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C46EF72-7AE0-7C81-026B-D7C96FE42B67}"/>
              </a:ext>
            </a:extLst>
          </p:cNvPr>
          <p:cNvSpPr txBox="1"/>
          <p:nvPr/>
        </p:nvSpPr>
        <p:spPr>
          <a:xfrm>
            <a:off x="609600" y="406399"/>
            <a:ext cx="10985500" cy="609600"/>
          </a:xfrm>
          <a:prstGeom prst="rect">
            <a:avLst/>
          </a:prstGeom>
          <a:noFill/>
        </p:spPr>
        <p:txBody>
          <a:bodyPr vert="horz" wrap="square" lIns="0" tIns="0" rIns="0" bIns="0" rtlCol="0">
            <a:noAutofit/>
          </a:bodyPr>
          <a:lstStyle/>
          <a:p>
            <a:pPr>
              <a:spcAft>
                <a:spcPts val="800"/>
              </a:spcAft>
            </a:pPr>
            <a:r>
              <a:rPr lang="en-US" sz="3200" b="1">
                <a:solidFill>
                  <a:srgbClr val="20382A"/>
                </a:solidFill>
                <a:latin typeface="Arial" panose="020B0604020202020204" pitchFamily="34" charset="0"/>
              </a:rPr>
              <a:t>Scores, calibration and secondary review</a:t>
            </a:r>
            <a:endParaRPr lang="en-IN" sz="3200" b="1">
              <a:solidFill>
                <a:srgbClr val="20382A"/>
              </a:solidFill>
              <a:latin typeface="Arial" panose="020B0604020202020204" pitchFamily="34" charset="0"/>
            </a:endParaRPr>
          </a:p>
        </p:txBody>
      </p:sp>
      <p:sp>
        <p:nvSpPr>
          <p:cNvPr id="3" name="TextBox 2">
            <a:extLst>
              <a:ext uri="{FF2B5EF4-FFF2-40B4-BE49-F238E27FC236}">
                <a16:creationId xmlns:a16="http://schemas.microsoft.com/office/drawing/2014/main" id="{82CF64F8-62DB-5B14-24E0-1C50C932ED3F}"/>
              </a:ext>
            </a:extLst>
          </p:cNvPr>
          <p:cNvSpPr txBox="1"/>
          <p:nvPr/>
        </p:nvSpPr>
        <p:spPr>
          <a:xfrm>
            <a:off x="622300" y="1142999"/>
            <a:ext cx="10858500" cy="558800"/>
          </a:xfrm>
          <a:prstGeom prst="rect">
            <a:avLst/>
          </a:prstGeom>
          <a:noFill/>
        </p:spPr>
        <p:txBody>
          <a:bodyPr vert="horz" wrap="square" lIns="0" tIns="0" rIns="0" bIns="0" rtlCol="0">
            <a:noAutofit/>
          </a:bodyPr>
          <a:lstStyle/>
          <a:p>
            <a:pPr>
              <a:spcAft>
                <a:spcPts val="800"/>
              </a:spcAft>
            </a:pPr>
            <a:r>
              <a:rPr lang="en-US" sz="1500">
                <a:solidFill>
                  <a:srgbClr val="72806B"/>
                </a:solidFill>
                <a:latin typeface="Arial" panose="020B0604020202020204" pitchFamily="34" charset="0"/>
              </a:rPr>
              <a:t>Temperature scaling worsened the recorded test calibration</a:t>
            </a:r>
            <a:endParaRPr lang="en-IN" sz="1500">
              <a:solidFill>
                <a:srgbClr val="72806B"/>
              </a:solidFill>
              <a:latin typeface="Arial" panose="020B0604020202020204" pitchFamily="34" charset="0"/>
            </a:endParaRPr>
          </a:p>
        </p:txBody>
      </p:sp>
      <p:sp>
        <p:nvSpPr>
          <p:cNvPr id="4" name="TextBox 3">
            <a:extLst>
              <a:ext uri="{FF2B5EF4-FFF2-40B4-BE49-F238E27FC236}">
                <a16:creationId xmlns:a16="http://schemas.microsoft.com/office/drawing/2014/main" id="{DE735362-3608-E572-4C5B-899D0B7BCFC3}"/>
              </a:ext>
            </a:extLst>
          </p:cNvPr>
          <p:cNvSpPr txBox="1"/>
          <p:nvPr/>
        </p:nvSpPr>
        <p:spPr>
          <a:xfrm>
            <a:off x="6477000" y="2095499"/>
            <a:ext cx="5080000" cy="1905000"/>
          </a:xfrm>
          <a:prstGeom prst="rect">
            <a:avLst/>
          </a:prstGeom>
          <a:noFill/>
        </p:spPr>
        <p:txBody>
          <a:bodyPr vert="horz" wrap="square" lIns="0" tIns="0" rIns="0" bIns="0" rtlCol="0">
            <a:noAutofit/>
          </a:bodyPr>
          <a:lstStyle/>
          <a:p>
            <a:pPr>
              <a:spcAft>
                <a:spcPts val="800"/>
              </a:spcAft>
            </a:pPr>
            <a:r>
              <a:rPr lang="en-US" sz="2500" b="1">
                <a:solidFill>
                  <a:srgbClr val="20382A"/>
                </a:solidFill>
                <a:latin typeface="Arial" panose="020B0604020202020204" pitchFamily="34" charset="0"/>
              </a:rPr>
              <a:t>557 / 945 accepted
433 accepted predictions correct
58.9% coverage / 77.7% accuracy</a:t>
            </a:r>
            <a:endParaRPr lang="en-IN" sz="2500" b="1">
              <a:solidFill>
                <a:srgbClr val="20382A"/>
              </a:solidFill>
              <a:latin typeface="Arial" panose="020B0604020202020204" pitchFamily="34" charset="0"/>
            </a:endParaRPr>
          </a:p>
        </p:txBody>
      </p:sp>
      <p:sp>
        <p:nvSpPr>
          <p:cNvPr id="5" name="TextBox 4">
            <a:extLst>
              <a:ext uri="{FF2B5EF4-FFF2-40B4-BE49-F238E27FC236}">
                <a16:creationId xmlns:a16="http://schemas.microsoft.com/office/drawing/2014/main" id="{5AA513A6-EDE9-C456-DA68-1C2BE5388936}"/>
              </a:ext>
            </a:extLst>
          </p:cNvPr>
          <p:cNvSpPr txBox="1"/>
          <p:nvPr/>
        </p:nvSpPr>
        <p:spPr>
          <a:xfrm>
            <a:off x="635000" y="4698999"/>
            <a:ext cx="10795000" cy="825500"/>
          </a:xfrm>
          <a:prstGeom prst="rect">
            <a:avLst/>
          </a:prstGeom>
          <a:noFill/>
        </p:spPr>
        <p:txBody>
          <a:bodyPr vert="horz" wrap="square" lIns="0" tIns="0" rIns="0" bIns="0" rtlCol="0">
            <a:noAutofit/>
          </a:bodyPr>
          <a:lstStyle/>
          <a:p>
            <a:pPr>
              <a:spcAft>
                <a:spcPts val="800"/>
              </a:spcAft>
            </a:pPr>
            <a:r>
              <a:rPr lang="en-US" sz="2000">
                <a:solidFill>
                  <a:srgbClr val="20382A"/>
                </a:solidFill>
                <a:latin typeface="Arial" panose="020B0604020202020204" pitchFamily="34" charset="0"/>
              </a:rPr>
              <a:t>Keep T = 0.802 and threshold = 0.70 unchanged.
The 90% validation target did not transfer to test.</a:t>
            </a:r>
            <a:endParaRPr lang="en-IN" sz="2000">
              <a:solidFill>
                <a:srgbClr val="20382A"/>
              </a:solidFill>
              <a:latin typeface="Arial" panose="020B0604020202020204" pitchFamily="34" charset="0"/>
            </a:endParaRPr>
          </a:p>
        </p:txBody>
      </p:sp>
      <p:graphicFrame>
        <p:nvGraphicFramePr>
          <p:cNvPr id="6" name="Table 5">
            <a:extLst>
              <a:ext uri="{FF2B5EF4-FFF2-40B4-BE49-F238E27FC236}">
                <a16:creationId xmlns:a16="http://schemas.microsoft.com/office/drawing/2014/main" id="{32DCCE35-84CC-4B07-85CD-943E06DCCFDA}"/>
              </a:ext>
            </a:extLst>
          </p:cNvPr>
          <p:cNvGraphicFramePr>
            <a:graphicFrameLocks noGrp="1"/>
          </p:cNvGraphicFramePr>
          <p:nvPr>
            <p:extLst>
              <p:ext uri="{D42A27DB-BD31-4B8C-83A1-F6EECF244321}">
                <p14:modId xmlns:p14="http://schemas.microsoft.com/office/powerpoint/2010/main" val="2126110360"/>
              </p:ext>
            </p:extLst>
          </p:nvPr>
        </p:nvGraphicFramePr>
        <p:xfrm>
          <a:off x="635000" y="2032000"/>
          <a:ext cx="5334000" cy="2095500"/>
        </p:xfrm>
        <a:graphic>
          <a:graphicData uri="http://schemas.openxmlformats.org/drawingml/2006/table">
            <a:tbl>
              <a:tblPr firstRow="1" bandRow="1">
                <a:tableStyleId>{5C22544A-7EE6-4342-B048-85BDC9FD1C3A}</a:tableStyleId>
              </a:tblPr>
              <a:tblGrid>
                <a:gridCol w="2540000">
                  <a:extLst>
                    <a:ext uri="{9D8B030D-6E8A-4147-A177-3AD203B41FA5}">
                      <a16:colId xmlns:a16="http://schemas.microsoft.com/office/drawing/2014/main" val="2618060527"/>
                    </a:ext>
                  </a:extLst>
                </a:gridCol>
                <a:gridCol w="1397000">
                  <a:extLst>
                    <a:ext uri="{9D8B030D-6E8A-4147-A177-3AD203B41FA5}">
                      <a16:colId xmlns:a16="http://schemas.microsoft.com/office/drawing/2014/main" val="3664664571"/>
                    </a:ext>
                  </a:extLst>
                </a:gridCol>
                <a:gridCol w="1397000">
                  <a:extLst>
                    <a:ext uri="{9D8B030D-6E8A-4147-A177-3AD203B41FA5}">
                      <a16:colId xmlns:a16="http://schemas.microsoft.com/office/drawing/2014/main" val="1885036282"/>
                    </a:ext>
                  </a:extLst>
                </a:gridCol>
              </a:tblGrid>
              <a:tr h="698500">
                <a:tc>
                  <a:txBody>
                    <a:bodyPr/>
                    <a:lstStyle/>
                    <a:p>
                      <a:r>
                        <a:rPr lang="en-IN" sz="1800" b="1">
                          <a:solidFill>
                            <a:srgbClr val="FFFFFF"/>
                          </a:solidFill>
                          <a:latin typeface="Arial" panose="020B0604020202020204" pitchFamily="34" charset="0"/>
                        </a:rPr>
                        <a:t>Contrast scores</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20382A"/>
                    </a:solidFill>
                  </a:tcPr>
                </a:tc>
                <a:tc>
                  <a:txBody>
                    <a:bodyPr/>
                    <a:lstStyle/>
                    <a:p>
                      <a:r>
                        <a:rPr lang="en-IN" sz="1800" b="1">
                          <a:solidFill>
                            <a:srgbClr val="FFFFFF"/>
                          </a:solidFill>
                          <a:latin typeface="Arial" panose="020B0604020202020204" pitchFamily="34" charset="0"/>
                        </a:rPr>
                        <a:t>NLL</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20382A"/>
                    </a:solidFill>
                  </a:tcPr>
                </a:tc>
                <a:tc>
                  <a:txBody>
                    <a:bodyPr/>
                    <a:lstStyle/>
                    <a:p>
                      <a:r>
                        <a:rPr lang="en-IN" sz="1800" b="1">
                          <a:solidFill>
                            <a:srgbClr val="FFFFFF"/>
                          </a:solidFill>
                          <a:latin typeface="Arial" panose="020B0604020202020204" pitchFamily="34" charset="0"/>
                        </a:rPr>
                        <a:t>ECE</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20382A"/>
                    </a:solidFill>
                  </a:tcPr>
                </a:tc>
                <a:extLst>
                  <a:ext uri="{0D108BD9-81ED-4DB2-BD59-A6C34878D82A}">
                    <a16:rowId xmlns:a16="http://schemas.microsoft.com/office/drawing/2014/main" val="424345035"/>
                  </a:ext>
                </a:extLst>
              </a:tr>
              <a:tr h="698500">
                <a:tc>
                  <a:txBody>
                    <a:bodyPr/>
                    <a:lstStyle/>
                    <a:p>
                      <a:r>
                        <a:rPr lang="en-IN" sz="1800" b="0">
                          <a:solidFill>
                            <a:srgbClr val="20382A"/>
                          </a:solidFill>
                          <a:latin typeface="Arial" panose="020B0604020202020204" pitchFamily="34" charset="0"/>
                        </a:rPr>
                        <a:t>Unscaled</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800" b="0">
                          <a:solidFill>
                            <a:srgbClr val="20382A"/>
                          </a:solidFill>
                          <a:latin typeface="Arial" panose="020B0604020202020204" pitchFamily="34" charset="0"/>
                        </a:rPr>
                        <a:t>0.859</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800" b="0">
                          <a:solidFill>
                            <a:srgbClr val="20382A"/>
                          </a:solidFill>
                          <a:latin typeface="Arial" panose="020B0604020202020204" pitchFamily="34" charset="0"/>
                        </a:rPr>
                        <a:t>0.043</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extLst>
                  <a:ext uri="{0D108BD9-81ED-4DB2-BD59-A6C34878D82A}">
                    <a16:rowId xmlns:a16="http://schemas.microsoft.com/office/drawing/2014/main" val="2068128936"/>
                  </a:ext>
                </a:extLst>
              </a:tr>
              <a:tr h="698500">
                <a:tc>
                  <a:txBody>
                    <a:bodyPr/>
                    <a:lstStyle/>
                    <a:p>
                      <a:r>
                        <a:rPr lang="en-IN" sz="1800" b="0">
                          <a:solidFill>
                            <a:srgbClr val="20382A"/>
                          </a:solidFill>
                          <a:latin typeface="Arial" panose="020B0604020202020204" pitchFamily="34" charset="0"/>
                        </a:rPr>
                        <a:t>Scaled</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IN" sz="1800" b="0">
                          <a:solidFill>
                            <a:srgbClr val="20382A"/>
                          </a:solidFill>
                          <a:latin typeface="Arial" panose="020B0604020202020204" pitchFamily="34" charset="0"/>
                        </a:rPr>
                        <a:t>0.898</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IN" sz="1800" b="0">
                          <a:solidFill>
                            <a:srgbClr val="20382A"/>
                          </a:solidFill>
                          <a:latin typeface="Arial" panose="020B0604020202020204" pitchFamily="34" charset="0"/>
                        </a:rPr>
                        <a:t>0.094</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extLst>
                  <a:ext uri="{0D108BD9-81ED-4DB2-BD59-A6C34878D82A}">
                    <a16:rowId xmlns:a16="http://schemas.microsoft.com/office/drawing/2014/main" val="3330602198"/>
                  </a:ext>
                </a:extLst>
              </a:tr>
            </a:tbl>
          </a:graphicData>
        </a:graphic>
      </p:graphicFrame>
      <p:sp>
        <p:nvSpPr>
          <p:cNvPr id="7" name="TextBox 6">
            <a:extLst>
              <a:ext uri="{FF2B5EF4-FFF2-40B4-BE49-F238E27FC236}">
                <a16:creationId xmlns:a16="http://schemas.microsoft.com/office/drawing/2014/main" id="{ABBAC63F-62D3-9846-5241-EC050CB7BBD4}"/>
              </a:ext>
            </a:extLst>
          </p:cNvPr>
          <p:cNvSpPr txBox="1"/>
          <p:nvPr/>
        </p:nvSpPr>
        <p:spPr>
          <a:xfrm>
            <a:off x="635000" y="5702299"/>
            <a:ext cx="10858500" cy="533400"/>
          </a:xfrm>
          <a:prstGeom prst="rect">
            <a:avLst/>
          </a:prstGeom>
          <a:noFill/>
        </p:spPr>
        <p:txBody>
          <a:bodyPr vert="horz" wrap="square" lIns="0" tIns="0" rIns="0" bIns="0" rtlCol="0">
            <a:noAutofit/>
          </a:bodyPr>
          <a:lstStyle/>
          <a:p>
            <a:pPr>
              <a:spcAft>
                <a:spcPts val="800"/>
              </a:spcAft>
            </a:pPr>
            <a:r>
              <a:rPr lang="en-US" sz="1600">
                <a:solidFill>
                  <a:srgbClr val="AF623E"/>
                </a:solidFill>
                <a:latin typeface="Arial" panose="020B0604020202020204" pitchFamily="34" charset="0"/>
              </a:rPr>
              <a:t>Softmax is a relative class score. Agreement is not a guarantee or an unknown-shot detector.</a:t>
            </a:r>
            <a:endParaRPr lang="en-IN" sz="1600">
              <a:solidFill>
                <a:srgbClr val="AF623E"/>
              </a:solidFill>
              <a:latin typeface="Arial" panose="020B0604020202020204" pitchFamily="34" charset="0"/>
            </a:endParaRPr>
          </a:p>
        </p:txBody>
      </p:sp>
      <p:sp>
        <p:nvSpPr>
          <p:cNvPr id="8" name="TextBox 7">
            <a:extLst>
              <a:ext uri="{FF2B5EF4-FFF2-40B4-BE49-F238E27FC236}">
                <a16:creationId xmlns:a16="http://schemas.microsoft.com/office/drawing/2014/main" id="{50DB733F-04F1-971B-4551-5887A3C877CB}"/>
              </a:ext>
            </a:extLst>
          </p:cNvPr>
          <p:cNvSpPr txBox="1"/>
          <p:nvPr/>
        </p:nvSpPr>
        <p:spPr>
          <a:xfrm>
            <a:off x="635000" y="6489700"/>
            <a:ext cx="9525000" cy="190500"/>
          </a:xfrm>
          <a:prstGeom prst="rect">
            <a:avLst/>
          </a:prstGeom>
          <a:noFill/>
        </p:spPr>
        <p:txBody>
          <a:bodyPr vert="horz" wrap="square" lIns="0" tIns="0" rIns="0" bIns="0" rtlCol="0">
            <a:noAutofit/>
          </a:bodyPr>
          <a:lstStyle/>
          <a:p>
            <a:pPr>
              <a:spcAft>
                <a:spcPts val="800"/>
              </a:spcAft>
            </a:pPr>
            <a:r>
              <a:rPr lang="en-IN" sz="800">
                <a:solidFill>
                  <a:srgbClr val="72806B"/>
                </a:solidFill>
                <a:latin typeface="Arial" panose="020B0604020202020204" pitchFamily="34" charset="0"/>
              </a:rPr>
              <a:t>CRICKET SHOT RECOGNITION / EE604</a:t>
            </a:r>
          </a:p>
        </p:txBody>
      </p:sp>
      <p:sp>
        <p:nvSpPr>
          <p:cNvPr id="9" name="TextBox 8">
            <a:extLst>
              <a:ext uri="{FF2B5EF4-FFF2-40B4-BE49-F238E27FC236}">
                <a16:creationId xmlns:a16="http://schemas.microsoft.com/office/drawing/2014/main" id="{A5434A2E-115A-4F04-70FC-E8B062880203}"/>
              </a:ext>
            </a:extLst>
          </p:cNvPr>
          <p:cNvSpPr txBox="1"/>
          <p:nvPr/>
        </p:nvSpPr>
        <p:spPr>
          <a:xfrm>
            <a:off x="11214100" y="6451600"/>
            <a:ext cx="317500" cy="228600"/>
          </a:xfrm>
          <a:prstGeom prst="rect">
            <a:avLst/>
          </a:prstGeom>
          <a:noFill/>
        </p:spPr>
        <p:txBody>
          <a:bodyPr vert="horz" wrap="square" lIns="0" tIns="0" rIns="0" bIns="0" rtlCol="0">
            <a:noAutofit/>
          </a:bodyPr>
          <a:lstStyle/>
          <a:p>
            <a:pPr>
              <a:spcAft>
                <a:spcPts val="800"/>
              </a:spcAft>
            </a:pPr>
            <a:r>
              <a:rPr lang="en-IN" sz="1000">
                <a:solidFill>
                  <a:srgbClr val="72806B"/>
                </a:solidFill>
                <a:latin typeface="Arial" panose="020B0604020202020204" pitchFamily="34" charset="0"/>
              </a:rPr>
              <a:t>12</a:t>
            </a:r>
          </a:p>
        </p:txBody>
      </p:sp>
    </p:spTree>
    <p:extLst>
      <p:ext uri="{BB962C8B-B14F-4D97-AF65-F5344CB8AC3E}">
        <p14:creationId xmlns:p14="http://schemas.microsoft.com/office/powerpoint/2010/main" val="4061715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8F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6AA58D-EA17-104E-58A8-9D0ABA27B120}"/>
              </a:ext>
            </a:extLst>
          </p:cNvPr>
          <p:cNvSpPr txBox="1"/>
          <p:nvPr/>
        </p:nvSpPr>
        <p:spPr>
          <a:xfrm>
            <a:off x="609600" y="406399"/>
            <a:ext cx="10985500" cy="609600"/>
          </a:xfrm>
          <a:prstGeom prst="rect">
            <a:avLst/>
          </a:prstGeom>
          <a:noFill/>
        </p:spPr>
        <p:txBody>
          <a:bodyPr vert="horz" wrap="square" lIns="0" tIns="0" rIns="0" bIns="0" rtlCol="0">
            <a:noAutofit/>
          </a:bodyPr>
          <a:lstStyle/>
          <a:p>
            <a:pPr>
              <a:spcAft>
                <a:spcPts val="800"/>
              </a:spcAft>
            </a:pPr>
            <a:r>
              <a:rPr lang="en-US" sz="3200" b="1">
                <a:solidFill>
                  <a:srgbClr val="20382A"/>
                </a:solidFill>
                <a:latin typeface="Arial" panose="020B0604020202020204" pitchFamily="34" charset="0"/>
              </a:rPr>
              <a:t>A confident error stays in the demo</a:t>
            </a:r>
            <a:endParaRPr lang="en-IN" sz="3200" b="1">
              <a:solidFill>
                <a:srgbClr val="20382A"/>
              </a:solidFill>
              <a:latin typeface="Arial" panose="020B0604020202020204" pitchFamily="34" charset="0"/>
            </a:endParaRPr>
          </a:p>
        </p:txBody>
      </p:sp>
      <p:sp>
        <p:nvSpPr>
          <p:cNvPr id="3" name="TextBox 2">
            <a:extLst>
              <a:ext uri="{FF2B5EF4-FFF2-40B4-BE49-F238E27FC236}">
                <a16:creationId xmlns:a16="http://schemas.microsoft.com/office/drawing/2014/main" id="{5E01607C-61AE-A275-BB33-94CAFC43B88B}"/>
              </a:ext>
            </a:extLst>
          </p:cNvPr>
          <p:cNvSpPr txBox="1"/>
          <p:nvPr/>
        </p:nvSpPr>
        <p:spPr>
          <a:xfrm>
            <a:off x="622300" y="1142999"/>
            <a:ext cx="10858500" cy="558800"/>
          </a:xfrm>
          <a:prstGeom prst="rect">
            <a:avLst/>
          </a:prstGeom>
          <a:noFill/>
        </p:spPr>
        <p:txBody>
          <a:bodyPr vert="horz" wrap="square" lIns="0" tIns="0" rIns="0" bIns="0" rtlCol="0">
            <a:noAutofit/>
          </a:bodyPr>
          <a:lstStyle/>
          <a:p>
            <a:pPr>
              <a:spcAft>
                <a:spcPts val="800"/>
              </a:spcAft>
            </a:pPr>
            <a:r>
              <a:rPr lang="en-US" sz="1500">
                <a:solidFill>
                  <a:srgbClr val="72806B"/>
                </a:solidFill>
                <a:latin typeface="Arial" panose="020B0604020202020204" pitchFamily="34" charset="0"/>
              </a:rPr>
              <a:t>Selected after evaluation, alongside successful and disagreement examples</a:t>
            </a:r>
            <a:endParaRPr lang="en-IN" sz="1500">
              <a:solidFill>
                <a:srgbClr val="72806B"/>
              </a:solidFill>
              <a:latin typeface="Arial" panose="020B0604020202020204" pitchFamily="34" charset="0"/>
            </a:endParaRPr>
          </a:p>
        </p:txBody>
      </p:sp>
      <p:pic>
        <p:nvPicPr>
          <p:cNvPr id="5" name="Picture 4">
            <a:extLst>
              <a:ext uri="{FF2B5EF4-FFF2-40B4-BE49-F238E27FC236}">
                <a16:creationId xmlns:a16="http://schemas.microsoft.com/office/drawing/2014/main" id="{7D681922-B4E8-B6F8-9E2A-1FD7A7FA997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992923" y="1841500"/>
            <a:ext cx="8206154" cy="3556000"/>
          </a:xfrm>
          <a:prstGeom prst="rect">
            <a:avLst/>
          </a:prstGeom>
        </p:spPr>
      </p:pic>
      <p:sp>
        <p:nvSpPr>
          <p:cNvPr id="6" name="TextBox 5">
            <a:extLst>
              <a:ext uri="{FF2B5EF4-FFF2-40B4-BE49-F238E27FC236}">
                <a16:creationId xmlns:a16="http://schemas.microsoft.com/office/drawing/2014/main" id="{2BB9E75B-2C25-81DC-4A2D-D2CC81CEFB40}"/>
              </a:ext>
            </a:extLst>
          </p:cNvPr>
          <p:cNvSpPr txBox="1"/>
          <p:nvPr/>
        </p:nvSpPr>
        <p:spPr>
          <a:xfrm>
            <a:off x="635000" y="5702299"/>
            <a:ext cx="10858500" cy="533400"/>
          </a:xfrm>
          <a:prstGeom prst="rect">
            <a:avLst/>
          </a:prstGeom>
          <a:noFill/>
        </p:spPr>
        <p:txBody>
          <a:bodyPr vert="horz" wrap="square" lIns="0" tIns="0" rIns="0" bIns="0" rtlCol="0">
            <a:noAutofit/>
          </a:bodyPr>
          <a:lstStyle/>
          <a:p>
            <a:pPr>
              <a:spcAft>
                <a:spcPts val="800"/>
              </a:spcAft>
            </a:pPr>
            <a:r>
              <a:rPr lang="en-US" sz="1600">
                <a:solidFill>
                  <a:srgbClr val="AF623E"/>
                </a:solidFill>
                <a:latin typeface="Arial" panose="020B0604020202020204" pitchFamily="34" charset="0"/>
              </a:rPr>
              <a:t>Inspect the upstream label, predicted label and actual input views. Confidence can be wrong.</a:t>
            </a:r>
            <a:endParaRPr lang="en-IN" sz="1600">
              <a:solidFill>
                <a:srgbClr val="AF623E"/>
              </a:solidFill>
              <a:latin typeface="Arial" panose="020B0604020202020204" pitchFamily="34" charset="0"/>
            </a:endParaRPr>
          </a:p>
        </p:txBody>
      </p:sp>
      <p:sp>
        <p:nvSpPr>
          <p:cNvPr id="7" name="TextBox 6">
            <a:extLst>
              <a:ext uri="{FF2B5EF4-FFF2-40B4-BE49-F238E27FC236}">
                <a16:creationId xmlns:a16="http://schemas.microsoft.com/office/drawing/2014/main" id="{3F40CEB0-8C17-4DC9-B9F5-5C395FB0C93D}"/>
              </a:ext>
            </a:extLst>
          </p:cNvPr>
          <p:cNvSpPr txBox="1"/>
          <p:nvPr/>
        </p:nvSpPr>
        <p:spPr>
          <a:xfrm>
            <a:off x="635000" y="6489700"/>
            <a:ext cx="9525000" cy="190500"/>
          </a:xfrm>
          <a:prstGeom prst="rect">
            <a:avLst/>
          </a:prstGeom>
          <a:noFill/>
        </p:spPr>
        <p:txBody>
          <a:bodyPr vert="horz" wrap="square" lIns="0" tIns="0" rIns="0" bIns="0" rtlCol="0">
            <a:noAutofit/>
          </a:bodyPr>
          <a:lstStyle/>
          <a:p>
            <a:pPr>
              <a:spcAft>
                <a:spcPts val="800"/>
              </a:spcAft>
            </a:pPr>
            <a:r>
              <a:rPr lang="en-IN" sz="800">
                <a:solidFill>
                  <a:srgbClr val="72806B"/>
                </a:solidFill>
                <a:latin typeface="Arial" panose="020B0604020202020204" pitchFamily="34" charset="0"/>
              </a:rPr>
              <a:t>CRICKET SHOT RECOGNITION / EE604</a:t>
            </a:r>
          </a:p>
        </p:txBody>
      </p:sp>
      <p:sp>
        <p:nvSpPr>
          <p:cNvPr id="8" name="TextBox 7">
            <a:extLst>
              <a:ext uri="{FF2B5EF4-FFF2-40B4-BE49-F238E27FC236}">
                <a16:creationId xmlns:a16="http://schemas.microsoft.com/office/drawing/2014/main" id="{DF5226E7-CD3D-5F43-3E21-FB7A7CC0A3E8}"/>
              </a:ext>
            </a:extLst>
          </p:cNvPr>
          <p:cNvSpPr txBox="1"/>
          <p:nvPr/>
        </p:nvSpPr>
        <p:spPr>
          <a:xfrm>
            <a:off x="11214100" y="6451600"/>
            <a:ext cx="317500" cy="228600"/>
          </a:xfrm>
          <a:prstGeom prst="rect">
            <a:avLst/>
          </a:prstGeom>
          <a:noFill/>
        </p:spPr>
        <p:txBody>
          <a:bodyPr vert="horz" wrap="square" lIns="0" tIns="0" rIns="0" bIns="0" rtlCol="0">
            <a:noAutofit/>
          </a:bodyPr>
          <a:lstStyle/>
          <a:p>
            <a:pPr>
              <a:spcAft>
                <a:spcPts val="800"/>
              </a:spcAft>
            </a:pPr>
            <a:r>
              <a:rPr lang="en-IN" sz="1000">
                <a:solidFill>
                  <a:srgbClr val="72806B"/>
                </a:solidFill>
                <a:latin typeface="Arial" panose="020B0604020202020204" pitchFamily="34" charset="0"/>
              </a:rPr>
              <a:t>13</a:t>
            </a:r>
          </a:p>
        </p:txBody>
      </p:sp>
    </p:spTree>
    <p:extLst>
      <p:ext uri="{BB962C8B-B14F-4D97-AF65-F5344CB8AC3E}">
        <p14:creationId xmlns:p14="http://schemas.microsoft.com/office/powerpoint/2010/main" val="9485675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8F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40715CB-EE41-7DB0-735C-E87B416A909C}"/>
              </a:ext>
            </a:extLst>
          </p:cNvPr>
          <p:cNvSpPr txBox="1"/>
          <p:nvPr/>
        </p:nvSpPr>
        <p:spPr>
          <a:xfrm>
            <a:off x="609600" y="406399"/>
            <a:ext cx="10985500" cy="609600"/>
          </a:xfrm>
          <a:prstGeom prst="rect">
            <a:avLst/>
          </a:prstGeom>
          <a:noFill/>
        </p:spPr>
        <p:txBody>
          <a:bodyPr vert="horz" wrap="square" lIns="0" tIns="0" rIns="0" bIns="0" rtlCol="0">
            <a:noAutofit/>
          </a:bodyPr>
          <a:lstStyle/>
          <a:p>
            <a:pPr>
              <a:spcAft>
                <a:spcPts val="800"/>
              </a:spcAft>
            </a:pPr>
            <a:r>
              <a:rPr lang="en-IN" sz="3200" b="1">
                <a:solidFill>
                  <a:srgbClr val="20382A"/>
                </a:solidFill>
                <a:latin typeface="Arial" panose="020B0604020202020204" pitchFamily="34" charset="0"/>
              </a:rPr>
              <a:t>Local image demonstration</a:t>
            </a:r>
          </a:p>
        </p:txBody>
      </p:sp>
      <p:sp>
        <p:nvSpPr>
          <p:cNvPr id="3" name="TextBox 2">
            <a:extLst>
              <a:ext uri="{FF2B5EF4-FFF2-40B4-BE49-F238E27FC236}">
                <a16:creationId xmlns:a16="http://schemas.microsoft.com/office/drawing/2014/main" id="{6F240D2A-3764-401D-6563-6219997E1A40}"/>
              </a:ext>
            </a:extLst>
          </p:cNvPr>
          <p:cNvSpPr txBox="1"/>
          <p:nvPr/>
        </p:nvSpPr>
        <p:spPr>
          <a:xfrm>
            <a:off x="622300" y="1142999"/>
            <a:ext cx="10858500" cy="558800"/>
          </a:xfrm>
          <a:prstGeom prst="rect">
            <a:avLst/>
          </a:prstGeom>
          <a:noFill/>
        </p:spPr>
        <p:txBody>
          <a:bodyPr vert="horz" wrap="square" lIns="0" tIns="0" rIns="0" bIns="0" rtlCol="0">
            <a:noAutofit/>
          </a:bodyPr>
          <a:lstStyle/>
          <a:p>
            <a:pPr>
              <a:spcAft>
                <a:spcPts val="800"/>
              </a:spcAft>
            </a:pPr>
            <a:r>
              <a:rPr lang="en-US" sz="1500">
                <a:solidFill>
                  <a:srgbClr val="72806B"/>
                </a:solidFill>
                <a:latin typeface="Arial" panose="020B0604020202020204" pitchFamily="34" charset="0"/>
              </a:rPr>
              <a:t>Upload an image, compare CNN and HOG, inspect the review reason, export JSON</a:t>
            </a:r>
            <a:endParaRPr lang="en-IN" sz="1500">
              <a:solidFill>
                <a:srgbClr val="72806B"/>
              </a:solidFill>
              <a:latin typeface="Arial" panose="020B0604020202020204" pitchFamily="34" charset="0"/>
            </a:endParaRPr>
          </a:p>
        </p:txBody>
      </p:sp>
      <p:pic>
        <p:nvPicPr>
          <p:cNvPr id="5" name="Picture 4">
            <a:extLst>
              <a:ext uri="{FF2B5EF4-FFF2-40B4-BE49-F238E27FC236}">
                <a16:creationId xmlns:a16="http://schemas.microsoft.com/office/drawing/2014/main" id="{BC8366F7-1E29-F924-6C3C-7DBFEC30DC0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725706" y="1714500"/>
            <a:ext cx="8740588" cy="4127500"/>
          </a:xfrm>
          <a:prstGeom prst="rect">
            <a:avLst/>
          </a:prstGeom>
        </p:spPr>
      </p:pic>
      <p:sp>
        <p:nvSpPr>
          <p:cNvPr id="6" name="TextBox 5">
            <a:extLst>
              <a:ext uri="{FF2B5EF4-FFF2-40B4-BE49-F238E27FC236}">
                <a16:creationId xmlns:a16="http://schemas.microsoft.com/office/drawing/2014/main" id="{8B8A8916-768B-5B5C-85F7-C45D34E3AAEF}"/>
              </a:ext>
            </a:extLst>
          </p:cNvPr>
          <p:cNvSpPr txBox="1"/>
          <p:nvPr/>
        </p:nvSpPr>
        <p:spPr>
          <a:xfrm>
            <a:off x="635000" y="6489700"/>
            <a:ext cx="9525000" cy="190500"/>
          </a:xfrm>
          <a:prstGeom prst="rect">
            <a:avLst/>
          </a:prstGeom>
          <a:noFill/>
        </p:spPr>
        <p:txBody>
          <a:bodyPr vert="horz" wrap="square" lIns="0" tIns="0" rIns="0" bIns="0" rtlCol="0">
            <a:noAutofit/>
          </a:bodyPr>
          <a:lstStyle/>
          <a:p>
            <a:pPr>
              <a:spcAft>
                <a:spcPts val="800"/>
              </a:spcAft>
            </a:pPr>
            <a:r>
              <a:rPr lang="en-IN" sz="800">
                <a:solidFill>
                  <a:srgbClr val="72806B"/>
                </a:solidFill>
                <a:latin typeface="Arial" panose="020B0604020202020204" pitchFamily="34" charset="0"/>
              </a:rPr>
              <a:t>CRICKET SHOT RECOGNITION / EE604</a:t>
            </a:r>
          </a:p>
        </p:txBody>
      </p:sp>
      <p:sp>
        <p:nvSpPr>
          <p:cNvPr id="7" name="TextBox 6">
            <a:extLst>
              <a:ext uri="{FF2B5EF4-FFF2-40B4-BE49-F238E27FC236}">
                <a16:creationId xmlns:a16="http://schemas.microsoft.com/office/drawing/2014/main" id="{585C88E0-B5D5-AB15-8439-32FAC593B5B3}"/>
              </a:ext>
            </a:extLst>
          </p:cNvPr>
          <p:cNvSpPr txBox="1"/>
          <p:nvPr/>
        </p:nvSpPr>
        <p:spPr>
          <a:xfrm>
            <a:off x="11214100" y="6451600"/>
            <a:ext cx="317500" cy="228600"/>
          </a:xfrm>
          <a:prstGeom prst="rect">
            <a:avLst/>
          </a:prstGeom>
          <a:noFill/>
        </p:spPr>
        <p:txBody>
          <a:bodyPr vert="horz" wrap="square" lIns="0" tIns="0" rIns="0" bIns="0" rtlCol="0">
            <a:noAutofit/>
          </a:bodyPr>
          <a:lstStyle/>
          <a:p>
            <a:pPr>
              <a:spcAft>
                <a:spcPts val="800"/>
              </a:spcAft>
            </a:pPr>
            <a:r>
              <a:rPr lang="en-IN" sz="1000">
                <a:solidFill>
                  <a:srgbClr val="72806B"/>
                </a:solidFill>
                <a:latin typeface="Arial" panose="020B0604020202020204" pitchFamily="34" charset="0"/>
              </a:rPr>
              <a:t>14</a:t>
            </a:r>
          </a:p>
        </p:txBody>
      </p:sp>
    </p:spTree>
    <p:extLst>
      <p:ext uri="{BB962C8B-B14F-4D97-AF65-F5344CB8AC3E}">
        <p14:creationId xmlns:p14="http://schemas.microsoft.com/office/powerpoint/2010/main" val="23306406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8F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C6729B1-FDD6-9E03-AF34-D9A4D1D75D81}"/>
              </a:ext>
            </a:extLst>
          </p:cNvPr>
          <p:cNvSpPr txBox="1"/>
          <p:nvPr/>
        </p:nvSpPr>
        <p:spPr>
          <a:xfrm>
            <a:off x="609600" y="406399"/>
            <a:ext cx="10985500" cy="609600"/>
          </a:xfrm>
          <a:prstGeom prst="rect">
            <a:avLst/>
          </a:prstGeom>
          <a:noFill/>
        </p:spPr>
        <p:txBody>
          <a:bodyPr vert="horz" wrap="square" lIns="0" tIns="0" rIns="0" bIns="0" rtlCol="0">
            <a:noAutofit/>
          </a:bodyPr>
          <a:lstStyle/>
          <a:p>
            <a:pPr>
              <a:spcAft>
                <a:spcPts val="800"/>
              </a:spcAft>
            </a:pPr>
            <a:r>
              <a:rPr lang="en-IN" sz="3200" b="1">
                <a:solidFill>
                  <a:srgbClr val="20382A"/>
                </a:solidFill>
                <a:latin typeface="Arial" panose="020B0604020202020204" pitchFamily="34" charset="0"/>
              </a:rPr>
              <a:t>What we can defend</a:t>
            </a:r>
          </a:p>
        </p:txBody>
      </p:sp>
      <p:sp>
        <p:nvSpPr>
          <p:cNvPr id="3" name="TextBox 2">
            <a:extLst>
              <a:ext uri="{FF2B5EF4-FFF2-40B4-BE49-F238E27FC236}">
                <a16:creationId xmlns:a16="http://schemas.microsoft.com/office/drawing/2014/main" id="{66DED1D0-82AD-D174-9225-FA252A9662DF}"/>
              </a:ext>
            </a:extLst>
          </p:cNvPr>
          <p:cNvSpPr txBox="1"/>
          <p:nvPr/>
        </p:nvSpPr>
        <p:spPr>
          <a:xfrm>
            <a:off x="622300" y="1142999"/>
            <a:ext cx="10858500" cy="558800"/>
          </a:xfrm>
          <a:prstGeom prst="rect">
            <a:avLst/>
          </a:prstGeom>
          <a:noFill/>
        </p:spPr>
        <p:txBody>
          <a:bodyPr vert="horz" wrap="square" lIns="0" tIns="0" rIns="0" bIns="0" rtlCol="0">
            <a:noAutofit/>
          </a:bodyPr>
          <a:lstStyle/>
          <a:p>
            <a:pPr>
              <a:spcAft>
                <a:spcPts val="800"/>
              </a:spcAft>
            </a:pPr>
            <a:r>
              <a:rPr lang="en-US" sz="1500">
                <a:solidFill>
                  <a:srgbClr val="72806B"/>
                </a:solidFill>
                <a:latin typeface="Arial" panose="020B0604020202020204" pitchFamily="34" charset="0"/>
              </a:rPr>
              <a:t>An implemented comparison with useful negative findings</a:t>
            </a:r>
            <a:endParaRPr lang="en-IN" sz="1500">
              <a:solidFill>
                <a:srgbClr val="72806B"/>
              </a:solidFill>
              <a:latin typeface="Arial" panose="020B0604020202020204" pitchFamily="34" charset="0"/>
            </a:endParaRPr>
          </a:p>
        </p:txBody>
      </p:sp>
      <p:sp>
        <p:nvSpPr>
          <p:cNvPr id="4" name="TextBox 3">
            <a:extLst>
              <a:ext uri="{FF2B5EF4-FFF2-40B4-BE49-F238E27FC236}">
                <a16:creationId xmlns:a16="http://schemas.microsoft.com/office/drawing/2014/main" id="{AC5A8350-DFD2-14DD-3125-5C012865D225}"/>
              </a:ext>
            </a:extLst>
          </p:cNvPr>
          <p:cNvSpPr txBox="1"/>
          <p:nvPr/>
        </p:nvSpPr>
        <p:spPr>
          <a:xfrm>
            <a:off x="635000" y="1841499"/>
            <a:ext cx="10795000" cy="444500"/>
          </a:xfrm>
          <a:prstGeom prst="rect">
            <a:avLst/>
          </a:prstGeom>
          <a:noFill/>
        </p:spPr>
        <p:txBody>
          <a:bodyPr vert="horz" wrap="square" lIns="0" tIns="0" rIns="0" bIns="0" rtlCol="0">
            <a:noAutofit/>
          </a:bodyPr>
          <a:lstStyle/>
          <a:p>
            <a:pPr>
              <a:spcAft>
                <a:spcPts val="800"/>
              </a:spcAft>
            </a:pPr>
            <a:r>
              <a:rPr lang="en-IN" sz="2600" b="1">
                <a:solidFill>
                  <a:srgbClr val="20382A"/>
                </a:solidFill>
                <a:latin typeface="Arial" panose="020B0604020202020204" pitchFamily="34" charset="0"/>
              </a:rPr>
              <a:t>Course foundation</a:t>
            </a:r>
          </a:p>
        </p:txBody>
      </p:sp>
      <p:sp>
        <p:nvSpPr>
          <p:cNvPr id="5" name="TextBox 4">
            <a:extLst>
              <a:ext uri="{FF2B5EF4-FFF2-40B4-BE49-F238E27FC236}">
                <a16:creationId xmlns:a16="http://schemas.microsoft.com/office/drawing/2014/main" id="{1362987D-A8F0-8EFA-E709-EDFE1CF6AE71}"/>
              </a:ext>
            </a:extLst>
          </p:cNvPr>
          <p:cNvSpPr txBox="1"/>
          <p:nvPr/>
        </p:nvSpPr>
        <p:spPr>
          <a:xfrm>
            <a:off x="635000" y="2451099"/>
            <a:ext cx="10795000" cy="635000"/>
          </a:xfrm>
          <a:prstGeom prst="rect">
            <a:avLst/>
          </a:prstGeom>
          <a:noFill/>
        </p:spPr>
        <p:txBody>
          <a:bodyPr vert="horz" wrap="square" lIns="0" tIns="0" rIns="0" bIns="0" rtlCol="0">
            <a:noAutofit/>
          </a:bodyPr>
          <a:lstStyle/>
          <a:p>
            <a:pPr>
              <a:spcAft>
                <a:spcPts val="800"/>
              </a:spcAft>
            </a:pPr>
            <a:r>
              <a:rPr lang="en-US" sz="2100">
                <a:solidFill>
                  <a:srgbClr val="20382A"/>
                </a:solidFill>
                <a:latin typeface="Arial" panose="020B0604020202020204" pitchFamily="34" charset="0"/>
              </a:rPr>
              <a:t>HOG and frozen features, each followed by a trained multiclass head.</a:t>
            </a:r>
            <a:endParaRPr lang="en-IN" sz="2100">
              <a:solidFill>
                <a:srgbClr val="20382A"/>
              </a:solidFill>
              <a:latin typeface="Arial" panose="020B0604020202020204" pitchFamily="34" charset="0"/>
            </a:endParaRPr>
          </a:p>
        </p:txBody>
      </p:sp>
      <p:sp>
        <p:nvSpPr>
          <p:cNvPr id="6" name="TextBox 5">
            <a:extLst>
              <a:ext uri="{FF2B5EF4-FFF2-40B4-BE49-F238E27FC236}">
                <a16:creationId xmlns:a16="http://schemas.microsoft.com/office/drawing/2014/main" id="{38CF0815-B095-C94F-364F-60432AC45E10}"/>
              </a:ext>
            </a:extLst>
          </p:cNvPr>
          <p:cNvSpPr txBox="1"/>
          <p:nvPr/>
        </p:nvSpPr>
        <p:spPr>
          <a:xfrm>
            <a:off x="635000" y="3492499"/>
            <a:ext cx="10795000" cy="444500"/>
          </a:xfrm>
          <a:prstGeom prst="rect">
            <a:avLst/>
          </a:prstGeom>
          <a:noFill/>
        </p:spPr>
        <p:txBody>
          <a:bodyPr vert="horz" wrap="square" lIns="0" tIns="0" rIns="0" bIns="0" rtlCol="0">
            <a:noAutofit/>
          </a:bodyPr>
          <a:lstStyle/>
          <a:p>
            <a:pPr>
              <a:spcAft>
                <a:spcPts val="800"/>
              </a:spcAft>
            </a:pPr>
            <a:r>
              <a:rPr lang="en-IN" sz="2600" b="1">
                <a:solidFill>
                  <a:srgbClr val="20382A"/>
                </a:solidFill>
                <a:latin typeface="Arial" panose="020B0604020202020204" pitchFamily="34" charset="0"/>
              </a:rPr>
              <a:t>Limited extension</a:t>
            </a:r>
          </a:p>
        </p:txBody>
      </p:sp>
      <p:sp>
        <p:nvSpPr>
          <p:cNvPr id="7" name="TextBox 6">
            <a:extLst>
              <a:ext uri="{FF2B5EF4-FFF2-40B4-BE49-F238E27FC236}">
                <a16:creationId xmlns:a16="http://schemas.microsoft.com/office/drawing/2014/main" id="{99A02557-20C4-6350-F2D8-3DEC1AD5683F}"/>
              </a:ext>
            </a:extLst>
          </p:cNvPr>
          <p:cNvSpPr txBox="1"/>
          <p:nvPr/>
        </p:nvSpPr>
        <p:spPr>
          <a:xfrm>
            <a:off x="635000" y="4102099"/>
            <a:ext cx="10795000" cy="1079500"/>
          </a:xfrm>
          <a:prstGeom prst="rect">
            <a:avLst/>
          </a:prstGeom>
          <a:noFill/>
        </p:spPr>
        <p:txBody>
          <a:bodyPr vert="horz" wrap="square" lIns="0" tIns="0" rIns="0" bIns="0" rtlCol="0">
            <a:noAutofit/>
          </a:bodyPr>
          <a:lstStyle/>
          <a:p>
            <a:pPr>
              <a:spcAft>
                <a:spcPts val="800"/>
              </a:spcAft>
            </a:pPr>
            <a:r>
              <a:rPr lang="en-US" sz="2100">
                <a:solidFill>
                  <a:srgbClr val="20382A"/>
                </a:solidFill>
                <a:latin typeface="Arial" panose="020B0604020202020204" pitchFamily="34" charset="0"/>
              </a:rPr>
              <a:t>Contrast gains three test images; uncertainty spans no gain.
The audit corrects optimism, and calibration fails to transfer.</a:t>
            </a:r>
            <a:endParaRPr lang="en-IN" sz="2100">
              <a:solidFill>
                <a:srgbClr val="20382A"/>
              </a:solidFill>
              <a:latin typeface="Arial" panose="020B0604020202020204" pitchFamily="34" charset="0"/>
            </a:endParaRPr>
          </a:p>
        </p:txBody>
      </p:sp>
      <p:sp>
        <p:nvSpPr>
          <p:cNvPr id="8" name="TextBox 7">
            <a:extLst>
              <a:ext uri="{FF2B5EF4-FFF2-40B4-BE49-F238E27FC236}">
                <a16:creationId xmlns:a16="http://schemas.microsoft.com/office/drawing/2014/main" id="{5C6EF8CE-F22C-E912-0980-4EE5D6541514}"/>
              </a:ext>
            </a:extLst>
          </p:cNvPr>
          <p:cNvSpPr txBox="1"/>
          <p:nvPr/>
        </p:nvSpPr>
        <p:spPr>
          <a:xfrm>
            <a:off x="635000" y="5702299"/>
            <a:ext cx="10858500" cy="533400"/>
          </a:xfrm>
          <a:prstGeom prst="rect">
            <a:avLst/>
          </a:prstGeom>
          <a:noFill/>
        </p:spPr>
        <p:txBody>
          <a:bodyPr vert="horz" wrap="square" lIns="0" tIns="0" rIns="0" bIns="0" rtlCol="0">
            <a:noAutofit/>
          </a:bodyPr>
          <a:lstStyle/>
          <a:p>
            <a:pPr>
              <a:spcAft>
                <a:spcPts val="800"/>
              </a:spcAft>
            </a:pPr>
            <a:r>
              <a:rPr lang="en-US" sz="1600">
                <a:solidFill>
                  <a:srgbClr val="AF623E"/>
                </a:solidFill>
                <a:latin typeface="Arial" panose="020B0604020202020204" pitchFamily="34" charset="0"/>
              </a:rPr>
              <a:t>Next useful step: independently labeled data with known match and player identities.</a:t>
            </a:r>
            <a:endParaRPr lang="en-IN" sz="1600">
              <a:solidFill>
                <a:srgbClr val="AF623E"/>
              </a:solidFill>
              <a:latin typeface="Arial" panose="020B0604020202020204" pitchFamily="34" charset="0"/>
            </a:endParaRPr>
          </a:p>
        </p:txBody>
      </p:sp>
      <p:sp>
        <p:nvSpPr>
          <p:cNvPr id="9" name="TextBox 8">
            <a:extLst>
              <a:ext uri="{FF2B5EF4-FFF2-40B4-BE49-F238E27FC236}">
                <a16:creationId xmlns:a16="http://schemas.microsoft.com/office/drawing/2014/main" id="{AB936CC4-B587-13E0-6F4A-6143FB24B28B}"/>
              </a:ext>
            </a:extLst>
          </p:cNvPr>
          <p:cNvSpPr txBox="1"/>
          <p:nvPr/>
        </p:nvSpPr>
        <p:spPr>
          <a:xfrm>
            <a:off x="635000" y="6489700"/>
            <a:ext cx="9525000" cy="190500"/>
          </a:xfrm>
          <a:prstGeom prst="rect">
            <a:avLst/>
          </a:prstGeom>
          <a:noFill/>
        </p:spPr>
        <p:txBody>
          <a:bodyPr vert="horz" wrap="square" lIns="0" tIns="0" rIns="0" bIns="0" rtlCol="0">
            <a:noAutofit/>
          </a:bodyPr>
          <a:lstStyle/>
          <a:p>
            <a:pPr>
              <a:spcAft>
                <a:spcPts val="800"/>
              </a:spcAft>
            </a:pPr>
            <a:r>
              <a:rPr lang="en-IN" sz="800">
                <a:solidFill>
                  <a:srgbClr val="72806B"/>
                </a:solidFill>
                <a:latin typeface="Arial" panose="020B0604020202020204" pitchFamily="34" charset="0"/>
              </a:rPr>
              <a:t>CRICKET SHOT RECOGNITION / EE604</a:t>
            </a:r>
          </a:p>
        </p:txBody>
      </p:sp>
      <p:sp>
        <p:nvSpPr>
          <p:cNvPr id="10" name="TextBox 9">
            <a:extLst>
              <a:ext uri="{FF2B5EF4-FFF2-40B4-BE49-F238E27FC236}">
                <a16:creationId xmlns:a16="http://schemas.microsoft.com/office/drawing/2014/main" id="{503803BB-2FEE-D228-A233-E61BCC693051}"/>
              </a:ext>
            </a:extLst>
          </p:cNvPr>
          <p:cNvSpPr txBox="1"/>
          <p:nvPr/>
        </p:nvSpPr>
        <p:spPr>
          <a:xfrm>
            <a:off x="11214100" y="6451600"/>
            <a:ext cx="317500" cy="228600"/>
          </a:xfrm>
          <a:prstGeom prst="rect">
            <a:avLst/>
          </a:prstGeom>
          <a:noFill/>
        </p:spPr>
        <p:txBody>
          <a:bodyPr vert="horz" wrap="square" lIns="0" tIns="0" rIns="0" bIns="0" rtlCol="0">
            <a:noAutofit/>
          </a:bodyPr>
          <a:lstStyle/>
          <a:p>
            <a:pPr>
              <a:spcAft>
                <a:spcPts val="800"/>
              </a:spcAft>
            </a:pPr>
            <a:r>
              <a:rPr lang="en-IN" sz="1000">
                <a:solidFill>
                  <a:srgbClr val="72806B"/>
                </a:solidFill>
                <a:latin typeface="Arial" panose="020B0604020202020204" pitchFamily="34" charset="0"/>
              </a:rPr>
              <a:t>15</a:t>
            </a:r>
          </a:p>
        </p:txBody>
      </p:sp>
    </p:spTree>
    <p:extLst>
      <p:ext uri="{BB962C8B-B14F-4D97-AF65-F5344CB8AC3E}">
        <p14:creationId xmlns:p14="http://schemas.microsoft.com/office/powerpoint/2010/main" val="15922631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8F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A9343A-7CF0-AC41-F29D-36BF01DEA0D4}"/>
              </a:ext>
            </a:extLst>
          </p:cNvPr>
          <p:cNvSpPr txBox="1"/>
          <p:nvPr/>
        </p:nvSpPr>
        <p:spPr>
          <a:xfrm>
            <a:off x="609600" y="406399"/>
            <a:ext cx="10985500" cy="609600"/>
          </a:xfrm>
          <a:prstGeom prst="rect">
            <a:avLst/>
          </a:prstGeom>
          <a:noFill/>
        </p:spPr>
        <p:txBody>
          <a:bodyPr vert="horz" wrap="square" lIns="0" tIns="0" rIns="0" bIns="0" rtlCol="0">
            <a:noAutofit/>
          </a:bodyPr>
          <a:lstStyle/>
          <a:p>
            <a:pPr>
              <a:spcAft>
                <a:spcPts val="800"/>
              </a:spcAft>
            </a:pPr>
            <a:r>
              <a:rPr lang="en-US" sz="3200" b="1">
                <a:solidFill>
                  <a:srgbClr val="20382A"/>
                </a:solidFill>
                <a:latin typeface="Arial" panose="020B0604020202020204" pitchFamily="34" charset="0"/>
              </a:rPr>
              <a:t>Backup: video pilot and duplicate audit</a:t>
            </a:r>
            <a:endParaRPr lang="en-IN" sz="3200" b="1">
              <a:solidFill>
                <a:srgbClr val="20382A"/>
              </a:solidFill>
              <a:latin typeface="Arial" panose="020B0604020202020204" pitchFamily="34" charset="0"/>
            </a:endParaRPr>
          </a:p>
        </p:txBody>
      </p:sp>
      <p:sp>
        <p:nvSpPr>
          <p:cNvPr id="3" name="TextBox 2">
            <a:extLst>
              <a:ext uri="{FF2B5EF4-FFF2-40B4-BE49-F238E27FC236}">
                <a16:creationId xmlns:a16="http://schemas.microsoft.com/office/drawing/2014/main" id="{41632086-A7B4-A1E2-D911-49264A8C574C}"/>
              </a:ext>
            </a:extLst>
          </p:cNvPr>
          <p:cNvSpPr txBox="1"/>
          <p:nvPr/>
        </p:nvSpPr>
        <p:spPr>
          <a:xfrm>
            <a:off x="622300" y="1142999"/>
            <a:ext cx="10858500" cy="558800"/>
          </a:xfrm>
          <a:prstGeom prst="rect">
            <a:avLst/>
          </a:prstGeom>
          <a:noFill/>
        </p:spPr>
        <p:txBody>
          <a:bodyPr vert="horz" wrap="square" lIns="0" tIns="0" rIns="0" bIns="0" rtlCol="0">
            <a:noAutofit/>
          </a:bodyPr>
          <a:lstStyle/>
          <a:p>
            <a:pPr>
              <a:spcAft>
                <a:spcPts val="800"/>
              </a:spcAft>
            </a:pPr>
            <a:r>
              <a:rPr lang="en-US" sz="1500">
                <a:solidFill>
                  <a:srgbClr val="72806B"/>
                </a:solidFill>
                <a:latin typeface="Arial" panose="020B0604020202020204" pitchFamily="34" charset="0"/>
              </a:rPr>
              <a:t>Separate eight-class data and reused pilot holdout; not the main recognition claim</a:t>
            </a:r>
            <a:endParaRPr lang="en-IN" sz="1500">
              <a:solidFill>
                <a:srgbClr val="72806B"/>
              </a:solidFill>
              <a:latin typeface="Arial" panose="020B0604020202020204" pitchFamily="34" charset="0"/>
            </a:endParaRPr>
          </a:p>
        </p:txBody>
      </p:sp>
      <p:sp>
        <p:nvSpPr>
          <p:cNvPr id="4" name="TextBox 3">
            <a:extLst>
              <a:ext uri="{FF2B5EF4-FFF2-40B4-BE49-F238E27FC236}">
                <a16:creationId xmlns:a16="http://schemas.microsoft.com/office/drawing/2014/main" id="{57AC2217-C4F6-84DA-DAE9-D037651F1426}"/>
              </a:ext>
            </a:extLst>
          </p:cNvPr>
          <p:cNvSpPr txBox="1"/>
          <p:nvPr/>
        </p:nvSpPr>
        <p:spPr>
          <a:xfrm>
            <a:off x="635000" y="4914899"/>
            <a:ext cx="10795000" cy="825500"/>
          </a:xfrm>
          <a:prstGeom prst="rect">
            <a:avLst/>
          </a:prstGeom>
          <a:noFill/>
        </p:spPr>
        <p:txBody>
          <a:bodyPr vert="horz" wrap="square" lIns="0" tIns="0" rIns="0" bIns="0" rtlCol="0">
            <a:noAutofit/>
          </a:bodyPr>
          <a:lstStyle/>
          <a:p>
            <a:pPr>
              <a:spcAft>
                <a:spcPts val="800"/>
              </a:spcAft>
            </a:pPr>
            <a:r>
              <a:rPr lang="en-US" sz="1700">
                <a:solidFill>
                  <a:srgbClr val="20382A"/>
                </a:solidFill>
                <a:latin typeface="Arial" panose="020B0604020202020204" pitchFamily="34" charset="0"/>
              </a:rPr>
              <a:t>562 clips / 25 source groups / 116 test clips from five groups
Image audit: hashes, transforms, ORB/RANSAC links; all connected copies stay together.</a:t>
            </a:r>
            <a:endParaRPr lang="en-IN" sz="1700">
              <a:solidFill>
                <a:srgbClr val="20382A"/>
              </a:solidFill>
              <a:latin typeface="Arial" panose="020B0604020202020204" pitchFamily="34" charset="0"/>
            </a:endParaRPr>
          </a:p>
        </p:txBody>
      </p:sp>
      <p:graphicFrame>
        <p:nvGraphicFramePr>
          <p:cNvPr id="5" name="Table 4">
            <a:extLst>
              <a:ext uri="{FF2B5EF4-FFF2-40B4-BE49-F238E27FC236}">
                <a16:creationId xmlns:a16="http://schemas.microsoft.com/office/drawing/2014/main" id="{65D46354-1995-CCDA-15B1-1B7D064A9FF9}"/>
              </a:ext>
            </a:extLst>
          </p:cNvPr>
          <p:cNvGraphicFramePr>
            <a:graphicFrameLocks noGrp="1"/>
          </p:cNvGraphicFramePr>
          <p:nvPr>
            <p:extLst>
              <p:ext uri="{D42A27DB-BD31-4B8C-83A1-F6EECF244321}">
                <p14:modId xmlns:p14="http://schemas.microsoft.com/office/powerpoint/2010/main" val="4205615836"/>
              </p:ext>
            </p:extLst>
          </p:nvPr>
        </p:nvGraphicFramePr>
        <p:xfrm>
          <a:off x="635000" y="1905000"/>
          <a:ext cx="10922000" cy="2603500"/>
        </p:xfrm>
        <a:graphic>
          <a:graphicData uri="http://schemas.openxmlformats.org/drawingml/2006/table">
            <a:tbl>
              <a:tblPr firstRow="1" bandRow="1">
                <a:tableStyleId>{5C22544A-7EE6-4342-B048-85BDC9FD1C3A}</a:tableStyleId>
              </a:tblPr>
              <a:tblGrid>
                <a:gridCol w="5715000">
                  <a:extLst>
                    <a:ext uri="{9D8B030D-6E8A-4147-A177-3AD203B41FA5}">
                      <a16:colId xmlns:a16="http://schemas.microsoft.com/office/drawing/2014/main" val="26578484"/>
                    </a:ext>
                  </a:extLst>
                </a:gridCol>
                <a:gridCol w="2603500">
                  <a:extLst>
                    <a:ext uri="{9D8B030D-6E8A-4147-A177-3AD203B41FA5}">
                      <a16:colId xmlns:a16="http://schemas.microsoft.com/office/drawing/2014/main" val="3763827127"/>
                    </a:ext>
                  </a:extLst>
                </a:gridCol>
                <a:gridCol w="2603500">
                  <a:extLst>
                    <a:ext uri="{9D8B030D-6E8A-4147-A177-3AD203B41FA5}">
                      <a16:colId xmlns:a16="http://schemas.microsoft.com/office/drawing/2014/main" val="2920069439"/>
                    </a:ext>
                  </a:extLst>
                </a:gridCol>
              </a:tblGrid>
              <a:tr h="650875">
                <a:tc>
                  <a:txBody>
                    <a:bodyPr/>
                    <a:lstStyle/>
                    <a:p>
                      <a:r>
                        <a:rPr lang="en-IN" sz="1800" b="1">
                          <a:solidFill>
                            <a:srgbClr val="FFFFFF"/>
                          </a:solidFill>
                          <a:latin typeface="Arial" panose="020B0604020202020204" pitchFamily="34" charset="0"/>
                        </a:rPr>
                        <a:t>Video model</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20382A"/>
                    </a:solidFill>
                  </a:tcPr>
                </a:tc>
                <a:tc>
                  <a:txBody>
                    <a:bodyPr/>
                    <a:lstStyle/>
                    <a:p>
                      <a:r>
                        <a:rPr lang="en-IN" sz="1800" b="1">
                          <a:solidFill>
                            <a:srgbClr val="FFFFFF"/>
                          </a:solidFill>
                          <a:latin typeface="Arial" panose="020B0604020202020204" pitchFamily="34" charset="0"/>
                        </a:rPr>
                        <a:t>Accuracy</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20382A"/>
                    </a:solidFill>
                  </a:tcPr>
                </a:tc>
                <a:tc>
                  <a:txBody>
                    <a:bodyPr/>
                    <a:lstStyle/>
                    <a:p>
                      <a:r>
                        <a:rPr lang="en-IN" sz="1800" b="1">
                          <a:solidFill>
                            <a:srgbClr val="FFFFFF"/>
                          </a:solidFill>
                          <a:latin typeface="Arial" panose="020B0604020202020204" pitchFamily="34" charset="0"/>
                        </a:rPr>
                        <a:t>Macro F1</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20382A"/>
                    </a:solidFill>
                  </a:tcPr>
                </a:tc>
                <a:extLst>
                  <a:ext uri="{0D108BD9-81ED-4DB2-BD59-A6C34878D82A}">
                    <a16:rowId xmlns:a16="http://schemas.microsoft.com/office/drawing/2014/main" val="3951955043"/>
                  </a:ext>
                </a:extLst>
              </a:tr>
              <a:tr h="650875">
                <a:tc>
                  <a:txBody>
                    <a:bodyPr/>
                    <a:lstStyle/>
                    <a:p>
                      <a:r>
                        <a:rPr lang="en-IN" sz="1800" b="0">
                          <a:solidFill>
                            <a:srgbClr val="20382A"/>
                          </a:solidFill>
                          <a:latin typeface="Arial" panose="020B0604020202020204" pitchFamily="34" charset="0"/>
                        </a:rPr>
                        <a:t>Full frame</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800" b="0">
                          <a:solidFill>
                            <a:srgbClr val="20382A"/>
                          </a:solidFill>
                          <a:latin typeface="Arial" panose="020B0604020202020204" pitchFamily="34" charset="0"/>
                        </a:rPr>
                        <a:t>18.1%</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800" b="0">
                          <a:solidFill>
                            <a:srgbClr val="20382A"/>
                          </a:solidFill>
                          <a:latin typeface="Arial" panose="020B0604020202020204" pitchFamily="34" charset="0"/>
                        </a:rPr>
                        <a:t>17.7%</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extLst>
                  <a:ext uri="{0D108BD9-81ED-4DB2-BD59-A6C34878D82A}">
                    <a16:rowId xmlns:a16="http://schemas.microsoft.com/office/drawing/2014/main" val="1388292505"/>
                  </a:ext>
                </a:extLst>
              </a:tr>
              <a:tr h="650875">
                <a:tc>
                  <a:txBody>
                    <a:bodyPr/>
                    <a:lstStyle/>
                    <a:p>
                      <a:r>
                        <a:rPr lang="en-IN" sz="1800" b="0">
                          <a:solidFill>
                            <a:srgbClr val="20382A"/>
                          </a:solidFill>
                          <a:latin typeface="Arial" panose="020B0604020202020204" pitchFamily="34" charset="0"/>
                        </a:rPr>
                        <a:t>Fixed crop</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IN" sz="1800" b="0">
                          <a:solidFill>
                            <a:srgbClr val="20382A"/>
                          </a:solidFill>
                          <a:latin typeface="Arial" panose="020B0604020202020204" pitchFamily="34" charset="0"/>
                        </a:rPr>
                        <a:t>30.2%</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tc>
                  <a:txBody>
                    <a:bodyPr/>
                    <a:lstStyle/>
                    <a:p>
                      <a:r>
                        <a:rPr lang="en-IN" sz="1800" b="0">
                          <a:solidFill>
                            <a:srgbClr val="20382A"/>
                          </a:solidFill>
                          <a:latin typeface="Arial" panose="020B0604020202020204" pitchFamily="34" charset="0"/>
                        </a:rPr>
                        <a:t>21.3%</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EEF2E7"/>
                    </a:solidFill>
                  </a:tcPr>
                </a:tc>
                <a:extLst>
                  <a:ext uri="{0D108BD9-81ED-4DB2-BD59-A6C34878D82A}">
                    <a16:rowId xmlns:a16="http://schemas.microsoft.com/office/drawing/2014/main" val="144200239"/>
                  </a:ext>
                </a:extLst>
              </a:tr>
              <a:tr h="650875">
                <a:tc>
                  <a:txBody>
                    <a:bodyPr/>
                    <a:lstStyle/>
                    <a:p>
                      <a:r>
                        <a:rPr lang="en-IN" sz="1800" b="0">
                          <a:solidFill>
                            <a:srgbClr val="20382A"/>
                          </a:solidFill>
                          <a:latin typeface="Arial" panose="020B0604020202020204" pitchFamily="34" charset="0"/>
                        </a:rPr>
                        <a:t>Majority baseline</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800" b="0">
                          <a:solidFill>
                            <a:srgbClr val="20382A"/>
                          </a:solidFill>
                          <a:latin typeface="Arial" panose="020B0604020202020204" pitchFamily="34" charset="0"/>
                        </a:rPr>
                        <a:t>30.2%</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tc>
                  <a:txBody>
                    <a:bodyPr/>
                    <a:lstStyle/>
                    <a:p>
                      <a:r>
                        <a:rPr lang="en-IN" sz="1800" b="0">
                          <a:solidFill>
                            <a:srgbClr val="20382A"/>
                          </a:solidFill>
                          <a:latin typeface="Arial" panose="020B0604020202020204" pitchFamily="34" charset="0"/>
                        </a:rPr>
                        <a:t>5.8%</a:t>
                      </a:r>
                    </a:p>
                  </a:txBody>
                  <a:tcPr marL="114300" marR="76200" marT="63500" marB="50800" anchor="ctr">
                    <a:lnL w="6350" cmpd="sng">
                      <a:solidFill>
                        <a:srgbClr val="D8DFD0"/>
                      </a:solidFill>
                    </a:lnL>
                    <a:lnR w="6350" cmpd="sng">
                      <a:solidFill>
                        <a:srgbClr val="D8DFD0"/>
                      </a:solidFill>
                    </a:lnR>
                    <a:lnT w="6350" cmpd="sng">
                      <a:solidFill>
                        <a:srgbClr val="D8DFD0"/>
                      </a:solidFill>
                    </a:lnT>
                    <a:lnB w="6350" cmpd="sng">
                      <a:solidFill>
                        <a:srgbClr val="D8DFD0"/>
                      </a:solidFill>
                    </a:lnB>
                    <a:solidFill>
                      <a:srgbClr val="FFFFFF"/>
                    </a:solidFill>
                  </a:tcPr>
                </a:tc>
                <a:extLst>
                  <a:ext uri="{0D108BD9-81ED-4DB2-BD59-A6C34878D82A}">
                    <a16:rowId xmlns:a16="http://schemas.microsoft.com/office/drawing/2014/main" val="1417143027"/>
                  </a:ext>
                </a:extLst>
              </a:tr>
            </a:tbl>
          </a:graphicData>
        </a:graphic>
      </p:graphicFrame>
      <p:sp>
        <p:nvSpPr>
          <p:cNvPr id="6" name="TextBox 5">
            <a:extLst>
              <a:ext uri="{FF2B5EF4-FFF2-40B4-BE49-F238E27FC236}">
                <a16:creationId xmlns:a16="http://schemas.microsoft.com/office/drawing/2014/main" id="{50BA3724-9896-73E5-C10D-5765552C0A01}"/>
              </a:ext>
            </a:extLst>
          </p:cNvPr>
          <p:cNvSpPr txBox="1"/>
          <p:nvPr/>
        </p:nvSpPr>
        <p:spPr>
          <a:xfrm>
            <a:off x="635000" y="6489700"/>
            <a:ext cx="9525000" cy="190500"/>
          </a:xfrm>
          <a:prstGeom prst="rect">
            <a:avLst/>
          </a:prstGeom>
          <a:noFill/>
        </p:spPr>
        <p:txBody>
          <a:bodyPr vert="horz" wrap="square" lIns="0" tIns="0" rIns="0" bIns="0" rtlCol="0">
            <a:noAutofit/>
          </a:bodyPr>
          <a:lstStyle/>
          <a:p>
            <a:pPr>
              <a:spcAft>
                <a:spcPts val="800"/>
              </a:spcAft>
            </a:pPr>
            <a:r>
              <a:rPr lang="en-IN" sz="800">
                <a:solidFill>
                  <a:srgbClr val="72806B"/>
                </a:solidFill>
                <a:latin typeface="Arial" panose="020B0604020202020204" pitchFamily="34" charset="0"/>
              </a:rPr>
              <a:t>CRICKET SHOT RECOGNITION / EE604</a:t>
            </a:r>
          </a:p>
        </p:txBody>
      </p:sp>
      <p:sp>
        <p:nvSpPr>
          <p:cNvPr id="7" name="TextBox 6">
            <a:extLst>
              <a:ext uri="{FF2B5EF4-FFF2-40B4-BE49-F238E27FC236}">
                <a16:creationId xmlns:a16="http://schemas.microsoft.com/office/drawing/2014/main" id="{C6AF0D13-A488-EDE5-9392-E6CDFD1FF1B6}"/>
              </a:ext>
            </a:extLst>
          </p:cNvPr>
          <p:cNvSpPr txBox="1"/>
          <p:nvPr/>
        </p:nvSpPr>
        <p:spPr>
          <a:xfrm>
            <a:off x="11214100" y="6451600"/>
            <a:ext cx="317500" cy="228600"/>
          </a:xfrm>
          <a:prstGeom prst="rect">
            <a:avLst/>
          </a:prstGeom>
          <a:noFill/>
        </p:spPr>
        <p:txBody>
          <a:bodyPr vert="horz" wrap="square" lIns="0" tIns="0" rIns="0" bIns="0" rtlCol="0">
            <a:noAutofit/>
          </a:bodyPr>
          <a:lstStyle/>
          <a:p>
            <a:pPr>
              <a:spcAft>
                <a:spcPts val="800"/>
              </a:spcAft>
            </a:pPr>
            <a:r>
              <a:rPr lang="en-IN" sz="1000">
                <a:solidFill>
                  <a:srgbClr val="72806B"/>
                </a:solidFill>
                <a:latin typeface="Arial" panose="020B0604020202020204" pitchFamily="34" charset="0"/>
              </a:rPr>
              <a:t>16</a:t>
            </a:r>
          </a:p>
        </p:txBody>
      </p:sp>
    </p:spTree>
    <p:extLst>
      <p:ext uri="{BB962C8B-B14F-4D97-AF65-F5344CB8AC3E}">
        <p14:creationId xmlns:p14="http://schemas.microsoft.com/office/powerpoint/2010/main" val="26618827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2347</Words>
  <Application>Microsoft Office PowerPoint</Application>
  <PresentationFormat>Custom</PresentationFormat>
  <Paragraphs>289</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Akshith Gokavarapu</dc:creator>
  <cp:lastModifiedBy>Akshith Gokavarapu</cp:lastModifiedBy>
  <cp:revision>1</cp:revision>
  <dcterms:created xsi:type="dcterms:W3CDTF">2026-10-19T13:30:10Z</dcterms:created>
  <dcterms:modified xsi:type="dcterms:W3CDTF">2026-10-19T13:30:11Z</dcterms:modified>
</cp:coreProperties>
</file>