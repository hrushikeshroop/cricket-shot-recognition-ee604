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F46840-DA6F-4679-9483-D303AF8DFB97}" type="datetimeFigureOut">
              <a:rPr lang="en-IN" smtClean="0"/>
              <a:t>19-10-2026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044500-47D4-41DA-AA38-06BE861875DF}" type="slidenum">
              <a:rPr lang="en-IN" smtClean="0"/>
              <a:t>‹#›</a:t>
            </a:fld>
            <a:endParaRPr lang="en-IN"/>
          </a:p>
        </p:txBody>
      </p:sp>
    </p:spTree>
    <p:extLst>
      <p:ext uri="{BB962C8B-B14F-4D97-AF65-F5344CB8AC3E}">
        <p14:creationId xmlns:p14="http://schemas.microsoft.com/office/powerpoint/2010/main" val="2517420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one-image classification. HOG and frozen features connect directly to lectures 10 and 15. The two-view difference is a small extension to test, not a new backbone. Cover image: selected held-out source image, https://www.kaggle.com/datasets/aneesh10/cricket-shot-dataset v2.</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1</a:t>
            </a:fld>
            <a:endParaRPr lang="en-IN"/>
          </a:p>
        </p:txBody>
      </p:sp>
    </p:spTree>
    <p:extLst>
      <p:ext uri="{BB962C8B-B14F-4D97-AF65-F5344CB8AC3E}">
        <p14:creationId xmlns:p14="http://schemas.microsoft.com/office/powerpoint/2010/main" val="1780990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user supplies the image. Drive and leg glance/flick are combined upstream classes. A full match is outside scope. Classification is multiclass with one target, not multilabel sigmoid prediction. Source: dataset v2; lectures 15 pages 16-19.</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2</a:t>
            </a:fld>
            <a:endParaRPr lang="en-IN"/>
          </a:p>
        </p:txBody>
      </p:sp>
    </p:spTree>
    <p:extLst>
      <p:ext uri="{BB962C8B-B14F-4D97-AF65-F5344CB8AC3E}">
        <p14:creationId xmlns:p14="http://schemas.microsoft.com/office/powerpoint/2010/main" val="3824324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Sen et al.: CricShotClassify, Sensors 21(8), 2846 (2021), https://www.mdpi.com/1424-8220/21/8/2846 . CNN frame features and GRU, including frozen and partly fine-tuned VGG16 variants. Kang: https://arxiv.org/abs/2510.09187 , a preprint comparing sequence models and proposing EfficientNet-B0 with bidirectional GRU and temporal attention. No code or datasets from either paper were imported. KUCricShot authors' repository https://github.com/AtanuCSE/CricketShotDetection describes a separate four-shot, 1278-example dataset, also unused. Lecture 8 part 2 p9 distinguishes local/global features. Lecture 14 part 2 pp2-3 and 27 covers extractor/classifier and softmax. We implement an image comparison, not a new backbone or a priority claim.</a:t>
            </a:r>
          </a:p>
        </p:txBody>
      </p:sp>
      <p:sp>
        <p:nvSpPr>
          <p:cNvPr id="4" name="Slide Number Placeholder 3"/>
          <p:cNvSpPr>
            <a:spLocks noGrp="1"/>
          </p:cNvSpPr>
          <p:nvPr>
            <p:ph type="sldNum" sz="quarter" idx="5"/>
          </p:nvPr>
        </p:nvSpPr>
        <p:spPr/>
        <p:txBody>
          <a:bodyPr/>
          <a:lstStyle/>
          <a:p>
            <a:fld id="{96044500-47D4-41DA-AA38-06BE861875DF}" type="slidenum">
              <a:rPr lang="en-IN" smtClean="0"/>
              <a:t>3</a:t>
            </a:fld>
            <a:endParaRPr lang="en-IN"/>
          </a:p>
        </p:txBody>
      </p:sp>
    </p:spTree>
    <p:extLst>
      <p:ext uri="{BB962C8B-B14F-4D97-AF65-F5344CB8AC3E}">
        <p14:creationId xmlns:p14="http://schemas.microsoft.com/office/powerpoint/2010/main" val="3414639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https://www.kaggle.com/datasets/aneesh10/cricket-shot-dataset v2. Unknown license in downloaded metadata; no original annotations claimed. Fixed seed 604 folds; this is one holdout, not five-fold cross-validation. Test images are clustered copies and must not be described as 945 independent photographs.</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4</a:t>
            </a:fld>
            <a:endParaRPr lang="en-IN"/>
          </a:p>
        </p:txBody>
      </p:sp>
    </p:spTree>
    <p:extLst>
      <p:ext uri="{BB962C8B-B14F-4D97-AF65-F5344CB8AC3E}">
        <p14:creationId xmlns:p14="http://schemas.microsoft.com/office/powerpoint/2010/main" val="723678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validation set was reused for regularization, calibration and threshold selection. This can overfit validation. We disclose it rather than create a new split and pretend the original test was untouched. Initial hash-only contrast result was 96.3%; stronger transformed-copy grouping yields 65.5%. Both results and original individual predictions remain available.</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5</a:t>
            </a:fld>
            <a:endParaRPr lang="en-IN"/>
          </a:p>
        </p:txBody>
      </p:sp>
    </p:spTree>
    <p:extLst>
      <p:ext uri="{BB962C8B-B14F-4D97-AF65-F5344CB8AC3E}">
        <p14:creationId xmlns:p14="http://schemas.microsoft.com/office/powerpoint/2010/main" val="3407129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two branches. HOG and CNN global inputs have identical aspect-preserving 224 square geometry. The fixed crop reduces some background without training a detector, but can miss an off-center batter. Keeping the global view preserves a second source of context, although square center fitting also removes peripheral pixels. MobileNetV2 is an efficient ImageNet backbone selected for CPU use; freezing limits cricket fitting to small heads on only 221 training groups. This is design reasoning, not proof that freezing or this model is optimal. CNN has two view passes; its heads share features. Source: actual implemented pipeline, https://arxiv.org/abs/1801.04381 , and docs/model_card.md.</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6</a:t>
            </a:fld>
            <a:endParaRPr lang="en-IN"/>
          </a:p>
        </p:txBody>
      </p:sp>
    </p:spTree>
    <p:extLst>
      <p:ext uri="{BB962C8B-B14F-4D97-AF65-F5344CB8AC3E}">
        <p14:creationId xmlns:p14="http://schemas.microsoft.com/office/powerpoint/2010/main" val="3165210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Trace gx and gy central differences, sqrt(gx²+gy²), atan2 modulo 180. A 50-degree gradient of magnitude 90 votes 45 to the 40-degree bin and 45 to 60. No spatial vote interpolation. Each 36-value block divides by sqrt(sum(h²)+1e-10). 13*13*36=6084. This is a documented HOG variant, not the exact signed-angle lecture example or original pedestrian detector. Lecture 10 pp 7-23; original method https://lear.inrialpes.fr/people/triggs/pubs/Dalal-cvpr05.pdf .</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7</a:t>
            </a:fld>
            <a:endParaRPr lang="en-IN"/>
          </a:p>
        </p:txBody>
      </p:sp>
    </p:spTree>
    <p:extLst>
      <p:ext uri="{BB962C8B-B14F-4D97-AF65-F5344CB8AC3E}">
        <p14:creationId xmlns:p14="http://schemas.microsoft.com/office/powerpoint/2010/main" val="260950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vectors are L2-normalized before joining so their raw magnitudes do not set the relative block scale; the joined descriptor is normalized again. Equal norm does not imply equal usefulness. No normalization ablation was conducted. A linear head on concatenation can compute signed u-v but cannot generally compute abs(u-v); the explicit block supplies this nonlinear relation. This is the motivation to test, not proof of improvement. Contrast W has (4,3840) shape plus four biases, 15364 stored parameters, trained with weighted multiclass cross-entropy and L2 regularization. No bat-motion interpretation is assigned to coordinates. MobileNetV2: https://arxiv.org/abs/1801.04381 ; weights: https://github.com/onnx/models .</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8</a:t>
            </a:fld>
            <a:endParaRPr lang="en-IN"/>
          </a:p>
        </p:txBody>
      </p:sp>
    </p:spTree>
    <p:extLst>
      <p:ext uri="{BB962C8B-B14F-4D97-AF65-F5344CB8AC3E}">
        <p14:creationId xmlns:p14="http://schemas.microsoft.com/office/powerpoint/2010/main" val="842801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HOG fixed settings, validation-selected C and predictions are saved under results/hog. Do not try a new descriptor after seeing the 35.3% test score to improve a headline. CNN heads/predictions are retained unchanged. This comparison does not isolate color versus pretraining versus architecture; no general statement that all HOG methods are inferior. Evidence: results/revision/comparison.csv and saved individual probabilities.</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9</a:t>
            </a:fld>
            <a:endParaRPr lang="en-IN"/>
          </a:p>
        </p:txBody>
      </p:sp>
    </p:spTree>
    <p:extLst>
      <p:ext uri="{BB962C8B-B14F-4D97-AF65-F5344CB8AC3E}">
        <p14:creationId xmlns:p14="http://schemas.microsoft.com/office/powerpoint/2010/main" val="2486728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descriptive analysis uses unchanged saved test predictions. Cases are first IDs in gain/loss categories, selected after evaluation. image_00696: label drive; global drive, crop pull, concat pull, contrast drive. image_00017: label drive; global drive, crop glance/flick, concat drive, contrast glance/flick. Agreement subsets do not identify a causal mechanism or validate a new selection rule. For uncertainty, resample the 70 visual groups, retaining all their images, in 2000 paired draws with seed17; image-weighted statistics. The interval omits training/split variability and unknown match correlation. Complete individual-method intervals remain in report and results/revision/comparison.json; case evidence is in view_diagnostics.json.</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10</a:t>
            </a:fld>
            <a:endParaRPr lang="en-IN"/>
          </a:p>
        </p:txBody>
      </p:sp>
    </p:spTree>
    <p:extLst>
      <p:ext uri="{BB962C8B-B14F-4D97-AF65-F5344CB8AC3E}">
        <p14:creationId xmlns:p14="http://schemas.microsoft.com/office/powerpoint/2010/main" val="742003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an off-diagonal entry and explain precision versus recall. Glance/flick is difficult under this protocol. HOG predicts pull for 110 of 224 sweep images. Fixed geometry, similar stances and background are plausible issues, not proven causes for each error. Evidence: saved prediction arithmetic in comparison.json.</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11</a:t>
            </a:fld>
            <a:endParaRPr lang="en-IN"/>
          </a:p>
        </p:txBody>
      </p:sp>
    </p:spTree>
    <p:extLst>
      <p:ext uri="{BB962C8B-B14F-4D97-AF65-F5344CB8AC3E}">
        <p14:creationId xmlns:p14="http://schemas.microsoft.com/office/powerpoint/2010/main" val="1848936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NLL and ECE worsen. ECE uses ten equal-width confidence bins. The same validation set selected C, temperature and threshold; the 90% validation target did not transfer to test. The gate needs global/crop/contrast agreement; the heads are correlated. It accepts557/945 with433 correct. Its measured benefit over confidence alone is tiny. Retain it as visible triage for conflicting views; diagnostic heads use the same two encoder outputs, adding no encoder pass. HOG scores are unscaled and do not affect review. Sources: https://proceedings.mlr.press/v70/guo17a.html ; https://arxiv.org/abs/1705.08500 .</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12</a:t>
            </a:fld>
            <a:endParaRPr lang="en-IN"/>
          </a:p>
        </p:txBody>
      </p:sp>
    </p:spTree>
    <p:extLst>
      <p:ext uri="{BB962C8B-B14F-4D97-AF65-F5344CB8AC3E}">
        <p14:creationId xmlns:p14="http://schemas.microsoft.com/office/powerpoint/2010/main" val="14264641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image_04199, the preserved confident failure. Do not invent its exact cause or silently relabel it. The selected picture is an illustration, not an estimate of failure frequency. Real data source: aneesh10/cricket-shot-dataset v2. Follow with the view-disagreement image_00014.</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13</a:t>
            </a:fld>
            <a:endParaRPr lang="en-IN"/>
          </a:p>
        </p:txBody>
      </p:sp>
    </p:spTree>
    <p:extLst>
      <p:ext uri="{BB962C8B-B14F-4D97-AF65-F5344CB8AC3E}">
        <p14:creationId xmlns:p14="http://schemas.microsoft.com/office/powerpoint/2010/main" val="1289506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 setup.bat on a fresh machine, then run_demo.bat. Install and rehearse before going offline. Default URL http://127.0.0.1:6040. Five shipped JPEG illustrations cover all four successful class labels plus confident error image_04199. The full local package also has original disagreement image_00014; public clones can restore it optionally. Fresh scores are computed from actual input files; JPEG inputs may differ from original benchmark pixels. All examples were selected after evaluation. Show actual views and HOG, then export JSON. Screenshot source is the running app.</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14</a:t>
            </a:fld>
            <a:endParaRPr lang="en-IN"/>
          </a:p>
        </p:txBody>
      </p:sp>
    </p:spTree>
    <p:extLst>
      <p:ext uri="{BB962C8B-B14F-4D97-AF65-F5344CB8AC3E}">
        <p14:creationId xmlns:p14="http://schemas.microsoft.com/office/powerpoint/2010/main" val="1484321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implemented contribution is the controlled comparison and inspectable integration of two-view absolute differences and diagnostic agreement. Components are established; HOG itself is not new. The measured gain is uncertain, so do not claim a new architecture, detector or state-of-the-art result. The audit also corrects an optimistic initial result, and calibration fails to transfer. Mention possible missed copies and unverified labels. See docs/model_card.md for the limits, docs/demo_guide.md for the demonstration sequence, and results/revision/worked_trace.json for a measured trace. Team identities and repository URL are on the cover.</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15</a:t>
            </a:fld>
            <a:endParaRPr lang="en-IN"/>
          </a:p>
        </p:txBody>
      </p:sp>
    </p:spTree>
    <p:extLst>
      <p:ext uri="{BB962C8B-B14F-4D97-AF65-F5344CB8AC3E}">
        <p14:creationId xmlns:p14="http://schemas.microsoft.com/office/powerpoint/2010/main" val="167418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Exploratory follow-up after original test results were known. Established mixture-of-experts idea: Jacobs et al. (1991), https://www.cs.toronto.edu/~hinton/absps/jjnh91.pdf . Three experts with C=10 and T=1. No new CNN pass or CNN training. Gate inputs: each expert entropy/log4, maximum and margin; pairwise total variation; embedding cosine distance. Training-only out-of-fold means/std standardize 13 inputs, std lower bound .05. Slopes/intercepts give42 coefficients. Class-balanced NLL, L2 slopes, unpenalized biases. Search L2 .01,.1,1,10, validation macro F1, stronger regularization wins ties. Constant control learns .176 global, nearly zero crop, .824 contrast. Adaptive and constant test predictions are identical. Adaptive minus contrast: -0.11 accuracy points, paired visual-group 95% interval [-.79,+.68]. Concat validation F1=79.6%, so the frozen deployment rule rejects this gate. This is not nested CV: C was selected in the earlier validation study. Stored fold lists, OOF scores, protocol, selection and test predictions are in results/fusion. No new architecture or reliable gain is claimed.</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16</a:t>
            </a:fld>
            <a:endParaRPr lang="en-IN"/>
          </a:p>
        </p:txBody>
      </p:sp>
    </p:spTree>
    <p:extLst>
      <p:ext uri="{BB962C8B-B14F-4D97-AF65-F5344CB8AC3E}">
        <p14:creationId xmlns:p14="http://schemas.microsoft.com/office/powerpoint/2010/main" val="3631531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only for questions. Equal 30.2% majority accuracy means weak video recognition, despite higher macro F1. Fixed crop followed pilot test feedback. Source: https://www.kaggle.com/datasets/amittalmale/cricket-shots . Image audit: pHash &lt;=6 bits with thumbnail MAD, rotations/mirrors, then 15 feature neighbors within cosine .20. ORB binary matching, .72 ratio, &gt;=16 matches, &gt;=12 RANSAC inliers, &gt;=65% inlier fraction, &gt;=8% hull coverage. These are evaluation tools, not a novel shot classifier. Other sources: https://github.com/onnx/models ; https://github.com/scikit-learn/scikit-learn ; https://github.com/microsoft/onnxruntime ; https://github.com/opencv/opencv ; https://arxiv.org/abs/1608.00859 . Full URLs, saved evidence and complete code appendix accompany the report.</a:t>
            </a:r>
            <a:endParaRPr lang="en-IN"/>
          </a:p>
        </p:txBody>
      </p:sp>
      <p:sp>
        <p:nvSpPr>
          <p:cNvPr id="4" name="Slide Number Placeholder 3"/>
          <p:cNvSpPr>
            <a:spLocks noGrp="1"/>
          </p:cNvSpPr>
          <p:nvPr>
            <p:ph type="sldNum" sz="quarter" idx="5"/>
          </p:nvPr>
        </p:nvSpPr>
        <p:spPr/>
        <p:txBody>
          <a:bodyPr/>
          <a:lstStyle/>
          <a:p>
            <a:fld id="{96044500-47D4-41DA-AA38-06BE861875DF}" type="slidenum">
              <a:rPr lang="en-IN" smtClean="0"/>
              <a:t>17</a:t>
            </a:fld>
            <a:endParaRPr lang="en-IN"/>
          </a:p>
        </p:txBody>
      </p:sp>
    </p:spTree>
    <p:extLst>
      <p:ext uri="{BB962C8B-B14F-4D97-AF65-F5344CB8AC3E}">
        <p14:creationId xmlns:p14="http://schemas.microsoft.com/office/powerpoint/2010/main" val="3126484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3B9FB-405D-7602-8182-427EC535C6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D404EC-A263-2AB9-DC0A-DC0E6833A5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9B51BC-32F7-7102-81CA-9A42EFA97583}"/>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5" name="Footer Placeholder 4">
            <a:extLst>
              <a:ext uri="{FF2B5EF4-FFF2-40B4-BE49-F238E27FC236}">
                <a16:creationId xmlns:a16="http://schemas.microsoft.com/office/drawing/2014/main" id="{BDC88FB0-4B38-D5D4-5B3A-1F6CDC7FBB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148A91-47A7-6845-EBE8-58760AFBF981}"/>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449963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5A256-4C0E-F6A8-80DD-2086F118B0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D5BD42-73F0-8491-9CB3-545441AD6F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A0B859-0CBC-F1B9-0984-08FC747D9BF9}"/>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5" name="Footer Placeholder 4">
            <a:extLst>
              <a:ext uri="{FF2B5EF4-FFF2-40B4-BE49-F238E27FC236}">
                <a16:creationId xmlns:a16="http://schemas.microsoft.com/office/drawing/2014/main" id="{B4588016-4D42-B5CC-62E4-5801DAD90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3380CD-5899-EB40-7AA2-3F49AADDCA2A}"/>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4233872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2BC52-B2A2-5E3C-2C59-A04E57DD32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4278C9C-D9BB-7AD4-6D82-981F59DAB1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7B04C8-2EE7-CEFE-7CB7-9010B5156348}"/>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5" name="Footer Placeholder 4">
            <a:extLst>
              <a:ext uri="{FF2B5EF4-FFF2-40B4-BE49-F238E27FC236}">
                <a16:creationId xmlns:a16="http://schemas.microsoft.com/office/drawing/2014/main" id="{AC2FEED0-6380-3209-4BFD-0166351EAF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28FFB6-46E9-BD1F-4C9A-7E598999DCCC}"/>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1360610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92C2-FB21-FBEA-B434-66FE0DC963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E045E04-7B6A-C7E1-87ED-5D36280698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2956A9C-1463-095B-CA5B-A806DA0098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888EB7-4565-98E7-440E-B1650F4E0C6D}"/>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6" name="Footer Placeholder 5">
            <a:extLst>
              <a:ext uri="{FF2B5EF4-FFF2-40B4-BE49-F238E27FC236}">
                <a16:creationId xmlns:a16="http://schemas.microsoft.com/office/drawing/2014/main" id="{BA908C9D-6781-B58B-E1E1-5090E54AC8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F5D2FD-367C-80DA-3410-463B9003491F}"/>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1358383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4BF26-27D5-3FB8-FD5B-CE8AF13178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2172C9-FFF8-970E-48B2-BF6442F474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C2E463-80DA-2A78-4299-195AC3A404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9F76374-A3B7-42B6-96B4-5448CE764C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C0AD9-BF51-4CC9-AE56-97F65E0AF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7844642-84D7-D695-7AC1-F8367CA72FEA}"/>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8" name="Footer Placeholder 7">
            <a:extLst>
              <a:ext uri="{FF2B5EF4-FFF2-40B4-BE49-F238E27FC236}">
                <a16:creationId xmlns:a16="http://schemas.microsoft.com/office/drawing/2014/main" id="{05C72175-0510-CD99-5381-B5A4EB9758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2D9482-AA95-DE6A-DADF-170E314A8793}"/>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79345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C5E02-3081-8F2A-5AB3-9DA83D4F22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40CA8DB-2590-B117-E9AA-25ACAA756B9E}"/>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4" name="Footer Placeholder 3">
            <a:extLst>
              <a:ext uri="{FF2B5EF4-FFF2-40B4-BE49-F238E27FC236}">
                <a16:creationId xmlns:a16="http://schemas.microsoft.com/office/drawing/2014/main" id="{B2A22503-4B82-6E4E-7716-38D66B5F6E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2FBFB4F-0971-ECB9-D468-40AE496ECCCA}"/>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3103182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28D725-B25C-C9B8-FAD6-B0D0123520C8}"/>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3" name="Footer Placeholder 2">
            <a:extLst>
              <a:ext uri="{FF2B5EF4-FFF2-40B4-BE49-F238E27FC236}">
                <a16:creationId xmlns:a16="http://schemas.microsoft.com/office/drawing/2014/main" id="{355E80C9-BCE7-ECAC-BC93-4E1380149C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5FC4F15-6278-14E9-0697-77ACFD3BF558}"/>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3216806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A4AFE-4514-8D07-B44F-6B5EF1D0E6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74EC29-E89C-A96B-52DF-0C5494E1EF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BD037B-1A26-7823-B111-D75492F8CA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13510-B364-BE62-8968-23076FADA0A1}"/>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6" name="Footer Placeholder 5">
            <a:extLst>
              <a:ext uri="{FF2B5EF4-FFF2-40B4-BE49-F238E27FC236}">
                <a16:creationId xmlns:a16="http://schemas.microsoft.com/office/drawing/2014/main" id="{5E663329-12B4-E5FA-2A56-425DDA0F9E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770956-6B88-99A0-13D9-BAFEB8058A06}"/>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3053002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F5A0-C231-BFC3-A322-FDCE5CC1CA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9ADDA76-B29D-89FE-CAB0-860F96B8EA5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79432B7-3373-06F5-E076-670E137F75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769B86-B7F5-348F-53D7-6ECE1818289E}"/>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6" name="Footer Placeholder 5">
            <a:extLst>
              <a:ext uri="{FF2B5EF4-FFF2-40B4-BE49-F238E27FC236}">
                <a16:creationId xmlns:a16="http://schemas.microsoft.com/office/drawing/2014/main" id="{C9FF08C5-62AE-0D7D-1E9A-CA3A1E7D04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B8E923-E888-BEEA-9190-94C857B0CD1D}"/>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3571039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3DB1B-A6D2-D803-8E38-F0D43116D6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341084-A7EC-6EB3-F727-9B561002A2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C510A1-5368-0111-910D-1962CED5926F}"/>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5" name="Footer Placeholder 4">
            <a:extLst>
              <a:ext uri="{FF2B5EF4-FFF2-40B4-BE49-F238E27FC236}">
                <a16:creationId xmlns:a16="http://schemas.microsoft.com/office/drawing/2014/main" id="{32505051-38EA-8252-FA28-61FB2422D7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A7F37C-721F-EB2F-E9A6-9607AAC2B2E7}"/>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3142512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1C8345-6971-8913-0E9E-EBAFF26FA0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166412-46E0-2D44-7AC3-F5093B9467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C35946-66F5-E6AF-4EDE-02A2D1A5240E}"/>
              </a:ext>
            </a:extLst>
          </p:cNvPr>
          <p:cNvSpPr>
            <a:spLocks noGrp="1"/>
          </p:cNvSpPr>
          <p:nvPr>
            <p:ph type="dt" sz="half" idx="10"/>
          </p:nvPr>
        </p:nvSpPr>
        <p:spPr/>
        <p:txBody>
          <a:bodyPr/>
          <a:lstStyle/>
          <a:p>
            <a:fld id="{CF77B9CA-A32C-4D1D-B50C-352A4AF66B49}" type="datetimeFigureOut">
              <a:rPr lang="en-IN" smtClean="0"/>
              <a:t>19-10-2026</a:t>
            </a:fld>
            <a:endParaRPr lang="en-IN"/>
          </a:p>
        </p:txBody>
      </p:sp>
      <p:sp>
        <p:nvSpPr>
          <p:cNvPr id="5" name="Footer Placeholder 4">
            <a:extLst>
              <a:ext uri="{FF2B5EF4-FFF2-40B4-BE49-F238E27FC236}">
                <a16:creationId xmlns:a16="http://schemas.microsoft.com/office/drawing/2014/main" id="{89929D82-0FA8-22B1-3DBE-A743E41941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91BC0-7231-1AF2-C035-B61DD13D0A41}"/>
              </a:ext>
            </a:extLst>
          </p:cNvPr>
          <p:cNvSpPr>
            <a:spLocks noGrp="1"/>
          </p:cNvSpPr>
          <p:nvPr>
            <p:ph type="sldNum" sz="quarter" idx="12"/>
          </p:nvPr>
        </p:nvSpPr>
        <p:spPr/>
        <p:txBody>
          <a:bodyPr/>
          <a:lstStyle/>
          <a:p>
            <a:fld id="{7BDC2CD4-1CF7-449C-939F-B74BB9422D7B}" type="slidenum">
              <a:rPr lang="en-IN" smtClean="0"/>
              <a:t>‹#›</a:t>
            </a:fld>
            <a:endParaRPr lang="en-IN"/>
          </a:p>
        </p:txBody>
      </p:sp>
    </p:spTree>
    <p:extLst>
      <p:ext uri="{BB962C8B-B14F-4D97-AF65-F5344CB8AC3E}">
        <p14:creationId xmlns:p14="http://schemas.microsoft.com/office/powerpoint/2010/main" val="2295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1A6811-8840-A224-6BAE-59E3DA9B20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4965A0-4AE0-6A8B-C47F-D6272E6F83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318750-23B1-2757-C4F6-49A727A500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77B9CA-A32C-4D1D-B50C-352A4AF66B49}" type="datetimeFigureOut">
              <a:rPr lang="en-IN" smtClean="0"/>
              <a:t>19-10-2026</a:t>
            </a:fld>
            <a:endParaRPr lang="en-IN"/>
          </a:p>
        </p:txBody>
      </p:sp>
      <p:sp>
        <p:nvSpPr>
          <p:cNvPr id="5" name="Footer Placeholder 4">
            <a:extLst>
              <a:ext uri="{FF2B5EF4-FFF2-40B4-BE49-F238E27FC236}">
                <a16:creationId xmlns:a16="http://schemas.microsoft.com/office/drawing/2014/main" id="{3550D5F0-44E8-8272-E5E3-1810A2BE1F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410D6FC-FD0C-A48C-D669-22015CB871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DC2CD4-1CF7-449C-939F-B74BB9422D7B}" type="slidenum">
              <a:rPr lang="en-IN" smtClean="0"/>
              <a:t>‹#›</a:t>
            </a:fld>
            <a:endParaRPr lang="en-IN"/>
          </a:p>
        </p:txBody>
      </p:sp>
    </p:spTree>
    <p:extLst>
      <p:ext uri="{BB962C8B-B14F-4D97-AF65-F5344CB8AC3E}">
        <p14:creationId xmlns:p14="http://schemas.microsoft.com/office/powerpoint/2010/main" val="4285398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56C3C6-C892-C9DB-5D75-7C4BF6B55BB0}"/>
              </a:ext>
            </a:extLst>
          </p:cNvPr>
          <p:cNvSpPr txBox="1"/>
          <p:nvPr/>
        </p:nvSpPr>
        <p:spPr>
          <a:xfrm>
            <a:off x="609600" y="571499"/>
            <a:ext cx="10160000" cy="304800"/>
          </a:xfrm>
          <a:prstGeom prst="rect">
            <a:avLst/>
          </a:prstGeom>
          <a:noFill/>
        </p:spPr>
        <p:txBody>
          <a:bodyPr vert="horz" wrap="square" lIns="0" tIns="0" rIns="0" bIns="0" rtlCol="0">
            <a:noAutofit/>
          </a:bodyPr>
          <a:lstStyle/>
          <a:p>
            <a:pPr>
              <a:spcAft>
                <a:spcPts val="800"/>
              </a:spcAft>
            </a:pPr>
            <a:r>
              <a:rPr lang="en-IN" sz="1100" b="1">
                <a:solidFill>
                  <a:srgbClr val="426B42"/>
                </a:solidFill>
                <a:latin typeface="Arial" panose="020B0604020202020204" pitchFamily="34" charset="0"/>
              </a:rPr>
              <a:t>EE604 COURSE PROJECT / 2026</a:t>
            </a:r>
          </a:p>
        </p:txBody>
      </p:sp>
      <p:sp>
        <p:nvSpPr>
          <p:cNvPr id="3" name="TextBox 2">
            <a:extLst>
              <a:ext uri="{FF2B5EF4-FFF2-40B4-BE49-F238E27FC236}">
                <a16:creationId xmlns:a16="http://schemas.microsoft.com/office/drawing/2014/main" id="{EFE335A4-BE95-06BE-946C-08CCB0DBEEA8}"/>
              </a:ext>
            </a:extLst>
          </p:cNvPr>
          <p:cNvSpPr txBox="1"/>
          <p:nvPr/>
        </p:nvSpPr>
        <p:spPr>
          <a:xfrm>
            <a:off x="609600" y="1460499"/>
            <a:ext cx="6350000" cy="2349500"/>
          </a:xfrm>
          <a:prstGeom prst="rect">
            <a:avLst/>
          </a:prstGeom>
          <a:noFill/>
        </p:spPr>
        <p:txBody>
          <a:bodyPr vert="horz" wrap="square" lIns="0" tIns="0" rIns="0" bIns="0" rtlCol="0">
            <a:noAutofit/>
          </a:bodyPr>
          <a:lstStyle/>
          <a:p>
            <a:pPr>
              <a:spcAft>
                <a:spcPts val="800"/>
              </a:spcAft>
            </a:pPr>
            <a:r>
              <a:rPr lang="en-IN" sz="4400" b="1">
                <a:solidFill>
                  <a:srgbClr val="20382A"/>
                </a:solidFill>
                <a:latin typeface="Arial" panose="020B0604020202020204" pitchFamily="34" charset="0"/>
              </a:rPr>
              <a:t>Cricket Shot
Recognition</a:t>
            </a:r>
          </a:p>
        </p:txBody>
      </p:sp>
      <p:sp>
        <p:nvSpPr>
          <p:cNvPr id="4" name="TextBox 3">
            <a:extLst>
              <a:ext uri="{FF2B5EF4-FFF2-40B4-BE49-F238E27FC236}">
                <a16:creationId xmlns:a16="http://schemas.microsoft.com/office/drawing/2014/main" id="{01CA8F02-7714-0280-477C-608F51EFD26E}"/>
              </a:ext>
            </a:extLst>
          </p:cNvPr>
          <p:cNvSpPr txBox="1"/>
          <p:nvPr/>
        </p:nvSpPr>
        <p:spPr>
          <a:xfrm>
            <a:off x="635000" y="4102099"/>
            <a:ext cx="5588000" cy="1079500"/>
          </a:xfrm>
          <a:prstGeom prst="rect">
            <a:avLst/>
          </a:prstGeom>
          <a:noFill/>
        </p:spPr>
        <p:txBody>
          <a:bodyPr vert="horz" wrap="square" lIns="0" tIns="0" rIns="0" bIns="0" rtlCol="0">
            <a:noAutofit/>
          </a:bodyPr>
          <a:lstStyle/>
          <a:p>
            <a:pPr>
              <a:spcAft>
                <a:spcPts val="800"/>
              </a:spcAft>
            </a:pPr>
            <a:r>
              <a:rPr lang="en-US" sz="2000">
                <a:solidFill>
                  <a:srgbClr val="72806B"/>
                </a:solidFill>
                <a:latin typeface="Arial" panose="020B0604020202020204" pitchFamily="34" charset="0"/>
              </a:rPr>
              <a:t>Gradient features and a frozen CNN
A controlled four-class image study</a:t>
            </a:r>
            <a:endParaRPr lang="en-IN" sz="2000">
              <a:solidFill>
                <a:srgbClr val="72806B"/>
              </a:solidFill>
              <a:latin typeface="Arial" panose="020B0604020202020204" pitchFamily="34" charset="0"/>
            </a:endParaRPr>
          </a:p>
        </p:txBody>
      </p:sp>
      <p:pic>
        <p:nvPicPr>
          <p:cNvPr id="6" name="Picture 5">
            <a:extLst>
              <a:ext uri="{FF2B5EF4-FFF2-40B4-BE49-F238E27FC236}">
                <a16:creationId xmlns:a16="http://schemas.microsoft.com/office/drawing/2014/main" id="{EA5A23D6-29A3-2CAF-CFC5-9A8AF059708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75500" y="1915067"/>
            <a:ext cx="4445000" cy="2710366"/>
          </a:xfrm>
          <a:prstGeom prst="rect">
            <a:avLst/>
          </a:prstGeom>
        </p:spPr>
      </p:pic>
      <p:sp>
        <p:nvSpPr>
          <p:cNvPr id="7" name="TextBox 6">
            <a:extLst>
              <a:ext uri="{FF2B5EF4-FFF2-40B4-BE49-F238E27FC236}">
                <a16:creationId xmlns:a16="http://schemas.microsoft.com/office/drawing/2014/main" id="{0F2B32E6-CAEF-371F-CA2E-6FEC1E59A497}"/>
              </a:ext>
            </a:extLst>
          </p:cNvPr>
          <p:cNvSpPr txBox="1"/>
          <p:nvPr/>
        </p:nvSpPr>
        <p:spPr>
          <a:xfrm>
            <a:off x="635000" y="5372099"/>
            <a:ext cx="10795000" cy="863600"/>
          </a:xfrm>
          <a:prstGeom prst="rect">
            <a:avLst/>
          </a:prstGeom>
          <a:noFill/>
        </p:spPr>
        <p:txBody>
          <a:bodyPr vert="horz" wrap="square" lIns="0" tIns="0" rIns="0" bIns="0" rtlCol="0">
            <a:noAutofit/>
          </a:bodyPr>
          <a:lstStyle/>
          <a:p>
            <a:pPr>
              <a:spcAft>
                <a:spcPts val="200"/>
              </a:spcAft>
            </a:pPr>
            <a:r>
              <a:rPr lang="en-IN" sz="1200">
                <a:solidFill>
                  <a:srgbClr val="20382A"/>
                </a:solidFill>
                <a:latin typeface="Arial" panose="020B0604020202020204" pitchFamily="34" charset="0"/>
              </a:rPr>
              <a:t>Hrushikesh Roop Avvari (230249)  /  Voora Rakesh (231174)
Gokavarapu Manikanta Sri Akshith (230418)
Lokesh Kumar Moond (230606)  /  Bollu Sharath chandra (230303)</a:t>
            </a:r>
          </a:p>
        </p:txBody>
      </p:sp>
      <p:sp>
        <p:nvSpPr>
          <p:cNvPr id="8" name="TextBox 7">
            <a:extLst>
              <a:ext uri="{FF2B5EF4-FFF2-40B4-BE49-F238E27FC236}">
                <a16:creationId xmlns:a16="http://schemas.microsoft.com/office/drawing/2014/main" id="{54E88744-BA7F-04A9-8B84-254402B00A4A}"/>
              </a:ext>
            </a:extLst>
          </p:cNvPr>
          <p:cNvSpPr txBox="1"/>
          <p:nvPr/>
        </p:nvSpPr>
        <p:spPr>
          <a:xfrm>
            <a:off x="635000" y="6426200"/>
            <a:ext cx="10795000" cy="2413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https://github.com/hrushikeshroop/cricket-shot-recognition-ee604</a:t>
            </a:r>
          </a:p>
        </p:txBody>
      </p:sp>
    </p:spTree>
    <p:extLst>
      <p:ext uri="{BB962C8B-B14F-4D97-AF65-F5344CB8AC3E}">
        <p14:creationId xmlns:p14="http://schemas.microsoft.com/office/powerpoint/2010/main" val="1487526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F92A13-D234-5C20-7699-16FBEAB04122}"/>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Problem, labels and constraints</a:t>
            </a:r>
          </a:p>
        </p:txBody>
      </p:sp>
      <p:sp>
        <p:nvSpPr>
          <p:cNvPr id="3" name="TextBox 2">
            <a:extLst>
              <a:ext uri="{FF2B5EF4-FFF2-40B4-BE49-F238E27FC236}">
                <a16:creationId xmlns:a16="http://schemas.microsoft.com/office/drawing/2014/main" id="{383D02EC-1277-03DC-180D-494007789000}"/>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Input: one selected cricket image. Output: one of four dataset labels.</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3659C08B-32A6-A4B0-D62B-9C2652469CE5}"/>
              </a:ext>
            </a:extLst>
          </p:cNvPr>
          <p:cNvSpPr txBox="1"/>
          <p:nvPr/>
        </p:nvSpPr>
        <p:spPr>
          <a:xfrm>
            <a:off x="635000" y="1904999"/>
            <a:ext cx="4699000" cy="2159000"/>
          </a:xfrm>
          <a:prstGeom prst="rect">
            <a:avLst/>
          </a:prstGeom>
          <a:noFill/>
        </p:spPr>
        <p:txBody>
          <a:bodyPr vert="horz" wrap="square" lIns="0" tIns="0" rIns="0" bIns="0" rtlCol="0">
            <a:noAutofit/>
          </a:bodyPr>
          <a:lstStyle/>
          <a:p>
            <a:pPr>
              <a:spcAft>
                <a:spcPts val="800"/>
              </a:spcAft>
            </a:pPr>
            <a:r>
              <a:rPr lang="en-US" sz="2600" b="1">
                <a:solidFill>
                  <a:srgbClr val="20382A"/>
                </a:solidFill>
                <a:latin typeface="Arial" panose="020B0604020202020204" pitchFamily="34" charset="0"/>
              </a:rPr>
              <a:t>Drive
Leg glance / flick
Pull
Sweep</a:t>
            </a:r>
            <a:endParaRPr lang="en-IN" sz="2600" b="1">
              <a:solidFill>
                <a:srgbClr val="20382A"/>
              </a:solidFill>
              <a:latin typeface="Arial" panose="020B0604020202020204" pitchFamily="34" charset="0"/>
            </a:endParaRPr>
          </a:p>
        </p:txBody>
      </p:sp>
      <p:sp>
        <p:nvSpPr>
          <p:cNvPr id="5" name="TextBox 4">
            <a:extLst>
              <a:ext uri="{FF2B5EF4-FFF2-40B4-BE49-F238E27FC236}">
                <a16:creationId xmlns:a16="http://schemas.microsoft.com/office/drawing/2014/main" id="{081D08E0-C5CE-27E3-D237-2F7D9FF42BF7}"/>
              </a:ext>
            </a:extLst>
          </p:cNvPr>
          <p:cNvSpPr txBox="1"/>
          <p:nvPr/>
        </p:nvSpPr>
        <p:spPr>
          <a:xfrm>
            <a:off x="635000" y="4444999"/>
            <a:ext cx="10795000" cy="1333500"/>
          </a:xfrm>
          <a:prstGeom prst="rect">
            <a:avLst/>
          </a:prstGeom>
          <a:noFill/>
        </p:spPr>
        <p:txBody>
          <a:bodyPr vert="horz" wrap="square" lIns="0" tIns="0" rIns="0" bIns="0" rtlCol="0">
            <a:noAutofit/>
          </a:bodyPr>
          <a:lstStyle/>
          <a:p>
            <a:pPr>
              <a:spcAft>
                <a:spcPts val="800"/>
              </a:spcAft>
            </a:pPr>
            <a:r>
              <a:rPr lang="en-US" sz="2000">
                <a:solidFill>
                  <a:srgbClr val="20382A"/>
                </a:solidFill>
                <a:latin typeface="Arial" panose="020B0604020202020204" pitchFamily="34" charset="0"/>
              </a:rPr>
              <a:t>CPU inference, offline after setup.
No batter detection, contact localization or technique grading.
Unknown shots can still receive confident scores.</a:t>
            </a:r>
            <a:endParaRPr lang="en-IN" sz="2000">
              <a:solidFill>
                <a:srgbClr val="20382A"/>
              </a:solidFill>
              <a:latin typeface="Arial" panose="020B0604020202020204" pitchFamily="34" charset="0"/>
            </a:endParaRPr>
          </a:p>
        </p:txBody>
      </p:sp>
      <p:pic>
        <p:nvPicPr>
          <p:cNvPr id="7" name="Picture 6">
            <a:extLst>
              <a:ext uri="{FF2B5EF4-FFF2-40B4-BE49-F238E27FC236}">
                <a16:creationId xmlns:a16="http://schemas.microsoft.com/office/drawing/2014/main" id="{CD02EFE2-BC2F-D084-E715-21BA3AC4FEE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562180" y="1841500"/>
            <a:ext cx="2528639" cy="2413000"/>
          </a:xfrm>
          <a:prstGeom prst="rect">
            <a:avLst/>
          </a:prstGeom>
        </p:spPr>
      </p:pic>
      <p:sp>
        <p:nvSpPr>
          <p:cNvPr id="8" name="TextBox 7">
            <a:extLst>
              <a:ext uri="{FF2B5EF4-FFF2-40B4-BE49-F238E27FC236}">
                <a16:creationId xmlns:a16="http://schemas.microsoft.com/office/drawing/2014/main" id="{7815881B-5289-8591-EA61-DC27AF04C3B4}"/>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9" name="TextBox 8">
            <a:extLst>
              <a:ext uri="{FF2B5EF4-FFF2-40B4-BE49-F238E27FC236}">
                <a16:creationId xmlns:a16="http://schemas.microsoft.com/office/drawing/2014/main" id="{935745FA-9E70-1199-749C-9406E5BCD813}"/>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2</a:t>
            </a:r>
          </a:p>
        </p:txBody>
      </p:sp>
    </p:spTree>
    <p:extLst>
      <p:ext uri="{BB962C8B-B14F-4D97-AF65-F5344CB8AC3E}">
        <p14:creationId xmlns:p14="http://schemas.microsoft.com/office/powerpoint/2010/main" val="4033057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2CAC3B-9CB7-48E2-9D44-B255FE9D90B5}"/>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Previous cricket-recognition methods</a:t>
            </a:r>
          </a:p>
        </p:txBody>
      </p:sp>
      <p:sp>
        <p:nvSpPr>
          <p:cNvPr id="3" name="TextBox 2">
            <a:extLst>
              <a:ext uri="{FF2B5EF4-FFF2-40B4-BE49-F238E27FC236}">
                <a16:creationId xmlns:a16="http://schemas.microsoft.com/office/drawing/2014/main" id="{73B07DBC-E0FF-C82A-D110-B1BEDA60CB9E}"/>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Video sequence studies provide context for our narrower image task</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D0C54F80-752A-06AA-897C-C5B3D0D92BBC}"/>
              </a:ext>
            </a:extLst>
          </p:cNvPr>
          <p:cNvSpPr txBox="1"/>
          <p:nvPr/>
        </p:nvSpPr>
        <p:spPr>
          <a:xfrm>
            <a:off x="635000" y="5168899"/>
            <a:ext cx="10795000" cy="406400"/>
          </a:xfrm>
          <a:prstGeom prst="rect">
            <a:avLst/>
          </a:prstGeom>
          <a:noFill/>
        </p:spPr>
        <p:txBody>
          <a:bodyPr vert="horz" wrap="square" lIns="0" tIns="0" rIns="0" bIns="0" rtlCol="0">
            <a:noAutofit/>
          </a:bodyPr>
          <a:lstStyle/>
          <a:p>
            <a:pPr>
              <a:spcAft>
                <a:spcPts val="800"/>
              </a:spcAft>
            </a:pPr>
            <a:r>
              <a:rPr lang="en-IN">
                <a:solidFill>
                  <a:srgbClr val="20382A"/>
                </a:solidFill>
                <a:latin typeface="Arial" panose="020B0604020202020204" pitchFamily="34" charset="0"/>
              </a:rPr>
              <a:t>Course links: HOG (Lecture 10) and frozen features / classification (Lecture 15).</a:t>
            </a:r>
          </a:p>
        </p:txBody>
      </p:sp>
      <p:graphicFrame>
        <p:nvGraphicFramePr>
          <p:cNvPr id="5" name="Table 4">
            <a:extLst>
              <a:ext uri="{FF2B5EF4-FFF2-40B4-BE49-F238E27FC236}">
                <a16:creationId xmlns:a16="http://schemas.microsoft.com/office/drawing/2014/main" id="{9CBF0CEF-FE35-8DCE-6D15-6A13BDB8668E}"/>
              </a:ext>
            </a:extLst>
          </p:cNvPr>
          <p:cNvGraphicFramePr>
            <a:graphicFrameLocks noGrp="1"/>
          </p:cNvGraphicFramePr>
          <p:nvPr>
            <p:extLst>
              <p:ext uri="{D42A27DB-BD31-4B8C-83A1-F6EECF244321}">
                <p14:modId xmlns:p14="http://schemas.microsoft.com/office/powerpoint/2010/main" val="1817675092"/>
              </p:ext>
            </p:extLst>
          </p:nvPr>
        </p:nvGraphicFramePr>
        <p:xfrm>
          <a:off x="635000" y="1905000"/>
          <a:ext cx="10922000" cy="2984500"/>
        </p:xfrm>
        <a:graphic>
          <a:graphicData uri="http://schemas.openxmlformats.org/drawingml/2006/table">
            <a:tbl>
              <a:tblPr firstRow="1" bandRow="1">
                <a:tableStyleId>{5C22544A-7EE6-4342-B048-85BDC9FD1C3A}</a:tableStyleId>
              </a:tblPr>
              <a:tblGrid>
                <a:gridCol w="2603500">
                  <a:extLst>
                    <a:ext uri="{9D8B030D-6E8A-4147-A177-3AD203B41FA5}">
                      <a16:colId xmlns:a16="http://schemas.microsoft.com/office/drawing/2014/main" val="268256143"/>
                    </a:ext>
                  </a:extLst>
                </a:gridCol>
                <a:gridCol w="4191000">
                  <a:extLst>
                    <a:ext uri="{9D8B030D-6E8A-4147-A177-3AD203B41FA5}">
                      <a16:colId xmlns:a16="http://schemas.microsoft.com/office/drawing/2014/main" val="28186568"/>
                    </a:ext>
                  </a:extLst>
                </a:gridCol>
                <a:gridCol w="4127500">
                  <a:extLst>
                    <a:ext uri="{9D8B030D-6E8A-4147-A177-3AD203B41FA5}">
                      <a16:colId xmlns:a16="http://schemas.microsoft.com/office/drawing/2014/main" val="1415995952"/>
                    </a:ext>
                  </a:extLst>
                </a:gridCol>
              </a:tblGrid>
              <a:tr h="994833">
                <a:tc>
                  <a:txBody>
                    <a:bodyPr/>
                    <a:lstStyle/>
                    <a:p>
                      <a:r>
                        <a:rPr lang="en-IN" sz="1700" b="1">
                          <a:solidFill>
                            <a:srgbClr val="FFFFFF"/>
                          </a:solidFill>
                          <a:latin typeface="Arial" panose="020B0604020202020204" pitchFamily="34" charset="0"/>
                        </a:rPr>
                        <a:t>Study</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Input and main method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Difference in this project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2965983849"/>
                  </a:ext>
                </a:extLst>
              </a:tr>
              <a:tr h="994833">
                <a:tc>
                  <a:txBody>
                    <a:bodyPr/>
                    <a:lstStyle/>
                    <a:p>
                      <a:r>
                        <a:rPr lang="en-IN" sz="1700" b="0">
                          <a:solidFill>
                            <a:srgbClr val="20382A"/>
                          </a:solidFill>
                          <a:latin typeface="Arial" panose="020B0604020202020204" pitchFamily="34" charset="0"/>
                        </a:rPr>
                        <a:t>Sen et al. (2021)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US" sz="1700" b="0">
                          <a:solidFill>
                            <a:srgbClr val="20382A"/>
                          </a:solidFill>
                          <a:latin typeface="Arial" panose="020B0604020202020204" pitchFamily="34" charset="0"/>
                        </a:rPr>
                        <a:t>Ten-class video
CNN / VGG16 features + GRU</a:t>
                      </a:r>
                      <a:endParaRPr lang="en-IN" sz="17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US" sz="1700" b="0">
                          <a:solidFill>
                            <a:srgbClr val="20382A"/>
                          </a:solidFill>
                          <a:latin typeface="Arial" panose="020B0604020202020204" pitchFamily="34" charset="0"/>
                        </a:rPr>
                        <a:t>One image, four labels
Frozen MobileNetV2 + linear heads</a:t>
                      </a:r>
                      <a:endParaRPr lang="en-IN" sz="17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2368419523"/>
                  </a:ext>
                </a:extLst>
              </a:tr>
              <a:tr h="994833">
                <a:tc>
                  <a:txBody>
                    <a:bodyPr/>
                    <a:lstStyle/>
                    <a:p>
                      <a:r>
                        <a:rPr lang="en-IN" sz="1700" b="0">
                          <a:solidFill>
                            <a:srgbClr val="20382A"/>
                          </a:solidFill>
                          <a:latin typeface="Arial" panose="020B0604020202020204" pitchFamily="34" charset="0"/>
                        </a:rPr>
                        <a:t>Kang (2025 preprint)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US" sz="1700" b="0">
                          <a:solidFill>
                            <a:srgbClr val="20382A"/>
                          </a:solidFill>
                          <a:latin typeface="Arial" panose="020B0604020202020204" pitchFamily="34" charset="0"/>
                        </a:rPr>
                        <a:t>Ten-class video
EfficientNet-B0 + bidirectional GRU
and temporal attention</a:t>
                      </a:r>
                      <a:endParaRPr lang="en-IN" sz="17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US" sz="1700" b="0">
                          <a:solidFill>
                            <a:srgbClr val="20382A"/>
                          </a:solidFill>
                          <a:latin typeface="Arial" panose="020B0604020202020204" pitchFamily="34" charset="0"/>
                        </a:rPr>
                        <a:t>Two spatial views
Explicit abs-difference ablation
No temporal sequence model</a:t>
                      </a:r>
                      <a:endParaRPr lang="en-IN" sz="17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664610044"/>
                  </a:ext>
                </a:extLst>
              </a:tr>
            </a:tbl>
          </a:graphicData>
        </a:graphic>
      </p:graphicFrame>
      <p:sp>
        <p:nvSpPr>
          <p:cNvPr id="6" name="TextBox 5">
            <a:extLst>
              <a:ext uri="{FF2B5EF4-FFF2-40B4-BE49-F238E27FC236}">
                <a16:creationId xmlns:a16="http://schemas.microsoft.com/office/drawing/2014/main" id="{F9B6C7F8-C81D-E263-F75C-5DD254C0ED02}"/>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Different data, labels and splits prevent direct comparison of published percentages.</a:t>
            </a:r>
            <a:endParaRPr lang="en-IN" sz="1600">
              <a:solidFill>
                <a:srgbClr val="AF623E"/>
              </a:solidFill>
              <a:latin typeface="Arial" panose="020B0604020202020204" pitchFamily="34" charset="0"/>
            </a:endParaRPr>
          </a:p>
        </p:txBody>
      </p:sp>
      <p:sp>
        <p:nvSpPr>
          <p:cNvPr id="7" name="TextBox 6">
            <a:extLst>
              <a:ext uri="{FF2B5EF4-FFF2-40B4-BE49-F238E27FC236}">
                <a16:creationId xmlns:a16="http://schemas.microsoft.com/office/drawing/2014/main" id="{53001886-38C6-169B-1EC8-031FBE33A479}"/>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8" name="TextBox 7">
            <a:extLst>
              <a:ext uri="{FF2B5EF4-FFF2-40B4-BE49-F238E27FC236}">
                <a16:creationId xmlns:a16="http://schemas.microsoft.com/office/drawing/2014/main" id="{E41B022E-1559-16D0-B740-27F4061636C5}"/>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3</a:t>
            </a:r>
          </a:p>
        </p:txBody>
      </p:sp>
    </p:spTree>
    <p:extLst>
      <p:ext uri="{BB962C8B-B14F-4D97-AF65-F5344CB8AC3E}">
        <p14:creationId xmlns:p14="http://schemas.microsoft.com/office/powerpoint/2010/main" val="1150676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CD88FC-EF4C-7EE2-C38A-383244E5490F}"/>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Images and fixed visual-group split</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ED31910F-0165-8685-A8A7-CEE8FF94E0C3}"/>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4,724 original files; 4,723 exact representatives in 363 visual groups</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C3C42191-0F81-760F-9F11-2FE08BD97606}"/>
              </a:ext>
            </a:extLst>
          </p:cNvPr>
          <p:cNvSpPr txBox="1"/>
          <p:nvPr/>
        </p:nvSpPr>
        <p:spPr>
          <a:xfrm>
            <a:off x="635000" y="5333999"/>
            <a:ext cx="10795000" cy="736600"/>
          </a:xfrm>
          <a:prstGeom prst="rect">
            <a:avLst/>
          </a:prstGeom>
          <a:noFill/>
        </p:spPr>
        <p:txBody>
          <a:bodyPr vert="horz" wrap="square" lIns="0" tIns="0" rIns="0" bIns="0" rtlCol="0">
            <a:noAutofit/>
          </a:bodyPr>
          <a:lstStyle/>
          <a:p>
            <a:pPr>
              <a:spcAft>
                <a:spcPts val="800"/>
              </a:spcAft>
            </a:pPr>
            <a:r>
              <a:rPr lang="en-US" sz="1700">
                <a:solidFill>
                  <a:srgbClr val="20382A"/>
                </a:solidFill>
                <a:latin typeface="Arial" panose="020B0604020202020204" pitchFamily="34" charset="0"/>
              </a:rPr>
              <a:t>221 training groups / 72 validation groups / 70 test groups
No shared group or decoded hash. Match and player identities remain unknown.</a:t>
            </a:r>
            <a:endParaRPr lang="en-IN" sz="1700">
              <a:solidFill>
                <a:srgbClr val="20382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9FE6D821-7A6A-5243-90D0-413103D3190B}"/>
              </a:ext>
            </a:extLst>
          </p:cNvPr>
          <p:cNvGraphicFramePr>
            <a:graphicFrameLocks noGrp="1"/>
          </p:cNvGraphicFramePr>
          <p:nvPr>
            <p:extLst>
              <p:ext uri="{D42A27DB-BD31-4B8C-83A1-F6EECF244321}">
                <p14:modId xmlns:p14="http://schemas.microsoft.com/office/powerpoint/2010/main" val="4142817996"/>
              </p:ext>
            </p:extLst>
          </p:nvPr>
        </p:nvGraphicFramePr>
        <p:xfrm>
          <a:off x="635000" y="1905000"/>
          <a:ext cx="10922000" cy="31115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974904807"/>
                    </a:ext>
                  </a:extLst>
                </a:gridCol>
                <a:gridCol w="2286000">
                  <a:extLst>
                    <a:ext uri="{9D8B030D-6E8A-4147-A177-3AD203B41FA5}">
                      <a16:colId xmlns:a16="http://schemas.microsoft.com/office/drawing/2014/main" val="3912473033"/>
                    </a:ext>
                  </a:extLst>
                </a:gridCol>
                <a:gridCol w="2286000">
                  <a:extLst>
                    <a:ext uri="{9D8B030D-6E8A-4147-A177-3AD203B41FA5}">
                      <a16:colId xmlns:a16="http://schemas.microsoft.com/office/drawing/2014/main" val="1780960874"/>
                    </a:ext>
                  </a:extLst>
                </a:gridCol>
                <a:gridCol w="2286000">
                  <a:extLst>
                    <a:ext uri="{9D8B030D-6E8A-4147-A177-3AD203B41FA5}">
                      <a16:colId xmlns:a16="http://schemas.microsoft.com/office/drawing/2014/main" val="290095599"/>
                    </a:ext>
                  </a:extLst>
                </a:gridCol>
              </a:tblGrid>
              <a:tr h="622300">
                <a:tc>
                  <a:txBody>
                    <a:bodyPr/>
                    <a:lstStyle/>
                    <a:p>
                      <a:r>
                        <a:rPr lang="en-IN" sz="1700" b="1">
                          <a:solidFill>
                            <a:srgbClr val="FFFFFF"/>
                          </a:solidFill>
                          <a:latin typeface="Arial" panose="020B0604020202020204" pitchFamily="34" charset="0"/>
                        </a:rPr>
                        <a:t>Class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Train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Validation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Test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3826400507"/>
                  </a:ext>
                </a:extLst>
              </a:tr>
              <a:tr h="622300">
                <a:tc>
                  <a:txBody>
                    <a:bodyPr/>
                    <a:lstStyle/>
                    <a:p>
                      <a:r>
                        <a:rPr lang="en-IN" sz="1700" b="0">
                          <a:solidFill>
                            <a:srgbClr val="20382A"/>
                          </a:solidFill>
                          <a:latin typeface="Arial" panose="020B0604020202020204" pitchFamily="34" charset="0"/>
                        </a:rPr>
                        <a:t>Drive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734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244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245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07230853"/>
                  </a:ext>
                </a:extLst>
              </a:tr>
              <a:tr h="622300">
                <a:tc>
                  <a:txBody>
                    <a:bodyPr/>
                    <a:lstStyle/>
                    <a:p>
                      <a:r>
                        <a:rPr lang="en-IN" sz="1700" b="0">
                          <a:solidFill>
                            <a:srgbClr val="20382A"/>
                          </a:solidFill>
                          <a:latin typeface="Arial" panose="020B0604020202020204" pitchFamily="34" charset="0"/>
                        </a:rPr>
                        <a:t>Glance / flick</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672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224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224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1403060372"/>
                  </a:ext>
                </a:extLst>
              </a:tr>
              <a:tr h="622300">
                <a:tc>
                  <a:txBody>
                    <a:bodyPr/>
                    <a:lstStyle/>
                    <a:p>
                      <a:r>
                        <a:rPr lang="en-IN" sz="1700" b="0">
                          <a:solidFill>
                            <a:srgbClr val="20382A"/>
                          </a:solidFill>
                          <a:latin typeface="Arial" panose="020B0604020202020204" pitchFamily="34" charset="0"/>
                        </a:rPr>
                        <a:t>Pull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756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252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252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536898977"/>
                  </a:ext>
                </a:extLst>
              </a:tr>
              <a:tr h="622300">
                <a:tc>
                  <a:txBody>
                    <a:bodyPr/>
                    <a:lstStyle/>
                    <a:p>
                      <a:r>
                        <a:rPr lang="en-IN" sz="1700" b="0">
                          <a:solidFill>
                            <a:srgbClr val="20382A"/>
                          </a:solidFill>
                          <a:latin typeface="Arial" panose="020B0604020202020204" pitchFamily="34" charset="0"/>
                        </a:rPr>
                        <a:t>Sweep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672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224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224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3457525891"/>
                  </a:ext>
                </a:extLst>
              </a:tr>
            </a:tbl>
          </a:graphicData>
        </a:graphic>
      </p:graphicFrame>
      <p:sp>
        <p:nvSpPr>
          <p:cNvPr id="6" name="TextBox 5">
            <a:extLst>
              <a:ext uri="{FF2B5EF4-FFF2-40B4-BE49-F238E27FC236}">
                <a16:creationId xmlns:a16="http://schemas.microsoft.com/office/drawing/2014/main" id="{EABF3DE7-ABA0-7206-9CD7-45CC9B4F872C}"/>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16278DD0-4B8F-F0C5-06EB-6362CDE329A4}"/>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4</a:t>
            </a:r>
          </a:p>
        </p:txBody>
      </p:sp>
    </p:spTree>
    <p:extLst>
      <p:ext uri="{BB962C8B-B14F-4D97-AF65-F5344CB8AC3E}">
        <p14:creationId xmlns:p14="http://schemas.microsoft.com/office/powerpoint/2010/main" val="3152168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27681B-DE70-1A5A-0B07-0C6507D825B7}"/>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Evaluation choices and their limits</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0F59A09F-FDBA-F89B-DBC9-2733E5494741}"/>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All five methods share images, labels, visual groups and split identities</a:t>
            </a:r>
            <a:endParaRPr lang="en-IN" sz="1500">
              <a:solidFill>
                <a:srgbClr val="72806B"/>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3460A097-3395-6F91-B14A-91110CEE652D}"/>
              </a:ext>
            </a:extLst>
          </p:cNvPr>
          <p:cNvGraphicFramePr>
            <a:graphicFrameLocks noGrp="1"/>
          </p:cNvGraphicFramePr>
          <p:nvPr>
            <p:extLst>
              <p:ext uri="{D42A27DB-BD31-4B8C-83A1-F6EECF244321}">
                <p14:modId xmlns:p14="http://schemas.microsoft.com/office/powerpoint/2010/main" val="2560091700"/>
              </p:ext>
            </p:extLst>
          </p:nvPr>
        </p:nvGraphicFramePr>
        <p:xfrm>
          <a:off x="635000" y="1905000"/>
          <a:ext cx="10922000" cy="3365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530089302"/>
                    </a:ext>
                  </a:extLst>
                </a:gridCol>
                <a:gridCol w="3302000">
                  <a:extLst>
                    <a:ext uri="{9D8B030D-6E8A-4147-A177-3AD203B41FA5}">
                      <a16:colId xmlns:a16="http://schemas.microsoft.com/office/drawing/2014/main" val="351520668"/>
                    </a:ext>
                  </a:extLst>
                </a:gridCol>
                <a:gridCol w="3810000">
                  <a:extLst>
                    <a:ext uri="{9D8B030D-6E8A-4147-A177-3AD203B41FA5}">
                      <a16:colId xmlns:a16="http://schemas.microsoft.com/office/drawing/2014/main" val="898725276"/>
                    </a:ext>
                  </a:extLst>
                </a:gridCol>
              </a:tblGrid>
              <a:tr h="673100">
                <a:tc>
                  <a:txBody>
                    <a:bodyPr/>
                    <a:lstStyle/>
                    <a:p>
                      <a:r>
                        <a:rPr lang="en-IN" sz="1600" b="1">
                          <a:solidFill>
                            <a:srgbClr val="FFFFFF"/>
                          </a:solidFill>
                          <a:latin typeface="Arial" panose="020B0604020202020204" pitchFamily="34" charset="0"/>
                        </a:rPr>
                        <a:t>Choice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600" b="1">
                          <a:solidFill>
                            <a:srgbClr val="FFFFFF"/>
                          </a:solidFill>
                          <a:latin typeface="Arial" panose="020B0604020202020204" pitchFamily="34" charset="0"/>
                        </a:rPr>
                        <a:t>Data used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600" b="1">
                          <a:solidFill>
                            <a:srgbClr val="FFFFFF"/>
                          </a:solidFill>
                          <a:latin typeface="Arial" panose="020B0604020202020204" pitchFamily="34" charset="0"/>
                        </a:rPr>
                        <a:t>What remains fixed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3589679137"/>
                  </a:ext>
                </a:extLst>
              </a:tr>
              <a:tr h="673100">
                <a:tc>
                  <a:txBody>
                    <a:bodyPr/>
                    <a:lstStyle/>
                    <a:p>
                      <a:r>
                        <a:rPr lang="en-IN" sz="1600" b="0">
                          <a:solidFill>
                            <a:srgbClr val="20382A"/>
                          </a:solidFill>
                          <a:latin typeface="Arial" panose="020B0604020202020204" pitchFamily="34" charset="0"/>
                        </a:rPr>
                        <a:t>Fit classifier coefficients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Training only</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Frozen CNN; deterministic HOG</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3328367624"/>
                  </a:ext>
                </a:extLst>
              </a:tr>
              <a:tr h="673100">
                <a:tc>
                  <a:txBody>
                    <a:bodyPr/>
                    <a:lstStyle/>
                    <a:p>
                      <a:r>
                        <a:rPr lang="en-US" sz="1600" b="0">
                          <a:solidFill>
                            <a:srgbClr val="20382A"/>
                          </a:solidFill>
                          <a:latin typeface="Arial" panose="020B0604020202020204" pitchFamily="34" charset="0"/>
                        </a:rPr>
                        <a:t>Choose C: 0.1, 1, 10, 100</a:t>
                      </a:r>
                      <a:endParaRPr lang="en-IN" sz="16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600" b="0">
                          <a:solidFill>
                            <a:srgbClr val="20382A"/>
                          </a:solidFill>
                          <a:latin typeface="Arial" panose="020B0604020202020204" pitchFamily="34" charset="0"/>
                        </a:rPr>
                        <a:t>Validation macro F1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600" b="0">
                          <a:solidFill>
                            <a:srgbClr val="20382A"/>
                          </a:solidFill>
                          <a:latin typeface="Arial" panose="020B0604020202020204" pitchFamily="34" charset="0"/>
                        </a:rPr>
                        <a:t>Smallest C wins ties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1131023998"/>
                  </a:ext>
                </a:extLst>
              </a:tr>
              <a:tr h="673100">
                <a:tc>
                  <a:txBody>
                    <a:bodyPr/>
                    <a:lstStyle/>
                    <a:p>
                      <a:r>
                        <a:rPr lang="en-IN" sz="1600" b="0">
                          <a:solidFill>
                            <a:srgbClr val="20382A"/>
                          </a:solidFill>
                          <a:latin typeface="Arial" panose="020B0604020202020204" pitchFamily="34" charset="0"/>
                        </a:rPr>
                        <a:t>Temperature and review</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Original validation reuse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Keep original settings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685300200"/>
                  </a:ext>
                </a:extLst>
              </a:tr>
              <a:tr h="673100">
                <a:tc>
                  <a:txBody>
                    <a:bodyPr/>
                    <a:lstStyle/>
                    <a:p>
                      <a:r>
                        <a:rPr lang="en-IN" sz="1600" b="0">
                          <a:solidFill>
                            <a:srgbClr val="20382A"/>
                          </a:solidFill>
                          <a:latin typeface="Arial" panose="020B0604020202020204" pitchFamily="34" charset="0"/>
                        </a:rPr>
                        <a:t>Final comparison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600" b="0">
                          <a:solidFill>
                            <a:srgbClr val="20382A"/>
                          </a:solidFill>
                          <a:latin typeface="Arial" panose="020B0604020202020204" pitchFamily="34" charset="0"/>
                        </a:rPr>
                        <a:t>Same 945 test identities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US" sz="1600" b="0">
                          <a:solidFill>
                            <a:srgbClr val="20382A"/>
                          </a:solidFill>
                          <a:latin typeface="Arial" panose="020B0604020202020204" pitchFamily="34" charset="0"/>
                        </a:rPr>
                        <a:t>No new split or seed search</a:t>
                      </a:r>
                      <a:endParaRPr lang="en-IN" sz="16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797364513"/>
                  </a:ext>
                </a:extLst>
              </a:tr>
            </a:tbl>
          </a:graphicData>
        </a:graphic>
      </p:graphicFrame>
      <p:sp>
        <p:nvSpPr>
          <p:cNvPr id="5" name="TextBox 4">
            <a:extLst>
              <a:ext uri="{FF2B5EF4-FFF2-40B4-BE49-F238E27FC236}">
                <a16:creationId xmlns:a16="http://schemas.microsoft.com/office/drawing/2014/main" id="{D3BC3E4B-19F4-D134-0CDC-14C807A1861F}"/>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Exploratory: grouping changed after preliminary evaluation; HOG was added after old results were known.</a:t>
            </a:r>
            <a:endParaRPr lang="en-IN" sz="1600">
              <a:solidFill>
                <a:srgbClr val="AF623E"/>
              </a:solidFill>
              <a:latin typeface="Arial" panose="020B0604020202020204" pitchFamily="34" charset="0"/>
            </a:endParaRPr>
          </a:p>
        </p:txBody>
      </p:sp>
      <p:sp>
        <p:nvSpPr>
          <p:cNvPr id="6" name="TextBox 5">
            <a:extLst>
              <a:ext uri="{FF2B5EF4-FFF2-40B4-BE49-F238E27FC236}">
                <a16:creationId xmlns:a16="http://schemas.microsoft.com/office/drawing/2014/main" id="{73FA8150-46A1-3B8C-FF55-9D8214275691}"/>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B9E58C4B-5923-DBC3-63AC-6FB5BC4D6DCC}"/>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5</a:t>
            </a:r>
          </a:p>
        </p:txBody>
      </p:sp>
    </p:spTree>
    <p:extLst>
      <p:ext uri="{BB962C8B-B14F-4D97-AF65-F5344CB8AC3E}">
        <p14:creationId xmlns:p14="http://schemas.microsoft.com/office/powerpoint/2010/main" val="336329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830082-990D-6409-4108-D6007D7B192E}"/>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Implemented pipeline</a:t>
            </a:r>
          </a:p>
        </p:txBody>
      </p:sp>
      <p:sp>
        <p:nvSpPr>
          <p:cNvPr id="3" name="TextBox 2">
            <a:extLst>
              <a:ext uri="{FF2B5EF4-FFF2-40B4-BE49-F238E27FC236}">
                <a16:creationId xmlns:a16="http://schemas.microsoft.com/office/drawing/2014/main" id="{F9612C4B-DF0A-314B-0C66-7755F33BA723}"/>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Only the small cricket classifiers learn from the training images</a:t>
            </a:r>
            <a:endParaRPr lang="en-IN" sz="1500">
              <a:solidFill>
                <a:srgbClr val="72806B"/>
              </a:solidFill>
              <a:latin typeface="Arial" panose="020B0604020202020204" pitchFamily="34" charset="0"/>
            </a:endParaRPr>
          </a:p>
        </p:txBody>
      </p:sp>
      <p:pic>
        <p:nvPicPr>
          <p:cNvPr id="5" name="Picture 4">
            <a:extLst>
              <a:ext uri="{FF2B5EF4-FFF2-40B4-BE49-F238E27FC236}">
                <a16:creationId xmlns:a16="http://schemas.microsoft.com/office/drawing/2014/main" id="{9699B7D8-6AA2-63BB-EC4C-8942A6BCD92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741114"/>
            <a:ext cx="11176000" cy="3502772"/>
          </a:xfrm>
          <a:prstGeom prst="rect">
            <a:avLst/>
          </a:prstGeom>
        </p:spPr>
      </p:pic>
      <p:sp>
        <p:nvSpPr>
          <p:cNvPr id="6" name="TextBox 5">
            <a:extLst>
              <a:ext uri="{FF2B5EF4-FFF2-40B4-BE49-F238E27FC236}">
                <a16:creationId xmlns:a16="http://schemas.microsoft.com/office/drawing/2014/main" id="{B7A89EE0-D565-7840-62D3-D1FD04902AF6}"/>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Central crop assumes a centered batter. It can remove the bat or useful scene context.</a:t>
            </a:r>
            <a:endParaRPr lang="en-IN" sz="1600">
              <a:solidFill>
                <a:srgbClr val="AF623E"/>
              </a:solidFill>
              <a:latin typeface="Arial" panose="020B0604020202020204" pitchFamily="34" charset="0"/>
            </a:endParaRPr>
          </a:p>
        </p:txBody>
      </p:sp>
      <p:sp>
        <p:nvSpPr>
          <p:cNvPr id="7" name="TextBox 6">
            <a:extLst>
              <a:ext uri="{FF2B5EF4-FFF2-40B4-BE49-F238E27FC236}">
                <a16:creationId xmlns:a16="http://schemas.microsoft.com/office/drawing/2014/main" id="{E7D39B04-59CD-3277-C8D2-763C16ADD97E}"/>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8" name="TextBox 7">
            <a:extLst>
              <a:ext uri="{FF2B5EF4-FFF2-40B4-BE49-F238E27FC236}">
                <a16:creationId xmlns:a16="http://schemas.microsoft.com/office/drawing/2014/main" id="{0C090E10-9519-53D2-3411-C95701D25B83}"/>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6</a:t>
            </a:r>
          </a:p>
        </p:txBody>
      </p:sp>
    </p:spTree>
    <p:extLst>
      <p:ext uri="{BB962C8B-B14F-4D97-AF65-F5344CB8AC3E}">
        <p14:creationId xmlns:p14="http://schemas.microsoft.com/office/powerpoint/2010/main" val="3540473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F232DF-551C-D45B-44CD-97D06BD34D47}"/>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HOG: gradients, cells and blocks</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A09813FE-3255-B176-EA61-E4BA9B4EC9DB}"/>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fr-FR" sz="1500">
                <a:solidFill>
                  <a:srgbClr val="72806B"/>
                </a:solidFill>
                <a:latin typeface="Arial" panose="020B0604020202020204" pitchFamily="34" charset="0"/>
              </a:rPr>
              <a:t>Lecture 10: accumulate gradient magnitude in orientation bins</a:t>
            </a:r>
            <a:endParaRPr lang="en-IN" sz="1500">
              <a:solidFill>
                <a:srgbClr val="72806B"/>
              </a:solidFill>
              <a:latin typeface="Arial" panose="020B0604020202020204" pitchFamily="34" charset="0"/>
            </a:endParaRPr>
          </a:p>
        </p:txBody>
      </p:sp>
      <p:pic>
        <p:nvPicPr>
          <p:cNvPr id="5" name="Picture 4">
            <a:extLst>
              <a:ext uri="{FF2B5EF4-FFF2-40B4-BE49-F238E27FC236}">
                <a16:creationId xmlns:a16="http://schemas.microsoft.com/office/drawing/2014/main" id="{F498C5AA-FA11-A4EA-2CBC-AEA9288B0B0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567086"/>
            <a:ext cx="4889500" cy="1850828"/>
          </a:xfrm>
          <a:prstGeom prst="rect">
            <a:avLst/>
          </a:prstGeom>
        </p:spPr>
      </p:pic>
      <p:graphicFrame>
        <p:nvGraphicFramePr>
          <p:cNvPr id="6" name="Table 5">
            <a:extLst>
              <a:ext uri="{FF2B5EF4-FFF2-40B4-BE49-F238E27FC236}">
                <a16:creationId xmlns:a16="http://schemas.microsoft.com/office/drawing/2014/main" id="{98022728-A0D3-A032-17F6-1D8061893AD9}"/>
              </a:ext>
            </a:extLst>
          </p:cNvPr>
          <p:cNvGraphicFramePr>
            <a:graphicFrameLocks noGrp="1"/>
          </p:cNvGraphicFramePr>
          <p:nvPr>
            <p:extLst>
              <p:ext uri="{D42A27DB-BD31-4B8C-83A1-F6EECF244321}">
                <p14:modId xmlns:p14="http://schemas.microsoft.com/office/powerpoint/2010/main" val="2433193298"/>
              </p:ext>
            </p:extLst>
          </p:nvPr>
        </p:nvGraphicFramePr>
        <p:xfrm>
          <a:off x="635000" y="1905000"/>
          <a:ext cx="5778500" cy="33020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3256199766"/>
                    </a:ext>
                  </a:extLst>
                </a:gridCol>
                <a:gridCol w="3683000">
                  <a:extLst>
                    <a:ext uri="{9D8B030D-6E8A-4147-A177-3AD203B41FA5}">
                      <a16:colId xmlns:a16="http://schemas.microsoft.com/office/drawing/2014/main" val="4223032627"/>
                    </a:ext>
                  </a:extLst>
                </a:gridCol>
              </a:tblGrid>
              <a:tr h="550333">
                <a:tc>
                  <a:txBody>
                    <a:bodyPr/>
                    <a:lstStyle/>
                    <a:p>
                      <a:r>
                        <a:rPr lang="en-IN" sz="1500" b="1">
                          <a:solidFill>
                            <a:srgbClr val="FFFFFF"/>
                          </a:solidFill>
                          <a:latin typeface="Arial" panose="020B0604020202020204" pitchFamily="34" charset="0"/>
                        </a:rPr>
                        <a:t>Step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500" b="1">
                          <a:solidFill>
                            <a:srgbClr val="FFFFFF"/>
                          </a:solidFill>
                          <a:latin typeface="Arial" panose="020B0604020202020204" pitchFamily="34" charset="0"/>
                        </a:rPr>
                        <a:t>Fixed setting</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1518912802"/>
                  </a:ext>
                </a:extLst>
              </a:tr>
              <a:tr h="550333">
                <a:tc>
                  <a:txBody>
                    <a:bodyPr/>
                    <a:lstStyle/>
                    <a:p>
                      <a:r>
                        <a:rPr lang="en-IN" sz="1500" b="0">
                          <a:solidFill>
                            <a:srgbClr val="20382A"/>
                          </a:solidFill>
                          <a:latin typeface="Arial" panose="020B0604020202020204" pitchFamily="34" charset="0"/>
                        </a:rPr>
                        <a:t>Input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500" b="0">
                          <a:solidFill>
                            <a:srgbClr val="20382A"/>
                          </a:solidFill>
                          <a:latin typeface="Arial" panose="020B0604020202020204" pitchFamily="34" charset="0"/>
                        </a:rPr>
                        <a:t>224 x 224 luminance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70291761"/>
                  </a:ext>
                </a:extLst>
              </a:tr>
              <a:tr h="550333">
                <a:tc>
                  <a:txBody>
                    <a:bodyPr/>
                    <a:lstStyle/>
                    <a:p>
                      <a:r>
                        <a:rPr lang="en-IN" sz="1500" b="0">
                          <a:solidFill>
                            <a:srgbClr val="20382A"/>
                          </a:solidFill>
                          <a:latin typeface="Arial" panose="020B0604020202020204" pitchFamily="34" charset="0"/>
                        </a:rPr>
                        <a:t>Orientation votes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500" b="0">
                          <a:solidFill>
                            <a:srgbClr val="20382A"/>
                          </a:solidFill>
                          <a:latin typeface="Arial" panose="020B0604020202020204" pitchFamily="34" charset="0"/>
                        </a:rPr>
                        <a:t>9 unsigned bins; linear bin weights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1071805114"/>
                  </a:ext>
                </a:extLst>
              </a:tr>
              <a:tr h="550333">
                <a:tc>
                  <a:txBody>
                    <a:bodyPr/>
                    <a:lstStyle/>
                    <a:p>
                      <a:r>
                        <a:rPr lang="en-IN" sz="1500" b="0">
                          <a:solidFill>
                            <a:srgbClr val="20382A"/>
                          </a:solidFill>
                          <a:latin typeface="Arial" panose="020B0604020202020204" pitchFamily="34" charset="0"/>
                        </a:rPr>
                        <a:t>Cells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de-DE" sz="1500" b="0">
                          <a:solidFill>
                            <a:srgbClr val="20382A"/>
                          </a:solidFill>
                          <a:latin typeface="Arial" panose="020B0604020202020204" pitchFamily="34" charset="0"/>
                        </a:rPr>
                        <a:t>16 x 16 pixels; 14 x 14 cells</a:t>
                      </a:r>
                      <a:endParaRPr lang="en-IN" sz="15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751677349"/>
                  </a:ext>
                </a:extLst>
              </a:tr>
              <a:tr h="550333">
                <a:tc>
                  <a:txBody>
                    <a:bodyPr/>
                    <a:lstStyle/>
                    <a:p>
                      <a:r>
                        <a:rPr lang="en-IN" sz="1500" b="0">
                          <a:solidFill>
                            <a:srgbClr val="20382A"/>
                          </a:solidFill>
                          <a:latin typeface="Arial" panose="020B0604020202020204" pitchFamily="34" charset="0"/>
                        </a:rPr>
                        <a:t>Blocks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500" b="0">
                          <a:solidFill>
                            <a:srgbClr val="20382A"/>
                          </a:solidFill>
                          <a:latin typeface="Arial" panose="020B0604020202020204" pitchFamily="34" charset="0"/>
                        </a:rPr>
                        <a:t>2 x 2 cells; stride 1 cell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3158158851"/>
                  </a:ext>
                </a:extLst>
              </a:tr>
              <a:tr h="550333">
                <a:tc>
                  <a:txBody>
                    <a:bodyPr/>
                    <a:lstStyle/>
                    <a:p>
                      <a:r>
                        <a:rPr lang="en-IN" sz="1500" b="0">
                          <a:solidFill>
                            <a:srgbClr val="20382A"/>
                          </a:solidFill>
                          <a:latin typeface="Arial" panose="020B0604020202020204" pitchFamily="34" charset="0"/>
                        </a:rPr>
                        <a:t>Normalize / concatenate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US" sz="1500" b="0">
                          <a:solidFill>
                            <a:srgbClr val="20382A"/>
                          </a:solidFill>
                          <a:latin typeface="Arial" panose="020B0604020202020204" pitchFamily="34" charset="0"/>
                        </a:rPr>
                        <a:t>L2 blocks, then 6,084-value L2 vector</a:t>
                      </a:r>
                      <a:endParaRPr lang="en-IN" sz="15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3389850117"/>
                  </a:ext>
                </a:extLst>
              </a:tr>
            </a:tbl>
          </a:graphicData>
        </a:graphic>
      </p:graphicFrame>
      <p:sp>
        <p:nvSpPr>
          <p:cNvPr id="7" name="TextBox 6">
            <a:extLst>
              <a:ext uri="{FF2B5EF4-FFF2-40B4-BE49-F238E27FC236}">
                <a16:creationId xmlns:a16="http://schemas.microsoft.com/office/drawing/2014/main" id="{6D96CE34-95CA-212C-BD23-9E47F535288E}"/>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Votes use magnitude, not frequency. No learned feature scaling; no test-based HOG tuning.</a:t>
            </a:r>
            <a:endParaRPr lang="en-IN" sz="1600">
              <a:solidFill>
                <a:srgbClr val="AF623E"/>
              </a:solidFill>
              <a:latin typeface="Arial" panose="020B0604020202020204" pitchFamily="34" charset="0"/>
            </a:endParaRPr>
          </a:p>
        </p:txBody>
      </p:sp>
      <p:sp>
        <p:nvSpPr>
          <p:cNvPr id="8" name="TextBox 7">
            <a:extLst>
              <a:ext uri="{FF2B5EF4-FFF2-40B4-BE49-F238E27FC236}">
                <a16:creationId xmlns:a16="http://schemas.microsoft.com/office/drawing/2014/main" id="{6E53992D-0647-DC2A-5B28-177989D19784}"/>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9" name="TextBox 8">
            <a:extLst>
              <a:ext uri="{FF2B5EF4-FFF2-40B4-BE49-F238E27FC236}">
                <a16:creationId xmlns:a16="http://schemas.microsoft.com/office/drawing/2014/main" id="{42F57C48-861E-28F8-F786-AB4EB8B5A241}"/>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7</a:t>
            </a:r>
          </a:p>
        </p:txBody>
      </p:sp>
    </p:spTree>
    <p:extLst>
      <p:ext uri="{BB962C8B-B14F-4D97-AF65-F5344CB8AC3E}">
        <p14:creationId xmlns:p14="http://schemas.microsoft.com/office/powerpoint/2010/main" val="1073197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753E3C-3D1F-2091-C1D4-A1B91AB26D7E}"/>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CNN views and the contrast feature</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16259C79-FC8F-2B68-EF0F-7683D8579305}"/>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Frozen ImageNet MobileNetV2 gives two 1,280-value pooled embeddings</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73AF0D58-FBAF-59AD-6D29-634E17A43DDB}"/>
              </a:ext>
            </a:extLst>
          </p:cNvPr>
          <p:cNvSpPr txBox="1"/>
          <p:nvPr/>
        </p:nvSpPr>
        <p:spPr>
          <a:xfrm>
            <a:off x="635000" y="5168899"/>
            <a:ext cx="10795000" cy="825500"/>
          </a:xfrm>
          <a:prstGeom prst="rect">
            <a:avLst/>
          </a:prstGeom>
          <a:noFill/>
        </p:spPr>
        <p:txBody>
          <a:bodyPr vert="horz" wrap="square" lIns="0" tIns="0" rIns="0" bIns="0" rtlCol="0">
            <a:noAutofit/>
          </a:bodyPr>
          <a:lstStyle/>
          <a:p>
            <a:pPr>
              <a:spcAft>
                <a:spcPts val="800"/>
              </a:spcAft>
            </a:pPr>
            <a:r>
              <a:rPr lang="en-US">
                <a:solidFill>
                  <a:srgbClr val="20382A"/>
                </a:solidFill>
                <a:latin typeface="Arial" panose="020B0604020202020204" pitchFamily="34" charset="0"/>
              </a:rPr>
              <a:t>Absolute difference is nonlinear; signed difference would be redundant
for a linear head on concatenation. This motivates a test, not a success claim.</a:t>
            </a:r>
            <a:endParaRPr lang="en-IN">
              <a:solidFill>
                <a:srgbClr val="20382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AEEC7B9F-E739-A67B-58ED-6A813D79954A}"/>
              </a:ext>
            </a:extLst>
          </p:cNvPr>
          <p:cNvGraphicFramePr>
            <a:graphicFrameLocks noGrp="1"/>
          </p:cNvGraphicFramePr>
          <p:nvPr>
            <p:extLst>
              <p:ext uri="{D42A27DB-BD31-4B8C-83A1-F6EECF244321}">
                <p14:modId xmlns:p14="http://schemas.microsoft.com/office/powerpoint/2010/main" val="3640186762"/>
              </p:ext>
            </p:extLst>
          </p:nvPr>
        </p:nvGraphicFramePr>
        <p:xfrm>
          <a:off x="635000" y="1905000"/>
          <a:ext cx="10922000" cy="2984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696363584"/>
                    </a:ext>
                  </a:extLst>
                </a:gridCol>
                <a:gridCol w="4572000">
                  <a:extLst>
                    <a:ext uri="{9D8B030D-6E8A-4147-A177-3AD203B41FA5}">
                      <a16:colId xmlns:a16="http://schemas.microsoft.com/office/drawing/2014/main" val="1461896834"/>
                    </a:ext>
                  </a:extLst>
                </a:gridCol>
                <a:gridCol w="2540000">
                  <a:extLst>
                    <a:ext uri="{9D8B030D-6E8A-4147-A177-3AD203B41FA5}">
                      <a16:colId xmlns:a16="http://schemas.microsoft.com/office/drawing/2014/main" val="3010731674"/>
                    </a:ext>
                  </a:extLst>
                </a:gridCol>
              </a:tblGrid>
              <a:tr h="596900">
                <a:tc>
                  <a:txBody>
                    <a:bodyPr/>
                    <a:lstStyle/>
                    <a:p>
                      <a:r>
                        <a:rPr lang="en-IN" sz="1800" b="1">
                          <a:solidFill>
                            <a:srgbClr val="FFFFFF"/>
                          </a:solidFill>
                          <a:latin typeface="Arial" panose="020B0604020202020204" pitchFamily="34" charset="0"/>
                        </a:rPr>
                        <a:t>Representation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Normalized classifier input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Dimension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2273534156"/>
                  </a:ext>
                </a:extLst>
              </a:tr>
              <a:tr h="596900">
                <a:tc>
                  <a:txBody>
                    <a:bodyPr/>
                    <a:lstStyle/>
                    <a:p>
                      <a:r>
                        <a:rPr lang="en-IN" sz="1800" b="0">
                          <a:solidFill>
                            <a:srgbClr val="20382A"/>
                          </a:solidFill>
                          <a:latin typeface="Arial" panose="020B0604020202020204" pitchFamily="34" charset="0"/>
                        </a:rPr>
                        <a:t>Global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u</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1,280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2432516027"/>
                  </a:ext>
                </a:extLst>
              </a:tr>
              <a:tr h="596900">
                <a:tc>
                  <a:txBody>
                    <a:bodyPr/>
                    <a:lstStyle/>
                    <a:p>
                      <a:r>
                        <a:rPr lang="en-IN" sz="1800" b="0">
                          <a:solidFill>
                            <a:srgbClr val="20382A"/>
                          </a:solidFill>
                          <a:latin typeface="Arial" panose="020B0604020202020204" pitchFamily="34" charset="0"/>
                        </a:rPr>
                        <a:t>Fixed regional crop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v</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1,280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1726819657"/>
                  </a:ext>
                </a:extLst>
              </a:tr>
              <a:tr h="596900">
                <a:tc>
                  <a:txBody>
                    <a:bodyPr/>
                    <a:lstStyle/>
                    <a:p>
                      <a:r>
                        <a:rPr lang="en-IN" sz="1800" b="0">
                          <a:solidFill>
                            <a:srgbClr val="20382A"/>
                          </a:solidFill>
                          <a:latin typeface="Arial" panose="020B0604020202020204" pitchFamily="34" charset="0"/>
                        </a:rPr>
                        <a:t>Concatenation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[u; v]</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2,560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4294936998"/>
                  </a:ext>
                </a:extLst>
              </a:tr>
              <a:tr h="596900">
                <a:tc>
                  <a:txBody>
                    <a:bodyPr/>
                    <a:lstStyle/>
                    <a:p>
                      <a:r>
                        <a:rPr lang="en-IN" sz="1800" b="0">
                          <a:solidFill>
                            <a:srgbClr val="20382A"/>
                          </a:solidFill>
                          <a:latin typeface="Arial" panose="020B0604020202020204" pitchFamily="34" charset="0"/>
                        </a:rPr>
                        <a:t>Contrast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[u; v; abs(u-v)]</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3,840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2880112249"/>
                  </a:ext>
                </a:extLst>
              </a:tr>
            </a:tbl>
          </a:graphicData>
        </a:graphic>
      </p:graphicFrame>
      <p:sp>
        <p:nvSpPr>
          <p:cNvPr id="6" name="TextBox 5">
            <a:extLst>
              <a:ext uri="{FF2B5EF4-FFF2-40B4-BE49-F238E27FC236}">
                <a16:creationId xmlns:a16="http://schemas.microsoft.com/office/drawing/2014/main" id="{1A47472D-391A-63AF-559C-06DDE0709680}"/>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72B5680B-1702-DD63-2871-2CF7409C24C6}"/>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8</a:t>
            </a:r>
          </a:p>
        </p:txBody>
      </p:sp>
    </p:spTree>
    <p:extLst>
      <p:ext uri="{BB962C8B-B14F-4D97-AF65-F5344CB8AC3E}">
        <p14:creationId xmlns:p14="http://schemas.microsoft.com/office/powerpoint/2010/main" val="2511359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3AA638-F2DA-E3D1-D31D-6F325803EB5B}"/>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Recognition results</a:t>
            </a:r>
          </a:p>
        </p:txBody>
      </p:sp>
      <p:sp>
        <p:nvSpPr>
          <p:cNvPr id="3" name="TextBox 2">
            <a:extLst>
              <a:ext uri="{FF2B5EF4-FFF2-40B4-BE49-F238E27FC236}">
                <a16:creationId xmlns:a16="http://schemas.microsoft.com/office/drawing/2014/main" id="{A15D2CA2-506D-D2DE-7BCE-2A94AACCE3DE}"/>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Same corrected split; every test image contributes, including review cases</a:t>
            </a:r>
            <a:endParaRPr lang="en-IN" sz="1500">
              <a:solidFill>
                <a:srgbClr val="72806B"/>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8EA0317C-38E6-73C1-7BE5-048648B307F4}"/>
              </a:ext>
            </a:extLst>
          </p:cNvPr>
          <p:cNvGraphicFramePr>
            <a:graphicFrameLocks noGrp="1"/>
          </p:cNvGraphicFramePr>
          <p:nvPr>
            <p:extLst>
              <p:ext uri="{D42A27DB-BD31-4B8C-83A1-F6EECF244321}">
                <p14:modId xmlns:p14="http://schemas.microsoft.com/office/powerpoint/2010/main" val="1136128216"/>
              </p:ext>
            </p:extLst>
          </p:nvPr>
        </p:nvGraphicFramePr>
        <p:xfrm>
          <a:off x="635000" y="1905000"/>
          <a:ext cx="10922000" cy="3365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430288820"/>
                    </a:ext>
                  </a:extLst>
                </a:gridCol>
                <a:gridCol w="1016000">
                  <a:extLst>
                    <a:ext uri="{9D8B030D-6E8A-4147-A177-3AD203B41FA5}">
                      <a16:colId xmlns:a16="http://schemas.microsoft.com/office/drawing/2014/main" val="667383876"/>
                    </a:ext>
                  </a:extLst>
                </a:gridCol>
                <a:gridCol w="2032000">
                  <a:extLst>
                    <a:ext uri="{9D8B030D-6E8A-4147-A177-3AD203B41FA5}">
                      <a16:colId xmlns:a16="http://schemas.microsoft.com/office/drawing/2014/main" val="799803659"/>
                    </a:ext>
                  </a:extLst>
                </a:gridCol>
                <a:gridCol w="2032000">
                  <a:extLst>
                    <a:ext uri="{9D8B030D-6E8A-4147-A177-3AD203B41FA5}">
                      <a16:colId xmlns:a16="http://schemas.microsoft.com/office/drawing/2014/main" val="1828716532"/>
                    </a:ext>
                  </a:extLst>
                </a:gridCol>
                <a:gridCol w="2032000">
                  <a:extLst>
                    <a:ext uri="{9D8B030D-6E8A-4147-A177-3AD203B41FA5}">
                      <a16:colId xmlns:a16="http://schemas.microsoft.com/office/drawing/2014/main" val="3167932045"/>
                    </a:ext>
                  </a:extLst>
                </a:gridCol>
              </a:tblGrid>
              <a:tr h="560917">
                <a:tc>
                  <a:txBody>
                    <a:bodyPr/>
                    <a:lstStyle/>
                    <a:p>
                      <a:r>
                        <a:rPr lang="en-IN" sz="1700" b="1">
                          <a:solidFill>
                            <a:srgbClr val="FFFFFF"/>
                          </a:solidFill>
                          <a:latin typeface="Arial" panose="020B0604020202020204" pitchFamily="34" charset="0"/>
                        </a:rPr>
                        <a:t>Feature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C</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Val. F1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Test acc.</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Test F1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1007857568"/>
                  </a:ext>
                </a:extLst>
              </a:tr>
              <a:tr h="560917">
                <a:tc>
                  <a:txBody>
                    <a:bodyPr/>
                    <a:lstStyle/>
                    <a:p>
                      <a:r>
                        <a:rPr lang="en-IN" sz="1700" b="0">
                          <a:solidFill>
                            <a:srgbClr val="20382A"/>
                          </a:solidFill>
                          <a:latin typeface="Arial" panose="020B0604020202020204" pitchFamily="34" charset="0"/>
                        </a:rPr>
                        <a:t>HOG</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0.1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49.4%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35.3%</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34.5%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840989148"/>
                  </a:ext>
                </a:extLst>
              </a:tr>
              <a:tr h="560917">
                <a:tc>
                  <a:txBody>
                    <a:bodyPr/>
                    <a:lstStyle/>
                    <a:p>
                      <a:r>
                        <a:rPr lang="en-IN" sz="1700" b="0">
                          <a:solidFill>
                            <a:srgbClr val="20382A"/>
                          </a:solidFill>
                          <a:latin typeface="Arial" panose="020B0604020202020204" pitchFamily="34" charset="0"/>
                        </a:rPr>
                        <a:t>CNN global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10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77.1%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63.0%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62.9%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161381122"/>
                  </a:ext>
                </a:extLst>
              </a:tr>
              <a:tr h="560917">
                <a:tc>
                  <a:txBody>
                    <a:bodyPr/>
                    <a:lstStyle/>
                    <a:p>
                      <a:r>
                        <a:rPr lang="en-IN" sz="1700" b="0">
                          <a:solidFill>
                            <a:srgbClr val="20382A"/>
                          </a:solidFill>
                          <a:latin typeface="Arial" panose="020B0604020202020204" pitchFamily="34" charset="0"/>
                        </a:rPr>
                        <a:t>CNN crop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10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74.8%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62.4%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61.7%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3626938761"/>
                  </a:ext>
                </a:extLst>
              </a:tr>
              <a:tr h="560917">
                <a:tc>
                  <a:txBody>
                    <a:bodyPr/>
                    <a:lstStyle/>
                    <a:p>
                      <a:r>
                        <a:rPr lang="en-IN" sz="1700" b="0">
                          <a:solidFill>
                            <a:srgbClr val="20382A"/>
                          </a:solidFill>
                          <a:latin typeface="Arial" panose="020B0604020202020204" pitchFamily="34" charset="0"/>
                        </a:rPr>
                        <a:t>Concatenation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10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79.6%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65.2%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64.6%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453769095"/>
                  </a:ext>
                </a:extLst>
              </a:tr>
              <a:tr h="560917">
                <a:tc>
                  <a:txBody>
                    <a:bodyPr/>
                    <a:lstStyle/>
                    <a:p>
                      <a:r>
                        <a:rPr lang="en-IN" sz="1700" b="0">
                          <a:solidFill>
                            <a:srgbClr val="20382A"/>
                          </a:solidFill>
                          <a:latin typeface="Arial" panose="020B0604020202020204" pitchFamily="34" charset="0"/>
                        </a:rPr>
                        <a:t>Contrast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10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77.8%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65.5%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64.9%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15387309"/>
                  </a:ext>
                </a:extLst>
              </a:tr>
            </a:tbl>
          </a:graphicData>
        </a:graphic>
      </p:graphicFrame>
      <p:sp>
        <p:nvSpPr>
          <p:cNvPr id="5" name="TextBox 4">
            <a:extLst>
              <a:ext uri="{FF2B5EF4-FFF2-40B4-BE49-F238E27FC236}">
                <a16:creationId xmlns:a16="http://schemas.microsoft.com/office/drawing/2014/main" id="{AEA3A98B-C87D-01BB-47DF-ED82D1543B85}"/>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HOG is a controlled baseline. Pretrained features help here; contrast adds only three correct images.</a:t>
            </a:r>
            <a:endParaRPr lang="en-IN" sz="1600">
              <a:solidFill>
                <a:srgbClr val="AF623E"/>
              </a:solidFill>
              <a:latin typeface="Arial" panose="020B0604020202020204" pitchFamily="34" charset="0"/>
            </a:endParaRPr>
          </a:p>
        </p:txBody>
      </p:sp>
      <p:sp>
        <p:nvSpPr>
          <p:cNvPr id="6" name="TextBox 5">
            <a:extLst>
              <a:ext uri="{FF2B5EF4-FFF2-40B4-BE49-F238E27FC236}">
                <a16:creationId xmlns:a16="http://schemas.microsoft.com/office/drawing/2014/main" id="{76223835-BF88-2229-BEC2-A365C833C1C6}"/>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028BB9D0-8C07-B9B7-86C2-58F8A068B2E4}"/>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9</a:t>
            </a:r>
          </a:p>
        </p:txBody>
      </p:sp>
    </p:spTree>
    <p:extLst>
      <p:ext uri="{BB962C8B-B14F-4D97-AF65-F5344CB8AC3E}">
        <p14:creationId xmlns:p14="http://schemas.microsoft.com/office/powerpoint/2010/main" val="3839651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78B67C-F461-C1C5-ACB0-01215BA9D74A}"/>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Where contrast changes decisions</a:t>
            </a:r>
          </a:p>
        </p:txBody>
      </p:sp>
      <p:sp>
        <p:nvSpPr>
          <p:cNvPr id="3" name="TextBox 2">
            <a:extLst>
              <a:ext uri="{FF2B5EF4-FFF2-40B4-BE49-F238E27FC236}">
                <a16:creationId xmlns:a16="http://schemas.microsoft.com/office/drawing/2014/main" id="{FC465E30-8F76-46C4-3A67-63F9C2A490A1}"/>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17 concatenation errors corrected, but 14 correct decisions lost</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F09B4161-9098-8FC6-FB5B-EEE6716A7674}"/>
              </a:ext>
            </a:extLst>
          </p:cNvPr>
          <p:cNvSpPr txBox="1"/>
          <p:nvPr/>
        </p:nvSpPr>
        <p:spPr>
          <a:xfrm>
            <a:off x="635000" y="4952999"/>
            <a:ext cx="10795000" cy="698500"/>
          </a:xfrm>
          <a:prstGeom prst="rect">
            <a:avLst/>
          </a:prstGeom>
          <a:noFill/>
        </p:spPr>
        <p:txBody>
          <a:bodyPr vert="horz" wrap="square" lIns="0" tIns="0" rIns="0" bIns="0" rtlCol="0">
            <a:noAutofit/>
          </a:bodyPr>
          <a:lstStyle/>
          <a:p>
            <a:pPr>
              <a:spcAft>
                <a:spcPts val="800"/>
              </a:spcAft>
            </a:pPr>
            <a:r>
              <a:rPr lang="en-US">
                <a:solidFill>
                  <a:srgbClr val="20382A"/>
                </a:solidFill>
                <a:latin typeface="Arial" panose="020B0604020202020204" pitchFamily="34" charset="0"/>
              </a:rPr>
              <a:t>Selected examples: drive image_00696 is corrected;
drive image_00017 changes from correct to incorrect.</a:t>
            </a:r>
            <a:endParaRPr lang="en-IN">
              <a:solidFill>
                <a:srgbClr val="20382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A4B3E8B0-02A3-D947-9337-6E1ED26981DB}"/>
              </a:ext>
            </a:extLst>
          </p:cNvPr>
          <p:cNvGraphicFramePr>
            <a:graphicFrameLocks noGrp="1"/>
          </p:cNvGraphicFramePr>
          <p:nvPr>
            <p:extLst>
              <p:ext uri="{D42A27DB-BD31-4B8C-83A1-F6EECF244321}">
                <p14:modId xmlns:p14="http://schemas.microsoft.com/office/powerpoint/2010/main" val="2713599568"/>
              </p:ext>
            </p:extLst>
          </p:nvPr>
        </p:nvGraphicFramePr>
        <p:xfrm>
          <a:off x="635000" y="1905000"/>
          <a:ext cx="10922000" cy="28575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81894426"/>
                    </a:ext>
                  </a:extLst>
                </a:gridCol>
                <a:gridCol w="1524000">
                  <a:extLst>
                    <a:ext uri="{9D8B030D-6E8A-4147-A177-3AD203B41FA5}">
                      <a16:colId xmlns:a16="http://schemas.microsoft.com/office/drawing/2014/main" val="21233148"/>
                    </a:ext>
                  </a:extLst>
                </a:gridCol>
                <a:gridCol w="2667000">
                  <a:extLst>
                    <a:ext uri="{9D8B030D-6E8A-4147-A177-3AD203B41FA5}">
                      <a16:colId xmlns:a16="http://schemas.microsoft.com/office/drawing/2014/main" val="3969191749"/>
                    </a:ext>
                  </a:extLst>
                </a:gridCol>
                <a:gridCol w="2667000">
                  <a:extLst>
                    <a:ext uri="{9D8B030D-6E8A-4147-A177-3AD203B41FA5}">
                      <a16:colId xmlns:a16="http://schemas.microsoft.com/office/drawing/2014/main" val="1291040500"/>
                    </a:ext>
                  </a:extLst>
                </a:gridCol>
              </a:tblGrid>
              <a:tr h="714375">
                <a:tc>
                  <a:txBody>
                    <a:bodyPr/>
                    <a:lstStyle/>
                    <a:p>
                      <a:r>
                        <a:rPr lang="en-IN" sz="1800" b="1">
                          <a:solidFill>
                            <a:srgbClr val="FFFFFF"/>
                          </a:solidFill>
                          <a:latin typeface="Arial" panose="020B0604020202020204" pitchFamily="34" charset="0"/>
                        </a:rPr>
                        <a:t>Post-hoc subset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Images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Concat. correct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Contrast correct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3536775399"/>
                  </a:ext>
                </a:extLst>
              </a:tr>
              <a:tr h="714375">
                <a:tc>
                  <a:txBody>
                    <a:bodyPr/>
                    <a:lstStyle/>
                    <a:p>
                      <a:r>
                        <a:rPr lang="en-IN" sz="1800" b="0">
                          <a:solidFill>
                            <a:srgbClr val="20382A"/>
                          </a:solidFill>
                          <a:latin typeface="Arial" panose="020B0604020202020204" pitchFamily="34" charset="0"/>
                        </a:rPr>
                        <a:t>Global / crop agree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713</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499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499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611026214"/>
                  </a:ext>
                </a:extLst>
              </a:tr>
              <a:tr h="714375">
                <a:tc>
                  <a:txBody>
                    <a:bodyPr/>
                    <a:lstStyle/>
                    <a:p>
                      <a:r>
                        <a:rPr lang="en-IN" sz="1800" b="0">
                          <a:solidFill>
                            <a:srgbClr val="20382A"/>
                          </a:solidFill>
                          <a:latin typeface="Arial" panose="020B0604020202020204" pitchFamily="34" charset="0"/>
                        </a:rPr>
                        <a:t>Global / crop disagree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232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117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120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4185962330"/>
                  </a:ext>
                </a:extLst>
              </a:tr>
              <a:tr h="714375">
                <a:tc>
                  <a:txBody>
                    <a:bodyPr/>
                    <a:lstStyle/>
                    <a:p>
                      <a:r>
                        <a:rPr lang="en-IN" sz="1800" b="0">
                          <a:solidFill>
                            <a:srgbClr val="20382A"/>
                          </a:solidFill>
                          <a:latin typeface="Arial" panose="020B0604020202020204" pitchFamily="34" charset="0"/>
                        </a:rPr>
                        <a:t>All test images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945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616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619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433993620"/>
                  </a:ext>
                </a:extLst>
              </a:tr>
            </a:tbl>
          </a:graphicData>
        </a:graphic>
      </p:graphicFrame>
      <p:sp>
        <p:nvSpPr>
          <p:cNvPr id="6" name="TextBox 5">
            <a:extLst>
              <a:ext uri="{FF2B5EF4-FFF2-40B4-BE49-F238E27FC236}">
                <a16:creationId xmlns:a16="http://schemas.microsoft.com/office/drawing/2014/main" id="{EF72AF22-807A-3452-70F2-2B74C18DB679}"/>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Paired group interval: -1.46 to +2.38 points. A reliable gain is not established.</a:t>
            </a:r>
            <a:endParaRPr lang="en-IN" sz="1600">
              <a:solidFill>
                <a:srgbClr val="AF623E"/>
              </a:solidFill>
              <a:latin typeface="Arial" panose="020B0604020202020204" pitchFamily="34" charset="0"/>
            </a:endParaRPr>
          </a:p>
        </p:txBody>
      </p:sp>
      <p:sp>
        <p:nvSpPr>
          <p:cNvPr id="7" name="TextBox 6">
            <a:extLst>
              <a:ext uri="{FF2B5EF4-FFF2-40B4-BE49-F238E27FC236}">
                <a16:creationId xmlns:a16="http://schemas.microsoft.com/office/drawing/2014/main" id="{7A1D394E-C4F7-6E72-4A73-AC890DC9CE57}"/>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8" name="TextBox 7">
            <a:extLst>
              <a:ext uri="{FF2B5EF4-FFF2-40B4-BE49-F238E27FC236}">
                <a16:creationId xmlns:a16="http://schemas.microsoft.com/office/drawing/2014/main" id="{6487D1F7-C979-004C-8237-11AF7D5813B9}"/>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10</a:t>
            </a:r>
          </a:p>
        </p:txBody>
      </p:sp>
    </p:spTree>
    <p:extLst>
      <p:ext uri="{BB962C8B-B14F-4D97-AF65-F5344CB8AC3E}">
        <p14:creationId xmlns:p14="http://schemas.microsoft.com/office/powerpoint/2010/main" val="2661308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AC24B-02EE-1281-E6A3-19E350058CBF}"/>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Class errors</a:t>
            </a:r>
          </a:p>
        </p:txBody>
      </p:sp>
      <p:sp>
        <p:nvSpPr>
          <p:cNvPr id="3" name="TextBox 2">
            <a:extLst>
              <a:ext uri="{FF2B5EF4-FFF2-40B4-BE49-F238E27FC236}">
                <a16:creationId xmlns:a16="http://schemas.microsoft.com/office/drawing/2014/main" id="{7A803196-326B-B491-25F0-7ED15796F332}"/>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Contrast confusion counts; rows are dataset labels</a:t>
            </a:r>
            <a:endParaRPr lang="en-IN" sz="1500">
              <a:solidFill>
                <a:srgbClr val="72806B"/>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63A98385-7D77-9449-D005-A58930252469}"/>
              </a:ext>
            </a:extLst>
          </p:cNvPr>
          <p:cNvGraphicFramePr>
            <a:graphicFrameLocks noGrp="1"/>
          </p:cNvGraphicFramePr>
          <p:nvPr>
            <p:extLst>
              <p:ext uri="{D42A27DB-BD31-4B8C-83A1-F6EECF244321}">
                <p14:modId xmlns:p14="http://schemas.microsoft.com/office/powerpoint/2010/main" val="2289386824"/>
              </p:ext>
            </p:extLst>
          </p:nvPr>
        </p:nvGraphicFramePr>
        <p:xfrm>
          <a:off x="635000" y="1905000"/>
          <a:ext cx="10922000" cy="342900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1681080546"/>
                    </a:ext>
                  </a:extLst>
                </a:gridCol>
                <a:gridCol w="1905000">
                  <a:extLst>
                    <a:ext uri="{9D8B030D-6E8A-4147-A177-3AD203B41FA5}">
                      <a16:colId xmlns:a16="http://schemas.microsoft.com/office/drawing/2014/main" val="4033563162"/>
                    </a:ext>
                  </a:extLst>
                </a:gridCol>
                <a:gridCol w="1905000">
                  <a:extLst>
                    <a:ext uri="{9D8B030D-6E8A-4147-A177-3AD203B41FA5}">
                      <a16:colId xmlns:a16="http://schemas.microsoft.com/office/drawing/2014/main" val="1576141682"/>
                    </a:ext>
                  </a:extLst>
                </a:gridCol>
                <a:gridCol w="1905000">
                  <a:extLst>
                    <a:ext uri="{9D8B030D-6E8A-4147-A177-3AD203B41FA5}">
                      <a16:colId xmlns:a16="http://schemas.microsoft.com/office/drawing/2014/main" val="1060651291"/>
                    </a:ext>
                  </a:extLst>
                </a:gridCol>
                <a:gridCol w="1905000">
                  <a:extLst>
                    <a:ext uri="{9D8B030D-6E8A-4147-A177-3AD203B41FA5}">
                      <a16:colId xmlns:a16="http://schemas.microsoft.com/office/drawing/2014/main" val="3844919313"/>
                    </a:ext>
                  </a:extLst>
                </a:gridCol>
              </a:tblGrid>
              <a:tr h="685800">
                <a:tc>
                  <a:txBody>
                    <a:bodyPr/>
                    <a:lstStyle/>
                    <a:p>
                      <a:r>
                        <a:rPr lang="en-IN" sz="1900" b="1">
                          <a:solidFill>
                            <a:srgbClr val="FFFFFF"/>
                          </a:solidFill>
                          <a:latin typeface="Arial" panose="020B0604020202020204" pitchFamily="34" charset="0"/>
                        </a:rPr>
                        <a:t>True / predicted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900" b="1">
                          <a:solidFill>
                            <a:srgbClr val="FFFFFF"/>
                          </a:solidFill>
                          <a:latin typeface="Arial" panose="020B0604020202020204" pitchFamily="34" charset="0"/>
                        </a:rPr>
                        <a:t>Drive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900" b="1">
                          <a:solidFill>
                            <a:srgbClr val="FFFFFF"/>
                          </a:solidFill>
                          <a:latin typeface="Arial" panose="020B0604020202020204" pitchFamily="34" charset="0"/>
                        </a:rPr>
                        <a:t>Glance/flick</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900" b="1">
                          <a:solidFill>
                            <a:srgbClr val="FFFFFF"/>
                          </a:solidFill>
                          <a:latin typeface="Arial" panose="020B0604020202020204" pitchFamily="34" charset="0"/>
                        </a:rPr>
                        <a:t>Pull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900" b="1">
                          <a:solidFill>
                            <a:srgbClr val="FFFFFF"/>
                          </a:solidFill>
                          <a:latin typeface="Arial" panose="020B0604020202020204" pitchFamily="34" charset="0"/>
                        </a:rPr>
                        <a:t>Sweep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1103862316"/>
                  </a:ext>
                </a:extLst>
              </a:tr>
              <a:tr h="685800">
                <a:tc>
                  <a:txBody>
                    <a:bodyPr/>
                    <a:lstStyle/>
                    <a:p>
                      <a:r>
                        <a:rPr lang="en-IN" sz="1900" b="0">
                          <a:solidFill>
                            <a:srgbClr val="20382A"/>
                          </a:solidFill>
                          <a:latin typeface="Arial" panose="020B0604020202020204" pitchFamily="34" charset="0"/>
                        </a:rPr>
                        <a:t>Drive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900" b="0">
                          <a:solidFill>
                            <a:srgbClr val="FFFFFF"/>
                          </a:solidFill>
                          <a:latin typeface="Arial" panose="020B0604020202020204" pitchFamily="34" charset="0"/>
                        </a:rPr>
                        <a:t>161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869F82"/>
                    </a:solidFill>
                  </a:tcPr>
                </a:tc>
                <a:tc>
                  <a:txBody>
                    <a:bodyPr/>
                    <a:lstStyle/>
                    <a:p>
                      <a:r>
                        <a:rPr lang="en-IN" sz="1900" b="0">
                          <a:solidFill>
                            <a:srgbClr val="20382A"/>
                          </a:solidFill>
                          <a:latin typeface="Arial" panose="020B0604020202020204" pitchFamily="34" charset="0"/>
                        </a:rPr>
                        <a:t>27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3E9DC"/>
                    </a:solidFill>
                  </a:tcPr>
                </a:tc>
                <a:tc>
                  <a:txBody>
                    <a:bodyPr/>
                    <a:lstStyle/>
                    <a:p>
                      <a:r>
                        <a:rPr lang="en-IN" sz="1900" b="0">
                          <a:solidFill>
                            <a:srgbClr val="20382A"/>
                          </a:solidFill>
                          <a:latin typeface="Arial" panose="020B0604020202020204" pitchFamily="34" charset="0"/>
                        </a:rPr>
                        <a:t>36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DDE4D6"/>
                    </a:solidFill>
                  </a:tcPr>
                </a:tc>
                <a:tc>
                  <a:txBody>
                    <a:bodyPr/>
                    <a:lstStyle/>
                    <a:p>
                      <a:r>
                        <a:rPr lang="en-IN" sz="1900" b="0">
                          <a:solidFill>
                            <a:srgbClr val="20382A"/>
                          </a:solidFill>
                          <a:latin typeface="Arial" panose="020B0604020202020204" pitchFamily="34" charset="0"/>
                        </a:rPr>
                        <a:t>21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7ECE0"/>
                    </a:solidFill>
                  </a:tcPr>
                </a:tc>
                <a:extLst>
                  <a:ext uri="{0D108BD9-81ED-4DB2-BD59-A6C34878D82A}">
                    <a16:rowId xmlns:a16="http://schemas.microsoft.com/office/drawing/2014/main" val="1088030646"/>
                  </a:ext>
                </a:extLst>
              </a:tr>
              <a:tr h="685800">
                <a:tc>
                  <a:txBody>
                    <a:bodyPr/>
                    <a:lstStyle/>
                    <a:p>
                      <a:r>
                        <a:rPr lang="en-IN" sz="1900" b="0">
                          <a:solidFill>
                            <a:srgbClr val="20382A"/>
                          </a:solidFill>
                          <a:latin typeface="Arial" panose="020B0604020202020204" pitchFamily="34" charset="0"/>
                        </a:rPr>
                        <a:t>Glance / flick</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900" b="0">
                          <a:solidFill>
                            <a:srgbClr val="20382A"/>
                          </a:solidFill>
                          <a:latin typeface="Arial" panose="020B0604020202020204" pitchFamily="34" charset="0"/>
                        </a:rPr>
                        <a:t>80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B9C8B3"/>
                    </a:solidFill>
                  </a:tcPr>
                </a:tc>
                <a:tc>
                  <a:txBody>
                    <a:bodyPr/>
                    <a:lstStyle/>
                    <a:p>
                      <a:r>
                        <a:rPr lang="en-IN" sz="1900" b="0">
                          <a:solidFill>
                            <a:srgbClr val="20382A"/>
                          </a:solidFill>
                          <a:latin typeface="Arial" panose="020B0604020202020204" pitchFamily="34" charset="0"/>
                        </a:rPr>
                        <a:t>102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A9BBA3"/>
                    </a:solidFill>
                  </a:tcPr>
                </a:tc>
                <a:tc>
                  <a:txBody>
                    <a:bodyPr/>
                    <a:lstStyle/>
                    <a:p>
                      <a:r>
                        <a:rPr lang="en-IN" sz="1900" b="0">
                          <a:solidFill>
                            <a:srgbClr val="20382A"/>
                          </a:solidFill>
                          <a:latin typeface="Arial" panose="020B0604020202020204" pitchFamily="34" charset="0"/>
                        </a:rPr>
                        <a:t>15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BEFE3"/>
                    </a:solidFill>
                  </a:tcPr>
                </a:tc>
                <a:tc>
                  <a:txBody>
                    <a:bodyPr/>
                    <a:lstStyle/>
                    <a:p>
                      <a:r>
                        <a:rPr lang="en-IN" sz="1900" b="0">
                          <a:solidFill>
                            <a:srgbClr val="20382A"/>
                          </a:solidFill>
                          <a:latin typeface="Arial" panose="020B0604020202020204" pitchFamily="34" charset="0"/>
                        </a:rPr>
                        <a:t>27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2E8DA"/>
                    </a:solidFill>
                  </a:tcPr>
                </a:tc>
                <a:extLst>
                  <a:ext uri="{0D108BD9-81ED-4DB2-BD59-A6C34878D82A}">
                    <a16:rowId xmlns:a16="http://schemas.microsoft.com/office/drawing/2014/main" val="659692559"/>
                  </a:ext>
                </a:extLst>
              </a:tr>
              <a:tr h="685800">
                <a:tc>
                  <a:txBody>
                    <a:bodyPr/>
                    <a:lstStyle/>
                    <a:p>
                      <a:r>
                        <a:rPr lang="en-IN" sz="1900" b="0">
                          <a:solidFill>
                            <a:srgbClr val="20382A"/>
                          </a:solidFill>
                          <a:latin typeface="Arial" panose="020B0604020202020204" pitchFamily="34" charset="0"/>
                        </a:rPr>
                        <a:t>Pull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900" b="0">
                          <a:solidFill>
                            <a:srgbClr val="20382A"/>
                          </a:solidFill>
                          <a:latin typeface="Arial" panose="020B0604020202020204" pitchFamily="34" charset="0"/>
                        </a:rPr>
                        <a:t>36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DEE5D6"/>
                    </a:solidFill>
                  </a:tcPr>
                </a:tc>
                <a:tc>
                  <a:txBody>
                    <a:bodyPr/>
                    <a:lstStyle/>
                    <a:p>
                      <a:r>
                        <a:rPr lang="en-IN" sz="1900" b="0">
                          <a:solidFill>
                            <a:srgbClr val="20382A"/>
                          </a:solidFill>
                          <a:latin typeface="Arial" panose="020B0604020202020204" pitchFamily="34" charset="0"/>
                        </a:rPr>
                        <a:t>13</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DF1E5"/>
                    </a:solidFill>
                  </a:tcPr>
                </a:tc>
                <a:tc>
                  <a:txBody>
                    <a:bodyPr/>
                    <a:lstStyle/>
                    <a:p>
                      <a:r>
                        <a:rPr lang="en-IN" sz="1900" b="0">
                          <a:solidFill>
                            <a:srgbClr val="FFFFFF"/>
                          </a:solidFill>
                          <a:latin typeface="Arial" panose="020B0604020202020204" pitchFamily="34" charset="0"/>
                        </a:rPr>
                        <a:t>197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718E6D"/>
                    </a:solidFill>
                  </a:tcPr>
                </a:tc>
                <a:tc>
                  <a:txBody>
                    <a:bodyPr/>
                    <a:lstStyle/>
                    <a:p>
                      <a:r>
                        <a:rPr lang="en-IN" sz="1900" b="0">
                          <a:solidFill>
                            <a:srgbClr val="20382A"/>
                          </a:solidFill>
                          <a:latin typeface="Arial" panose="020B0604020202020204" pitchFamily="34" charset="0"/>
                        </a:rPr>
                        <a:t>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2F5EA"/>
                    </a:solidFill>
                  </a:tcPr>
                </a:tc>
                <a:extLst>
                  <a:ext uri="{0D108BD9-81ED-4DB2-BD59-A6C34878D82A}">
                    <a16:rowId xmlns:a16="http://schemas.microsoft.com/office/drawing/2014/main" val="4147918392"/>
                  </a:ext>
                </a:extLst>
              </a:tr>
              <a:tr h="685800">
                <a:tc>
                  <a:txBody>
                    <a:bodyPr/>
                    <a:lstStyle/>
                    <a:p>
                      <a:r>
                        <a:rPr lang="en-IN" sz="1900" b="0">
                          <a:solidFill>
                            <a:srgbClr val="20382A"/>
                          </a:solidFill>
                          <a:latin typeface="Arial" panose="020B0604020202020204" pitchFamily="34" charset="0"/>
                        </a:rPr>
                        <a:t>Sweep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900" b="0">
                          <a:solidFill>
                            <a:srgbClr val="20382A"/>
                          </a:solidFill>
                          <a:latin typeface="Arial" panose="020B0604020202020204" pitchFamily="34" charset="0"/>
                        </a:rPr>
                        <a:t>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5F7ED"/>
                    </a:solidFill>
                  </a:tcPr>
                </a:tc>
                <a:tc>
                  <a:txBody>
                    <a:bodyPr/>
                    <a:lstStyle/>
                    <a:p>
                      <a:r>
                        <a:rPr lang="en-IN" sz="1900" b="0">
                          <a:solidFill>
                            <a:srgbClr val="20382A"/>
                          </a:solidFill>
                          <a:latin typeface="Arial" panose="020B0604020202020204" pitchFamily="34" charset="0"/>
                        </a:rPr>
                        <a:t>15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BEFE3"/>
                    </a:solidFill>
                  </a:tcPr>
                </a:tc>
                <a:tc>
                  <a:txBody>
                    <a:bodyPr/>
                    <a:lstStyle/>
                    <a:p>
                      <a:r>
                        <a:rPr lang="en-IN" sz="1900" b="0">
                          <a:solidFill>
                            <a:srgbClr val="20382A"/>
                          </a:solidFill>
                          <a:latin typeface="Arial" panose="020B0604020202020204" pitchFamily="34" charset="0"/>
                        </a:rPr>
                        <a:t>49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D1DACA"/>
                    </a:solidFill>
                  </a:tcPr>
                </a:tc>
                <a:tc>
                  <a:txBody>
                    <a:bodyPr/>
                    <a:lstStyle/>
                    <a:p>
                      <a:r>
                        <a:rPr lang="en-IN" sz="1900" b="0">
                          <a:solidFill>
                            <a:srgbClr val="FFFFFF"/>
                          </a:solidFill>
                          <a:latin typeface="Arial" panose="020B0604020202020204" pitchFamily="34" charset="0"/>
                        </a:rPr>
                        <a:t>159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7D9879"/>
                    </a:solidFill>
                  </a:tcPr>
                </a:tc>
                <a:extLst>
                  <a:ext uri="{0D108BD9-81ED-4DB2-BD59-A6C34878D82A}">
                    <a16:rowId xmlns:a16="http://schemas.microsoft.com/office/drawing/2014/main" val="1372393166"/>
                  </a:ext>
                </a:extLst>
              </a:tr>
            </a:tbl>
          </a:graphicData>
        </a:graphic>
      </p:graphicFrame>
      <p:sp>
        <p:nvSpPr>
          <p:cNvPr id="5" name="TextBox 4">
            <a:extLst>
              <a:ext uri="{FF2B5EF4-FFF2-40B4-BE49-F238E27FC236}">
                <a16:creationId xmlns:a16="http://schemas.microsoft.com/office/drawing/2014/main" id="{65D97C66-0AE3-9623-A85E-08C340A2E1CB}"/>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Macro F1 averages the four class F1 scores equally. Review does not remove mistakes from this table.</a:t>
            </a:r>
            <a:endParaRPr lang="en-IN" sz="1600">
              <a:solidFill>
                <a:srgbClr val="AF623E"/>
              </a:solidFill>
              <a:latin typeface="Arial" panose="020B0604020202020204" pitchFamily="34" charset="0"/>
            </a:endParaRPr>
          </a:p>
        </p:txBody>
      </p:sp>
      <p:sp>
        <p:nvSpPr>
          <p:cNvPr id="6" name="TextBox 5">
            <a:extLst>
              <a:ext uri="{FF2B5EF4-FFF2-40B4-BE49-F238E27FC236}">
                <a16:creationId xmlns:a16="http://schemas.microsoft.com/office/drawing/2014/main" id="{FE19E9D5-1FB9-9CC1-18C5-8C0E440BDCA3}"/>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E77F620F-2BDE-73BD-C995-7DAC97AD4BB9}"/>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11</a:t>
            </a:r>
          </a:p>
        </p:txBody>
      </p:sp>
    </p:spTree>
    <p:extLst>
      <p:ext uri="{BB962C8B-B14F-4D97-AF65-F5344CB8AC3E}">
        <p14:creationId xmlns:p14="http://schemas.microsoft.com/office/powerpoint/2010/main" val="1169625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874B0E-1168-CF91-46AF-B0D7F72BB912}"/>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Scores, calibration and secondary review</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9C4BDE23-2FC8-D5C9-AF2E-26DE33092250}"/>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Temperature scaling worsened the recorded test calibration</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F9A26587-165C-CC45-77AF-C0A750686A61}"/>
              </a:ext>
            </a:extLst>
          </p:cNvPr>
          <p:cNvSpPr txBox="1"/>
          <p:nvPr/>
        </p:nvSpPr>
        <p:spPr>
          <a:xfrm>
            <a:off x="6477000" y="1968499"/>
            <a:ext cx="5080000" cy="2286000"/>
          </a:xfrm>
          <a:prstGeom prst="rect">
            <a:avLst/>
          </a:prstGeom>
          <a:noFill/>
        </p:spPr>
        <p:txBody>
          <a:bodyPr vert="horz" wrap="square" lIns="0" tIns="0" rIns="0" bIns="0" rtlCol="0">
            <a:noAutofit/>
          </a:bodyPr>
          <a:lstStyle/>
          <a:p>
            <a:pPr>
              <a:spcAft>
                <a:spcPts val="800"/>
              </a:spcAft>
            </a:pPr>
            <a:r>
              <a:rPr lang="en-US" sz="2200" b="1">
                <a:solidFill>
                  <a:srgbClr val="20382A"/>
                </a:solidFill>
                <a:latin typeface="Arial" panose="020B0604020202020204" pitchFamily="34" charset="0"/>
              </a:rPr>
              <a:t>Confidence alone
62.2% coverage / 77.6% accuracy
With agreement
58.9% coverage / 77.7% accuracy</a:t>
            </a:r>
            <a:endParaRPr lang="en-IN" sz="2200" b="1">
              <a:solidFill>
                <a:srgbClr val="20382A"/>
              </a:solidFill>
              <a:latin typeface="Arial" panose="020B0604020202020204" pitchFamily="34" charset="0"/>
            </a:endParaRPr>
          </a:p>
        </p:txBody>
      </p:sp>
      <p:sp>
        <p:nvSpPr>
          <p:cNvPr id="5" name="TextBox 4">
            <a:extLst>
              <a:ext uri="{FF2B5EF4-FFF2-40B4-BE49-F238E27FC236}">
                <a16:creationId xmlns:a16="http://schemas.microsoft.com/office/drawing/2014/main" id="{9DB49414-803C-CD6E-63F5-E6F24961FFD6}"/>
              </a:ext>
            </a:extLst>
          </p:cNvPr>
          <p:cNvSpPr txBox="1"/>
          <p:nvPr/>
        </p:nvSpPr>
        <p:spPr>
          <a:xfrm>
            <a:off x="635000" y="4698999"/>
            <a:ext cx="10795000" cy="825500"/>
          </a:xfrm>
          <a:prstGeom prst="rect">
            <a:avLst/>
          </a:prstGeom>
          <a:noFill/>
        </p:spPr>
        <p:txBody>
          <a:bodyPr vert="horz" wrap="square" lIns="0" tIns="0" rIns="0" bIns="0" rtlCol="0">
            <a:noAutofit/>
          </a:bodyPr>
          <a:lstStyle/>
          <a:p>
            <a:pPr>
              <a:spcAft>
                <a:spcPts val="800"/>
              </a:spcAft>
            </a:pPr>
            <a:r>
              <a:rPr lang="en-US" sz="2000">
                <a:solidFill>
                  <a:srgbClr val="20382A"/>
                </a:solidFill>
                <a:latin typeface="Arial" panose="020B0604020202020204" pitchFamily="34" charset="0"/>
              </a:rPr>
              <a:t>Agreement rejects more images for negligible accuracy benefit.
Keep T = 0.802 and threshold = 0.70 unchanged.</a:t>
            </a:r>
            <a:endParaRPr lang="en-IN" sz="2000">
              <a:solidFill>
                <a:srgbClr val="20382A"/>
              </a:solidFill>
              <a:latin typeface="Arial" panose="020B0604020202020204" pitchFamily="34" charset="0"/>
            </a:endParaRPr>
          </a:p>
        </p:txBody>
      </p:sp>
      <p:graphicFrame>
        <p:nvGraphicFramePr>
          <p:cNvPr id="6" name="Table 5">
            <a:extLst>
              <a:ext uri="{FF2B5EF4-FFF2-40B4-BE49-F238E27FC236}">
                <a16:creationId xmlns:a16="http://schemas.microsoft.com/office/drawing/2014/main" id="{19E6E8F7-87D6-0A02-499B-FBC1466A5B2D}"/>
              </a:ext>
            </a:extLst>
          </p:cNvPr>
          <p:cNvGraphicFramePr>
            <a:graphicFrameLocks noGrp="1"/>
          </p:cNvGraphicFramePr>
          <p:nvPr>
            <p:extLst>
              <p:ext uri="{D42A27DB-BD31-4B8C-83A1-F6EECF244321}">
                <p14:modId xmlns:p14="http://schemas.microsoft.com/office/powerpoint/2010/main" val="3137786756"/>
              </p:ext>
            </p:extLst>
          </p:nvPr>
        </p:nvGraphicFramePr>
        <p:xfrm>
          <a:off x="635000" y="2032000"/>
          <a:ext cx="5334000" cy="209550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3768872106"/>
                    </a:ext>
                  </a:extLst>
                </a:gridCol>
                <a:gridCol w="1397000">
                  <a:extLst>
                    <a:ext uri="{9D8B030D-6E8A-4147-A177-3AD203B41FA5}">
                      <a16:colId xmlns:a16="http://schemas.microsoft.com/office/drawing/2014/main" val="1038718594"/>
                    </a:ext>
                  </a:extLst>
                </a:gridCol>
                <a:gridCol w="1397000">
                  <a:extLst>
                    <a:ext uri="{9D8B030D-6E8A-4147-A177-3AD203B41FA5}">
                      <a16:colId xmlns:a16="http://schemas.microsoft.com/office/drawing/2014/main" val="27011643"/>
                    </a:ext>
                  </a:extLst>
                </a:gridCol>
              </a:tblGrid>
              <a:tr h="698500">
                <a:tc>
                  <a:txBody>
                    <a:bodyPr/>
                    <a:lstStyle/>
                    <a:p>
                      <a:r>
                        <a:rPr lang="en-IN" sz="1800" b="1">
                          <a:solidFill>
                            <a:srgbClr val="FFFFFF"/>
                          </a:solidFill>
                          <a:latin typeface="Arial" panose="020B0604020202020204" pitchFamily="34" charset="0"/>
                        </a:rPr>
                        <a:t>Contrast scores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NLL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ECE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848554336"/>
                  </a:ext>
                </a:extLst>
              </a:tr>
              <a:tr h="698500">
                <a:tc>
                  <a:txBody>
                    <a:bodyPr/>
                    <a:lstStyle/>
                    <a:p>
                      <a:r>
                        <a:rPr lang="en-IN" sz="1800" b="0">
                          <a:solidFill>
                            <a:srgbClr val="20382A"/>
                          </a:solidFill>
                          <a:latin typeface="Arial" panose="020B0604020202020204" pitchFamily="34" charset="0"/>
                        </a:rPr>
                        <a:t>Unscaled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0.859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0.043</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672018576"/>
                  </a:ext>
                </a:extLst>
              </a:tr>
              <a:tr h="698500">
                <a:tc>
                  <a:txBody>
                    <a:bodyPr/>
                    <a:lstStyle/>
                    <a:p>
                      <a:r>
                        <a:rPr lang="en-IN" sz="1800" b="0">
                          <a:solidFill>
                            <a:srgbClr val="20382A"/>
                          </a:solidFill>
                          <a:latin typeface="Arial" panose="020B0604020202020204" pitchFamily="34" charset="0"/>
                        </a:rPr>
                        <a:t>Scaled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0.898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0.094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2601847967"/>
                  </a:ext>
                </a:extLst>
              </a:tr>
            </a:tbl>
          </a:graphicData>
        </a:graphic>
      </p:graphicFrame>
      <p:sp>
        <p:nvSpPr>
          <p:cNvPr id="7" name="TextBox 6">
            <a:extLst>
              <a:ext uri="{FF2B5EF4-FFF2-40B4-BE49-F238E27FC236}">
                <a16:creationId xmlns:a16="http://schemas.microsoft.com/office/drawing/2014/main" id="{D29A0C1C-058F-7076-E391-A5BB5239459B}"/>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Softmax is a relative class score. Agreement is not a guarantee or an unknown-shot detector.</a:t>
            </a:r>
            <a:endParaRPr lang="en-IN" sz="1600">
              <a:solidFill>
                <a:srgbClr val="AF623E"/>
              </a:solidFill>
              <a:latin typeface="Arial" panose="020B0604020202020204" pitchFamily="34" charset="0"/>
            </a:endParaRPr>
          </a:p>
        </p:txBody>
      </p:sp>
      <p:sp>
        <p:nvSpPr>
          <p:cNvPr id="8" name="TextBox 7">
            <a:extLst>
              <a:ext uri="{FF2B5EF4-FFF2-40B4-BE49-F238E27FC236}">
                <a16:creationId xmlns:a16="http://schemas.microsoft.com/office/drawing/2014/main" id="{E6CA6302-D4CA-B0F3-DBE6-828ACF6D7F10}"/>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9" name="TextBox 8">
            <a:extLst>
              <a:ext uri="{FF2B5EF4-FFF2-40B4-BE49-F238E27FC236}">
                <a16:creationId xmlns:a16="http://schemas.microsoft.com/office/drawing/2014/main" id="{4638F4B7-DE79-CC93-9AF6-CD9A55C4FA06}"/>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12</a:t>
            </a:r>
          </a:p>
        </p:txBody>
      </p:sp>
    </p:spTree>
    <p:extLst>
      <p:ext uri="{BB962C8B-B14F-4D97-AF65-F5344CB8AC3E}">
        <p14:creationId xmlns:p14="http://schemas.microsoft.com/office/powerpoint/2010/main" val="3388505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42BD92-0F8F-0227-9F18-8BA68D3F5162}"/>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A confident error stays in the demo</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9FF8EFCB-10D8-7B78-A053-FBE1AB78570F}"/>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Selected after evaluation, alongside successful and disagreement examples</a:t>
            </a:r>
            <a:endParaRPr lang="en-IN" sz="1500">
              <a:solidFill>
                <a:srgbClr val="72806B"/>
              </a:solidFill>
              <a:latin typeface="Arial" panose="020B0604020202020204" pitchFamily="34" charset="0"/>
            </a:endParaRPr>
          </a:p>
        </p:txBody>
      </p:sp>
      <p:pic>
        <p:nvPicPr>
          <p:cNvPr id="5" name="Picture 4">
            <a:extLst>
              <a:ext uri="{FF2B5EF4-FFF2-40B4-BE49-F238E27FC236}">
                <a16:creationId xmlns:a16="http://schemas.microsoft.com/office/drawing/2014/main" id="{BB02D7EF-653D-1C0F-09BE-79393C2AFD9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92923" y="1841500"/>
            <a:ext cx="8206154" cy="3556000"/>
          </a:xfrm>
          <a:prstGeom prst="rect">
            <a:avLst/>
          </a:prstGeom>
        </p:spPr>
      </p:pic>
      <p:sp>
        <p:nvSpPr>
          <p:cNvPr id="6" name="TextBox 5">
            <a:extLst>
              <a:ext uri="{FF2B5EF4-FFF2-40B4-BE49-F238E27FC236}">
                <a16:creationId xmlns:a16="http://schemas.microsoft.com/office/drawing/2014/main" id="{656C053A-F344-58E8-2462-07C5B628DABA}"/>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Inspect the upstream label, predicted label and actual input views. Confidence can be wrong.</a:t>
            </a:r>
            <a:endParaRPr lang="en-IN" sz="1600">
              <a:solidFill>
                <a:srgbClr val="AF623E"/>
              </a:solidFill>
              <a:latin typeface="Arial" panose="020B0604020202020204" pitchFamily="34" charset="0"/>
            </a:endParaRPr>
          </a:p>
        </p:txBody>
      </p:sp>
      <p:sp>
        <p:nvSpPr>
          <p:cNvPr id="7" name="TextBox 6">
            <a:extLst>
              <a:ext uri="{FF2B5EF4-FFF2-40B4-BE49-F238E27FC236}">
                <a16:creationId xmlns:a16="http://schemas.microsoft.com/office/drawing/2014/main" id="{6DF51341-7035-4DB3-D899-0D4B7F074480}"/>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8" name="TextBox 7">
            <a:extLst>
              <a:ext uri="{FF2B5EF4-FFF2-40B4-BE49-F238E27FC236}">
                <a16:creationId xmlns:a16="http://schemas.microsoft.com/office/drawing/2014/main" id="{2353C75F-6818-BBE1-28DD-AE9FCCF5F369}"/>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13</a:t>
            </a:r>
          </a:p>
        </p:txBody>
      </p:sp>
    </p:spTree>
    <p:extLst>
      <p:ext uri="{BB962C8B-B14F-4D97-AF65-F5344CB8AC3E}">
        <p14:creationId xmlns:p14="http://schemas.microsoft.com/office/powerpoint/2010/main" val="844605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BF6775-AF82-56CC-6924-2E6BF5F14231}"/>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Local image demonstration</a:t>
            </a:r>
          </a:p>
        </p:txBody>
      </p:sp>
      <p:sp>
        <p:nvSpPr>
          <p:cNvPr id="3" name="TextBox 2">
            <a:extLst>
              <a:ext uri="{FF2B5EF4-FFF2-40B4-BE49-F238E27FC236}">
                <a16:creationId xmlns:a16="http://schemas.microsoft.com/office/drawing/2014/main" id="{A6EFE83E-E89A-D17D-554E-FC117EC8B0DC}"/>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Upload an image, compare CNN and HOG, inspect the review reason, export JSON</a:t>
            </a:r>
            <a:endParaRPr lang="en-IN" sz="1500">
              <a:solidFill>
                <a:srgbClr val="72806B"/>
              </a:solidFill>
              <a:latin typeface="Arial" panose="020B0604020202020204" pitchFamily="34" charset="0"/>
            </a:endParaRPr>
          </a:p>
        </p:txBody>
      </p:sp>
      <p:pic>
        <p:nvPicPr>
          <p:cNvPr id="5" name="Picture 4">
            <a:extLst>
              <a:ext uri="{FF2B5EF4-FFF2-40B4-BE49-F238E27FC236}">
                <a16:creationId xmlns:a16="http://schemas.microsoft.com/office/drawing/2014/main" id="{3D559AD1-FD57-3F16-9B53-A94289835E1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09889" y="1714500"/>
            <a:ext cx="9172222" cy="4127500"/>
          </a:xfrm>
          <a:prstGeom prst="rect">
            <a:avLst/>
          </a:prstGeom>
        </p:spPr>
      </p:pic>
      <p:sp>
        <p:nvSpPr>
          <p:cNvPr id="6" name="TextBox 5">
            <a:extLst>
              <a:ext uri="{FF2B5EF4-FFF2-40B4-BE49-F238E27FC236}">
                <a16:creationId xmlns:a16="http://schemas.microsoft.com/office/drawing/2014/main" id="{407A34FA-23A7-2675-B220-B64D329460B3}"/>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0791FCC6-B14A-5564-F6AC-AAE43323DA7E}"/>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14</a:t>
            </a:r>
          </a:p>
        </p:txBody>
      </p:sp>
    </p:spTree>
    <p:extLst>
      <p:ext uri="{BB962C8B-B14F-4D97-AF65-F5344CB8AC3E}">
        <p14:creationId xmlns:p14="http://schemas.microsoft.com/office/powerpoint/2010/main" val="988857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4FF162-6051-3BDB-EC80-8E9B67D1FAF9}"/>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What we can defend</a:t>
            </a:r>
          </a:p>
        </p:txBody>
      </p:sp>
      <p:sp>
        <p:nvSpPr>
          <p:cNvPr id="3" name="TextBox 2">
            <a:extLst>
              <a:ext uri="{FF2B5EF4-FFF2-40B4-BE49-F238E27FC236}">
                <a16:creationId xmlns:a16="http://schemas.microsoft.com/office/drawing/2014/main" id="{EAA5610F-C3F0-86F8-FDC5-1582FA36C2F6}"/>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An implemented comparison with useful negative findings</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44684A97-5F0B-9C13-7AF5-11E1153688CA}"/>
              </a:ext>
            </a:extLst>
          </p:cNvPr>
          <p:cNvSpPr txBox="1"/>
          <p:nvPr/>
        </p:nvSpPr>
        <p:spPr>
          <a:xfrm>
            <a:off x="635000" y="1841499"/>
            <a:ext cx="10795000" cy="444500"/>
          </a:xfrm>
          <a:prstGeom prst="rect">
            <a:avLst/>
          </a:prstGeom>
          <a:noFill/>
        </p:spPr>
        <p:txBody>
          <a:bodyPr vert="horz" wrap="square" lIns="0" tIns="0" rIns="0" bIns="0" rtlCol="0">
            <a:noAutofit/>
          </a:bodyPr>
          <a:lstStyle/>
          <a:p>
            <a:pPr>
              <a:spcAft>
                <a:spcPts val="800"/>
              </a:spcAft>
            </a:pPr>
            <a:r>
              <a:rPr lang="en-IN" sz="2600" b="1">
                <a:solidFill>
                  <a:srgbClr val="20382A"/>
                </a:solidFill>
                <a:latin typeface="Arial" panose="020B0604020202020204" pitchFamily="34" charset="0"/>
              </a:rPr>
              <a:t>Course foundation</a:t>
            </a:r>
          </a:p>
        </p:txBody>
      </p:sp>
      <p:sp>
        <p:nvSpPr>
          <p:cNvPr id="5" name="TextBox 4">
            <a:extLst>
              <a:ext uri="{FF2B5EF4-FFF2-40B4-BE49-F238E27FC236}">
                <a16:creationId xmlns:a16="http://schemas.microsoft.com/office/drawing/2014/main" id="{4239C669-333E-6036-B3A4-7C46D80FAFD8}"/>
              </a:ext>
            </a:extLst>
          </p:cNvPr>
          <p:cNvSpPr txBox="1"/>
          <p:nvPr/>
        </p:nvSpPr>
        <p:spPr>
          <a:xfrm>
            <a:off x="635000" y="2451099"/>
            <a:ext cx="10795000" cy="635000"/>
          </a:xfrm>
          <a:prstGeom prst="rect">
            <a:avLst/>
          </a:prstGeom>
          <a:noFill/>
        </p:spPr>
        <p:txBody>
          <a:bodyPr vert="horz" wrap="square" lIns="0" tIns="0" rIns="0" bIns="0" rtlCol="0">
            <a:noAutofit/>
          </a:bodyPr>
          <a:lstStyle/>
          <a:p>
            <a:pPr>
              <a:spcAft>
                <a:spcPts val="800"/>
              </a:spcAft>
            </a:pPr>
            <a:r>
              <a:rPr lang="en-US" sz="2100">
                <a:solidFill>
                  <a:srgbClr val="20382A"/>
                </a:solidFill>
                <a:latin typeface="Arial" panose="020B0604020202020204" pitchFamily="34" charset="0"/>
              </a:rPr>
              <a:t>HOG and frozen features, each followed by a trained multiclass head.</a:t>
            </a:r>
            <a:endParaRPr lang="en-IN" sz="2100">
              <a:solidFill>
                <a:srgbClr val="20382A"/>
              </a:solidFill>
              <a:latin typeface="Arial" panose="020B0604020202020204" pitchFamily="34" charset="0"/>
            </a:endParaRPr>
          </a:p>
        </p:txBody>
      </p:sp>
      <p:sp>
        <p:nvSpPr>
          <p:cNvPr id="6" name="TextBox 5">
            <a:extLst>
              <a:ext uri="{FF2B5EF4-FFF2-40B4-BE49-F238E27FC236}">
                <a16:creationId xmlns:a16="http://schemas.microsoft.com/office/drawing/2014/main" id="{F10B6344-45F1-B526-E702-5D9B40C93147}"/>
              </a:ext>
            </a:extLst>
          </p:cNvPr>
          <p:cNvSpPr txBox="1"/>
          <p:nvPr/>
        </p:nvSpPr>
        <p:spPr>
          <a:xfrm>
            <a:off x="635000" y="3492499"/>
            <a:ext cx="10795000" cy="444500"/>
          </a:xfrm>
          <a:prstGeom prst="rect">
            <a:avLst/>
          </a:prstGeom>
          <a:noFill/>
        </p:spPr>
        <p:txBody>
          <a:bodyPr vert="horz" wrap="square" lIns="0" tIns="0" rIns="0" bIns="0" rtlCol="0">
            <a:noAutofit/>
          </a:bodyPr>
          <a:lstStyle/>
          <a:p>
            <a:pPr>
              <a:spcAft>
                <a:spcPts val="800"/>
              </a:spcAft>
            </a:pPr>
            <a:r>
              <a:rPr lang="en-IN" sz="2600" b="1">
                <a:solidFill>
                  <a:srgbClr val="20382A"/>
                </a:solidFill>
                <a:latin typeface="Arial" panose="020B0604020202020204" pitchFamily="34" charset="0"/>
              </a:rPr>
              <a:t>Implemented extension and evidence</a:t>
            </a:r>
          </a:p>
        </p:txBody>
      </p:sp>
      <p:sp>
        <p:nvSpPr>
          <p:cNvPr id="7" name="TextBox 6">
            <a:extLst>
              <a:ext uri="{FF2B5EF4-FFF2-40B4-BE49-F238E27FC236}">
                <a16:creationId xmlns:a16="http://schemas.microsoft.com/office/drawing/2014/main" id="{DDBA458F-C0F1-F1A5-2D66-9583AD1CE493}"/>
              </a:ext>
            </a:extLst>
          </p:cNvPr>
          <p:cNvSpPr txBox="1"/>
          <p:nvPr/>
        </p:nvSpPr>
        <p:spPr>
          <a:xfrm>
            <a:off x="635000" y="4102099"/>
            <a:ext cx="10795000" cy="1079500"/>
          </a:xfrm>
          <a:prstGeom prst="rect">
            <a:avLst/>
          </a:prstGeom>
          <a:noFill/>
        </p:spPr>
        <p:txBody>
          <a:bodyPr vert="horz" wrap="square" lIns="0" tIns="0" rIns="0" bIns="0" rtlCol="0">
            <a:noAutofit/>
          </a:bodyPr>
          <a:lstStyle/>
          <a:p>
            <a:pPr>
              <a:spcAft>
                <a:spcPts val="800"/>
              </a:spcAft>
            </a:pPr>
            <a:r>
              <a:rPr lang="en-US" sz="2100">
                <a:solidFill>
                  <a:srgbClr val="20382A"/>
                </a:solidFill>
                <a:latin typeface="Arial" panose="020B0604020202020204" pitchFamily="34" charset="0"/>
              </a:rPr>
              <a:t>Explicit spatial-view difference, tested against concatenation.
17 decisions gained and 14 lost, with no reliable advantage.</a:t>
            </a:r>
            <a:endParaRPr lang="en-IN" sz="2100">
              <a:solidFill>
                <a:srgbClr val="20382A"/>
              </a:solidFill>
              <a:latin typeface="Arial" panose="020B0604020202020204" pitchFamily="34" charset="0"/>
            </a:endParaRPr>
          </a:p>
        </p:txBody>
      </p:sp>
      <p:sp>
        <p:nvSpPr>
          <p:cNvPr id="8" name="TextBox 7">
            <a:extLst>
              <a:ext uri="{FF2B5EF4-FFF2-40B4-BE49-F238E27FC236}">
                <a16:creationId xmlns:a16="http://schemas.microsoft.com/office/drawing/2014/main" id="{DB178688-3E16-EF89-3620-5528CEFB3E09}"/>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Next useful step: independently labeled data with known match and player identities.</a:t>
            </a:r>
            <a:endParaRPr lang="en-IN" sz="1600">
              <a:solidFill>
                <a:srgbClr val="AF623E"/>
              </a:solidFill>
              <a:latin typeface="Arial" panose="020B0604020202020204" pitchFamily="34" charset="0"/>
            </a:endParaRPr>
          </a:p>
        </p:txBody>
      </p:sp>
      <p:sp>
        <p:nvSpPr>
          <p:cNvPr id="9" name="TextBox 8">
            <a:extLst>
              <a:ext uri="{FF2B5EF4-FFF2-40B4-BE49-F238E27FC236}">
                <a16:creationId xmlns:a16="http://schemas.microsoft.com/office/drawing/2014/main" id="{2D914788-A688-43E3-2CFA-148E4436550E}"/>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10" name="TextBox 9">
            <a:extLst>
              <a:ext uri="{FF2B5EF4-FFF2-40B4-BE49-F238E27FC236}">
                <a16:creationId xmlns:a16="http://schemas.microsoft.com/office/drawing/2014/main" id="{DE7E90F8-B13A-11A7-8505-9CDE2AE2AF99}"/>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15</a:t>
            </a:r>
          </a:p>
        </p:txBody>
      </p:sp>
    </p:spTree>
    <p:extLst>
      <p:ext uri="{BB962C8B-B14F-4D97-AF65-F5344CB8AC3E}">
        <p14:creationId xmlns:p14="http://schemas.microsoft.com/office/powerpoint/2010/main" val="1029127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C4845A-2C1C-2BBC-EBA2-93559D8E9EE5}"/>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Backup: learned view weighting</a:t>
            </a:r>
          </a:p>
        </p:txBody>
      </p:sp>
      <p:sp>
        <p:nvSpPr>
          <p:cNvPr id="3" name="TextBox 2">
            <a:extLst>
              <a:ext uri="{FF2B5EF4-FFF2-40B4-BE49-F238E27FC236}">
                <a16:creationId xmlns:a16="http://schemas.microsoft.com/office/drawing/2014/main" id="{4C07BB92-FDA3-5F64-C69A-AACA98504D9E}"/>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A 42-parameter gate over global, crop and contrast scores</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0767E9A5-68CE-BC48-0D64-006B8F8EE613}"/>
              </a:ext>
            </a:extLst>
          </p:cNvPr>
          <p:cNvSpPr txBox="1"/>
          <p:nvPr/>
        </p:nvSpPr>
        <p:spPr>
          <a:xfrm>
            <a:off x="635000" y="4571999"/>
            <a:ext cx="10795000" cy="1079500"/>
          </a:xfrm>
          <a:prstGeom prst="rect">
            <a:avLst/>
          </a:prstGeom>
          <a:noFill/>
        </p:spPr>
        <p:txBody>
          <a:bodyPr vert="horz" wrap="square" lIns="0" tIns="0" rIns="0" bIns="0" rtlCol="0">
            <a:noAutofit/>
          </a:bodyPr>
          <a:lstStyle/>
          <a:p>
            <a:pPr>
              <a:spcAft>
                <a:spcPts val="800"/>
              </a:spcAft>
            </a:pPr>
            <a:r>
              <a:rPr lang="en-US">
                <a:solidFill>
                  <a:srgbClr val="20382A"/>
                </a:solidFill>
                <a:latin typeface="Arial" panose="020B0604020202020204" pitchFamily="34" charset="0"/>
              </a:rPr>
              <a:t>Training: five separate visual-group folds provide gate inputs.
Validation selects L2 = 10 before this test evaluation.
Adaptive and constant weights make identical test decisions (618/945).</a:t>
            </a:r>
            <a:endParaRPr lang="en-IN">
              <a:solidFill>
                <a:srgbClr val="20382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B3C444E4-B523-B132-9EEB-5DADC42D24AC}"/>
              </a:ext>
            </a:extLst>
          </p:cNvPr>
          <p:cNvGraphicFramePr>
            <a:graphicFrameLocks noGrp="1"/>
          </p:cNvGraphicFramePr>
          <p:nvPr>
            <p:extLst>
              <p:ext uri="{D42A27DB-BD31-4B8C-83A1-F6EECF244321}">
                <p14:modId xmlns:p14="http://schemas.microsoft.com/office/powerpoint/2010/main" val="2724244093"/>
              </p:ext>
            </p:extLst>
          </p:nvPr>
        </p:nvGraphicFramePr>
        <p:xfrm>
          <a:off x="635000" y="1841500"/>
          <a:ext cx="10922000" cy="2603500"/>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val="260772016"/>
                    </a:ext>
                  </a:extLst>
                </a:gridCol>
                <a:gridCol w="2159000">
                  <a:extLst>
                    <a:ext uri="{9D8B030D-6E8A-4147-A177-3AD203B41FA5}">
                      <a16:colId xmlns:a16="http://schemas.microsoft.com/office/drawing/2014/main" val="2475083757"/>
                    </a:ext>
                  </a:extLst>
                </a:gridCol>
                <a:gridCol w="2159000">
                  <a:extLst>
                    <a:ext uri="{9D8B030D-6E8A-4147-A177-3AD203B41FA5}">
                      <a16:colId xmlns:a16="http://schemas.microsoft.com/office/drawing/2014/main" val="123148480"/>
                    </a:ext>
                  </a:extLst>
                </a:gridCol>
                <a:gridCol w="2159000">
                  <a:extLst>
                    <a:ext uri="{9D8B030D-6E8A-4147-A177-3AD203B41FA5}">
                      <a16:colId xmlns:a16="http://schemas.microsoft.com/office/drawing/2014/main" val="630114878"/>
                    </a:ext>
                  </a:extLst>
                </a:gridCol>
              </a:tblGrid>
              <a:tr h="650875">
                <a:tc>
                  <a:txBody>
                    <a:bodyPr/>
                    <a:lstStyle/>
                    <a:p>
                      <a:r>
                        <a:rPr lang="en-IN" sz="1800" b="1">
                          <a:solidFill>
                            <a:srgbClr val="FFFFFF"/>
                          </a:solidFill>
                          <a:latin typeface="Arial" panose="020B0604020202020204" pitchFamily="34" charset="0"/>
                        </a:rPr>
                        <a:t>Fusion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Val. F1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Test acc.</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Test F1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260850971"/>
                  </a:ext>
                </a:extLst>
              </a:tr>
              <a:tr h="650875">
                <a:tc>
                  <a:txBody>
                    <a:bodyPr/>
                    <a:lstStyle/>
                    <a:p>
                      <a:r>
                        <a:rPr lang="en-IN" sz="1800" b="0">
                          <a:solidFill>
                            <a:srgbClr val="20382A"/>
                          </a:solidFill>
                          <a:latin typeface="Arial" panose="020B0604020202020204" pitchFamily="34" charset="0"/>
                        </a:rPr>
                        <a:t>Uniform weights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78.6%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65.1%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64.5%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2076203786"/>
                  </a:ext>
                </a:extLst>
              </a:tr>
              <a:tr h="650875">
                <a:tc>
                  <a:txBody>
                    <a:bodyPr/>
                    <a:lstStyle/>
                    <a:p>
                      <a:r>
                        <a:rPr lang="en-IN" sz="1800" b="0">
                          <a:solidFill>
                            <a:srgbClr val="20382A"/>
                          </a:solidFill>
                          <a:latin typeface="Arial" panose="020B0604020202020204" pitchFamily="34" charset="0"/>
                        </a:rPr>
                        <a:t>Learned constant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78.8%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65.4%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64.8%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1790284666"/>
                  </a:ext>
                </a:extLst>
              </a:tr>
              <a:tr h="650875">
                <a:tc>
                  <a:txBody>
                    <a:bodyPr/>
                    <a:lstStyle/>
                    <a:p>
                      <a:r>
                        <a:rPr lang="en-IN" sz="1800" b="0">
                          <a:solidFill>
                            <a:srgbClr val="20382A"/>
                          </a:solidFill>
                          <a:latin typeface="Arial" panose="020B0604020202020204" pitchFamily="34" charset="0"/>
                        </a:rPr>
                        <a:t>Learned adaptive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78.8%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65.4%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64.8%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749727357"/>
                  </a:ext>
                </a:extLst>
              </a:tr>
            </a:tbl>
          </a:graphicData>
        </a:graphic>
      </p:graphicFrame>
      <p:sp>
        <p:nvSpPr>
          <p:cNvPr id="6" name="TextBox 5">
            <a:extLst>
              <a:ext uri="{FF2B5EF4-FFF2-40B4-BE49-F238E27FC236}">
                <a16:creationId xmlns:a16="http://schemas.microsoft.com/office/drawing/2014/main" id="{A0CE5B28-0EF9-0327-8BCD-FD6268208732}"/>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No improvement over simpler fusion. The demo retains contrast (619/945).</a:t>
            </a:r>
            <a:endParaRPr lang="en-IN" sz="1600">
              <a:solidFill>
                <a:srgbClr val="AF623E"/>
              </a:solidFill>
              <a:latin typeface="Arial" panose="020B0604020202020204" pitchFamily="34" charset="0"/>
            </a:endParaRPr>
          </a:p>
        </p:txBody>
      </p:sp>
      <p:sp>
        <p:nvSpPr>
          <p:cNvPr id="7" name="TextBox 6">
            <a:extLst>
              <a:ext uri="{FF2B5EF4-FFF2-40B4-BE49-F238E27FC236}">
                <a16:creationId xmlns:a16="http://schemas.microsoft.com/office/drawing/2014/main" id="{7BBF763D-BA43-F1D9-55E8-3FD57EC26286}"/>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8" name="TextBox 7">
            <a:extLst>
              <a:ext uri="{FF2B5EF4-FFF2-40B4-BE49-F238E27FC236}">
                <a16:creationId xmlns:a16="http://schemas.microsoft.com/office/drawing/2014/main" id="{CC09721C-7B40-78B2-E55E-754B589EE77C}"/>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16</a:t>
            </a:r>
          </a:p>
        </p:txBody>
      </p:sp>
    </p:spTree>
    <p:extLst>
      <p:ext uri="{BB962C8B-B14F-4D97-AF65-F5344CB8AC3E}">
        <p14:creationId xmlns:p14="http://schemas.microsoft.com/office/powerpoint/2010/main" val="1649750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BAB7F-72B3-ED39-3DBD-3E9CE68456D6}"/>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Backup: video pilot and duplicate audit</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56BA590F-ED35-5A42-A42E-24298A373912}"/>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Separate eight-class data and reused pilot holdout; not the main recognition claim</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681B9544-1109-63A0-F16E-537DB94D9285}"/>
              </a:ext>
            </a:extLst>
          </p:cNvPr>
          <p:cNvSpPr txBox="1"/>
          <p:nvPr/>
        </p:nvSpPr>
        <p:spPr>
          <a:xfrm>
            <a:off x="635000" y="4914899"/>
            <a:ext cx="10795000" cy="825500"/>
          </a:xfrm>
          <a:prstGeom prst="rect">
            <a:avLst/>
          </a:prstGeom>
          <a:noFill/>
        </p:spPr>
        <p:txBody>
          <a:bodyPr vert="horz" wrap="square" lIns="0" tIns="0" rIns="0" bIns="0" rtlCol="0">
            <a:noAutofit/>
          </a:bodyPr>
          <a:lstStyle/>
          <a:p>
            <a:pPr>
              <a:spcAft>
                <a:spcPts val="800"/>
              </a:spcAft>
            </a:pPr>
            <a:r>
              <a:rPr lang="en-US" sz="1700">
                <a:solidFill>
                  <a:srgbClr val="20382A"/>
                </a:solidFill>
                <a:latin typeface="Arial" panose="020B0604020202020204" pitchFamily="34" charset="0"/>
              </a:rPr>
              <a:t>562 clips / 25 source groups / 116 test clips from five groups
Image audit: hashes, transforms, ORB/RANSAC links; all connected copies stay together.</a:t>
            </a:r>
            <a:endParaRPr lang="en-IN" sz="1700">
              <a:solidFill>
                <a:srgbClr val="20382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6CC75628-7D8E-8D80-90F1-1AA9B8E8A98D}"/>
              </a:ext>
            </a:extLst>
          </p:cNvPr>
          <p:cNvGraphicFramePr>
            <a:graphicFrameLocks noGrp="1"/>
          </p:cNvGraphicFramePr>
          <p:nvPr>
            <p:extLst>
              <p:ext uri="{D42A27DB-BD31-4B8C-83A1-F6EECF244321}">
                <p14:modId xmlns:p14="http://schemas.microsoft.com/office/powerpoint/2010/main" val="1794093808"/>
              </p:ext>
            </p:extLst>
          </p:nvPr>
        </p:nvGraphicFramePr>
        <p:xfrm>
          <a:off x="635000" y="1905000"/>
          <a:ext cx="10922000" cy="2603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318229228"/>
                    </a:ext>
                  </a:extLst>
                </a:gridCol>
                <a:gridCol w="2603500">
                  <a:extLst>
                    <a:ext uri="{9D8B030D-6E8A-4147-A177-3AD203B41FA5}">
                      <a16:colId xmlns:a16="http://schemas.microsoft.com/office/drawing/2014/main" val="1718718235"/>
                    </a:ext>
                  </a:extLst>
                </a:gridCol>
                <a:gridCol w="2603500">
                  <a:extLst>
                    <a:ext uri="{9D8B030D-6E8A-4147-A177-3AD203B41FA5}">
                      <a16:colId xmlns:a16="http://schemas.microsoft.com/office/drawing/2014/main" val="1907639692"/>
                    </a:ext>
                  </a:extLst>
                </a:gridCol>
              </a:tblGrid>
              <a:tr h="650875">
                <a:tc>
                  <a:txBody>
                    <a:bodyPr/>
                    <a:lstStyle/>
                    <a:p>
                      <a:r>
                        <a:rPr lang="en-IN" sz="1800" b="1">
                          <a:solidFill>
                            <a:srgbClr val="FFFFFF"/>
                          </a:solidFill>
                          <a:latin typeface="Arial" panose="020B0604020202020204" pitchFamily="34" charset="0"/>
                        </a:rPr>
                        <a:t>Video model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Accuracy</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Macro F1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914590943"/>
                  </a:ext>
                </a:extLst>
              </a:tr>
              <a:tr h="650875">
                <a:tc>
                  <a:txBody>
                    <a:bodyPr/>
                    <a:lstStyle/>
                    <a:p>
                      <a:r>
                        <a:rPr lang="en-IN" sz="1800" b="0">
                          <a:solidFill>
                            <a:srgbClr val="20382A"/>
                          </a:solidFill>
                          <a:latin typeface="Arial" panose="020B0604020202020204" pitchFamily="34" charset="0"/>
                        </a:rPr>
                        <a:t>Full frame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18.1%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17.7%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348732027"/>
                  </a:ext>
                </a:extLst>
              </a:tr>
              <a:tr h="650875">
                <a:tc>
                  <a:txBody>
                    <a:bodyPr/>
                    <a:lstStyle/>
                    <a:p>
                      <a:r>
                        <a:rPr lang="en-IN" sz="1800" b="0">
                          <a:solidFill>
                            <a:srgbClr val="20382A"/>
                          </a:solidFill>
                          <a:latin typeface="Arial" panose="020B0604020202020204" pitchFamily="34" charset="0"/>
                        </a:rPr>
                        <a:t>Fixed crop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30.2%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21.3%</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4014639575"/>
                  </a:ext>
                </a:extLst>
              </a:tr>
              <a:tr h="650875">
                <a:tc>
                  <a:txBody>
                    <a:bodyPr/>
                    <a:lstStyle/>
                    <a:p>
                      <a:r>
                        <a:rPr lang="en-IN" sz="1800" b="0">
                          <a:solidFill>
                            <a:srgbClr val="20382A"/>
                          </a:solidFill>
                          <a:latin typeface="Arial" panose="020B0604020202020204" pitchFamily="34" charset="0"/>
                        </a:rPr>
                        <a:t>Majority baseline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30.2%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5.8%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2920043770"/>
                  </a:ext>
                </a:extLst>
              </a:tr>
            </a:tbl>
          </a:graphicData>
        </a:graphic>
      </p:graphicFrame>
      <p:sp>
        <p:nvSpPr>
          <p:cNvPr id="6" name="TextBox 5">
            <a:extLst>
              <a:ext uri="{FF2B5EF4-FFF2-40B4-BE49-F238E27FC236}">
                <a16:creationId xmlns:a16="http://schemas.microsoft.com/office/drawing/2014/main" id="{7EA182D3-AA4A-2B38-6912-CBE391BC69D6}"/>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EC47BFEF-CF15-F083-CCA6-089893CF899F}"/>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17</a:t>
            </a:r>
          </a:p>
        </p:txBody>
      </p:sp>
    </p:spTree>
    <p:extLst>
      <p:ext uri="{BB962C8B-B14F-4D97-AF65-F5344CB8AC3E}">
        <p14:creationId xmlns:p14="http://schemas.microsoft.com/office/powerpoint/2010/main" val="1122890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3047</Words>
  <Application>Microsoft Office PowerPoint</Application>
  <PresentationFormat>Custom</PresentationFormat>
  <Paragraphs>307</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Akshith Gokavarapu</dc:creator>
  <cp:lastModifiedBy>Akshith Gokavarapu</cp:lastModifiedBy>
  <cp:revision>1</cp:revision>
  <dcterms:created xsi:type="dcterms:W3CDTF">2026-10-19T17:51:12Z</dcterms:created>
  <dcterms:modified xsi:type="dcterms:W3CDTF">2026-10-19T17:51:12Z</dcterms:modified>
</cp:coreProperties>
</file>